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autoCompressPictures="0">
  <p:sldMasterIdLst>
    <p:sldMasterId id="2147483648" r:id="rId4"/>
  </p:sldMasterIdLst>
  <p:notesMasterIdLst>
    <p:notesMasterId r:id="rId32"/>
  </p:notesMasterIdLst>
  <p:sldIdLst>
    <p:sldId id="256" r:id="rId5"/>
    <p:sldId id="277" r:id="rId6"/>
    <p:sldId id="278" r:id="rId7"/>
    <p:sldId id="325" r:id="rId8"/>
    <p:sldId id="326" r:id="rId9"/>
    <p:sldId id="281" r:id="rId10"/>
    <p:sldId id="282" r:id="rId11"/>
    <p:sldId id="378" r:id="rId12"/>
    <p:sldId id="380" r:id="rId13"/>
    <p:sldId id="291" r:id="rId14"/>
    <p:sldId id="352" r:id="rId15"/>
    <p:sldId id="292" r:id="rId16"/>
    <p:sldId id="327" r:id="rId17"/>
    <p:sldId id="376" r:id="rId18"/>
    <p:sldId id="385" r:id="rId19"/>
    <p:sldId id="328" r:id="rId20"/>
    <p:sldId id="342" r:id="rId21"/>
    <p:sldId id="377" r:id="rId22"/>
    <p:sldId id="355" r:id="rId23"/>
    <p:sldId id="381" r:id="rId24"/>
    <p:sldId id="382" r:id="rId25"/>
    <p:sldId id="383" r:id="rId26"/>
    <p:sldId id="384" r:id="rId27"/>
    <p:sldId id="351" r:id="rId28"/>
    <p:sldId id="372" r:id="rId29"/>
    <p:sldId id="349" r:id="rId30"/>
    <p:sldId id="350"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s>
</file>

<file path=ppt/diagrams/colors1.xml><?xml version="1.0" encoding="utf-8"?>
<dgm:colorsDef xmlns:dgm="http://schemas.openxmlformats.org/drawingml/2006/diagram" xmlns:a="http://schemas.openxmlformats.org/drawingml/2006/main" uniqueId="urn:microsoft.com/office/officeart/2005/8/colors/accent5_4">
  <dgm:title val=""/>
  <dgm:desc val=""/>
  <dgm:catLst>
    <dgm:cat type="accent5" pri="11400"/>
  </dgm:catLst>
  <dgm:styleLbl name="node0">
    <dgm:fillClrLst meth="cycle">
      <a:schemeClr val="accent5">
        <a:shade val="60000"/>
      </a:schemeClr>
    </dgm:fillClrLst>
    <dgm:linClrLst meth="repeat">
      <a:schemeClr val="lt1"/>
    </dgm:linClrLst>
    <dgm:effectClrLst/>
    <dgm:txLinClrLst/>
    <dgm:txFillClrLst/>
    <dgm:txEffectClrLst/>
  </dgm:styleLbl>
  <dgm:styleLbl name="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alignNode1">
    <dgm:fillClrLst meth="cycle">
      <a:schemeClr val="accent5">
        <a:shade val="50000"/>
      </a:schemeClr>
      <a:schemeClr val="accent5">
        <a:tint val="55000"/>
      </a:schemeClr>
    </dgm:fillClrLst>
    <dgm:linClrLst meth="cycle">
      <a:schemeClr val="accent5">
        <a:shade val="50000"/>
      </a:schemeClr>
      <a:schemeClr val="accent5">
        <a:tint val="55000"/>
      </a:schemeClr>
    </dgm:linClrLst>
    <dgm:effectClrLst/>
    <dgm:txLinClrLst/>
    <dgm:txFillClrLst/>
    <dgm:txEffectClrLst/>
  </dgm:styleLbl>
  <dgm:styleLbl name="ln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vennNode1">
    <dgm:fillClrLst meth="cycle">
      <a:schemeClr val="accent5">
        <a:shade val="80000"/>
        <a:alpha val="50000"/>
      </a:schemeClr>
      <a:schemeClr val="accent5">
        <a:tint val="50000"/>
        <a:alpha val="50000"/>
      </a:schemeClr>
    </dgm:fillClrLst>
    <dgm:linClrLst meth="repeat">
      <a:schemeClr val="lt1"/>
    </dgm:linClrLst>
    <dgm:effectClrLst/>
    <dgm:txLinClrLst/>
    <dgm:txFillClrLst/>
    <dgm:txEffectClrLst/>
  </dgm:styleLbl>
  <dgm:styleLbl name="node2">
    <dgm:fillClrLst>
      <a:schemeClr val="accent5">
        <a:shade val="80000"/>
      </a:schemeClr>
    </dgm:fillClrLst>
    <dgm:linClrLst meth="repeat">
      <a:schemeClr val="lt1"/>
    </dgm:linClrLst>
    <dgm:effectClrLst/>
    <dgm:txLinClrLst/>
    <dgm:txFillClrLst/>
    <dgm:txEffectClrLst/>
  </dgm:styleLbl>
  <dgm:styleLbl name="node3">
    <dgm:fillClrLst>
      <a:schemeClr val="accent5">
        <a:tint val="99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b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sibTrans1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0000"/>
      </a:schemeClr>
    </dgm:fillClrLst>
    <dgm:linClrLst meth="repeat">
      <a:schemeClr val="lt1"/>
    </dgm:linClrLst>
    <dgm:effectClrLst/>
    <dgm:txLinClrLst/>
    <dgm:txFillClrLst/>
    <dgm:txEffectClrLst/>
  </dgm:styleLbl>
  <dgm:styleLbl name="asst3">
    <dgm:fillClrLst>
      <a:schemeClr val="accent5">
        <a:tint val="70000"/>
      </a:schemeClr>
    </dgm:fillClrLst>
    <dgm:linClrLst meth="repeat">
      <a:schemeClr val="lt1"/>
    </dgm:linClrLst>
    <dgm:effectClrLst/>
    <dgm:txLinClrLst/>
    <dgm:txFillClrLst/>
    <dgm:txEffectClrLst/>
  </dgm:styleLbl>
  <dgm:styleLbl name="asst4">
    <dgm:fillClrLst>
      <a:schemeClr val="accent5">
        <a:tint val="5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align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bgAccFollowNode1">
    <dgm:fillClrLst meth="repeat">
      <a:schemeClr val="accent5">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55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C617B88-0361-48FF-B718-4BF796E91FEB}" type="doc">
      <dgm:prSet loTypeId="urn:microsoft.com/office/officeart/2009/3/layout/HorizontalOrganizationChart" loCatId="hierarchy" qsTypeId="urn:microsoft.com/office/officeart/2005/8/quickstyle/3d1" qsCatId="3D" csTypeId="urn:microsoft.com/office/officeart/2005/8/colors/accent5_4" csCatId="accent5" phldr="1"/>
      <dgm:spPr/>
      <dgm:t>
        <a:bodyPr/>
        <a:lstStyle/>
        <a:p>
          <a:endParaRPr lang="en-US"/>
        </a:p>
      </dgm:t>
    </dgm:pt>
    <dgm:pt modelId="{8EA390F5-BB18-4385-8C38-A5025E8E4C83}">
      <dgm:prSet phldrT="[Text]"/>
      <dgm:spPr/>
      <dgm:t>
        <a:bodyPr/>
        <a:lstStyle/>
        <a:p>
          <a:pPr algn="ctr"/>
          <a:r>
            <a:rPr lang="en-US" dirty="0">
              <a:latin typeface="Times New Roman" panose="02020603050405020304" pitchFamily="18" charset="0"/>
              <a:cs typeface="Times New Roman" panose="02020603050405020304" pitchFamily="18" charset="0"/>
            </a:rPr>
            <a:t>Blood Group detection using finger print images</a:t>
          </a:r>
        </a:p>
      </dgm:t>
    </dgm:pt>
    <dgm:pt modelId="{0D7AC894-6A97-4760-A51F-B9BD5184ECC0}" type="parTrans" cxnId="{63C2FE54-88A3-4797-8ECE-1BA3A300E30A}">
      <dgm:prSet/>
      <dgm:spPr/>
      <dgm:t>
        <a:bodyPr/>
        <a:lstStyle/>
        <a:p>
          <a:pPr algn="ctr"/>
          <a:endParaRPr lang="en-US"/>
        </a:p>
      </dgm:t>
    </dgm:pt>
    <dgm:pt modelId="{857AC0E4-C22D-41DD-81D0-A74501D5A45B}" type="sibTrans" cxnId="{63C2FE54-88A3-4797-8ECE-1BA3A300E30A}">
      <dgm:prSet/>
      <dgm:spPr/>
      <dgm:t>
        <a:bodyPr/>
        <a:lstStyle/>
        <a:p>
          <a:pPr algn="ctr"/>
          <a:endParaRPr lang="en-US"/>
        </a:p>
      </dgm:t>
    </dgm:pt>
    <dgm:pt modelId="{55306F7A-FF89-4992-8E26-AEBC0D19A3BD}">
      <dgm:prSet phldrT="[Text]"/>
      <dgm:spPr/>
      <dgm:t>
        <a:bodyPr/>
        <a:lstStyle/>
        <a:p>
          <a:pPr algn="ctr"/>
          <a:r>
            <a:rPr lang="en-US" dirty="0">
              <a:latin typeface="Times New Roman" panose="02020603050405020304" pitchFamily="18" charset="0"/>
              <a:cs typeface="Times New Roman" panose="02020603050405020304" pitchFamily="18" charset="0"/>
            </a:rPr>
            <a:t>Load dataset</a:t>
          </a:r>
        </a:p>
      </dgm:t>
    </dgm:pt>
    <dgm:pt modelId="{052A58A4-8AD3-4385-A08C-E651E6C1A0C4}" type="parTrans" cxnId="{B034BAB6-AD42-4F61-8516-F4560DB1922F}">
      <dgm:prSet/>
      <dgm:spPr/>
      <dgm:t>
        <a:bodyPr/>
        <a:lstStyle/>
        <a:p>
          <a:pPr algn="ctr"/>
          <a:endParaRPr lang="en-US"/>
        </a:p>
      </dgm:t>
    </dgm:pt>
    <dgm:pt modelId="{939A1134-409A-4FA7-A743-601A27E48BD3}" type="sibTrans" cxnId="{B034BAB6-AD42-4F61-8516-F4560DB1922F}">
      <dgm:prSet/>
      <dgm:spPr/>
      <dgm:t>
        <a:bodyPr/>
        <a:lstStyle/>
        <a:p>
          <a:pPr algn="ctr"/>
          <a:endParaRPr lang="en-US"/>
        </a:p>
      </dgm:t>
    </dgm:pt>
    <dgm:pt modelId="{B1E764ED-5AA0-4C76-BC55-B148539E8647}">
      <dgm:prSet phldrT="[Text]"/>
      <dgm:spPr/>
      <dgm:t>
        <a:bodyPr/>
        <a:lstStyle/>
        <a:p>
          <a:pPr algn="ctr"/>
          <a:r>
            <a:rPr lang="en-US" dirty="0">
              <a:latin typeface="Times New Roman" panose="02020603050405020304" pitchFamily="18" charset="0"/>
              <a:cs typeface="Times New Roman" panose="02020603050405020304" pitchFamily="18" charset="0"/>
            </a:rPr>
            <a:t>Data Preprocessing</a:t>
          </a:r>
        </a:p>
      </dgm:t>
    </dgm:pt>
    <dgm:pt modelId="{CC7C5C55-CAF0-441B-8F13-93EB6A8D404E}" type="parTrans" cxnId="{AD61A6A1-0FF2-4474-9202-BC6D2383A8FA}">
      <dgm:prSet/>
      <dgm:spPr/>
      <dgm:t>
        <a:bodyPr/>
        <a:lstStyle/>
        <a:p>
          <a:pPr algn="ctr"/>
          <a:endParaRPr lang="en-US"/>
        </a:p>
      </dgm:t>
    </dgm:pt>
    <dgm:pt modelId="{511B5500-B11F-4C33-8D37-B80023D13CBC}" type="sibTrans" cxnId="{AD61A6A1-0FF2-4474-9202-BC6D2383A8FA}">
      <dgm:prSet/>
      <dgm:spPr/>
      <dgm:t>
        <a:bodyPr/>
        <a:lstStyle/>
        <a:p>
          <a:pPr algn="ctr"/>
          <a:endParaRPr lang="en-US"/>
        </a:p>
      </dgm:t>
    </dgm:pt>
    <dgm:pt modelId="{F158CC4B-9FC5-4FAD-B377-92A586E0BF48}">
      <dgm:prSet phldrT="[Text]" custT="1"/>
      <dgm:spPr/>
      <dgm:t>
        <a:bodyPr/>
        <a:lstStyle/>
        <a:p>
          <a:pPr algn="ctr"/>
          <a:r>
            <a:rPr lang="en-US" sz="1500" dirty="0">
              <a:latin typeface="Times New Roman" panose="02020603050405020304" pitchFamily="18" charset="0"/>
              <a:cs typeface="Times New Roman" panose="02020603050405020304" pitchFamily="18" charset="0"/>
            </a:rPr>
            <a:t>Training Models using MobileNet, ResNet+RNN and Vision Transformer</a:t>
          </a:r>
        </a:p>
      </dgm:t>
    </dgm:pt>
    <dgm:pt modelId="{C1D54D6B-A7BD-4709-B04B-EC3B747C2B04}" type="parTrans" cxnId="{0B25B120-EA09-4561-AD26-353E1118B264}">
      <dgm:prSet/>
      <dgm:spPr/>
      <dgm:t>
        <a:bodyPr/>
        <a:lstStyle/>
        <a:p>
          <a:pPr algn="ctr"/>
          <a:endParaRPr lang="en-US"/>
        </a:p>
      </dgm:t>
    </dgm:pt>
    <dgm:pt modelId="{6CF3E0B5-E2C8-4C9C-8097-7AB91761EB07}" type="sibTrans" cxnId="{0B25B120-EA09-4561-AD26-353E1118B264}">
      <dgm:prSet/>
      <dgm:spPr/>
      <dgm:t>
        <a:bodyPr/>
        <a:lstStyle/>
        <a:p>
          <a:pPr algn="ctr"/>
          <a:endParaRPr lang="en-US"/>
        </a:p>
      </dgm:t>
    </dgm:pt>
    <dgm:pt modelId="{C390ADF7-811C-41B3-B404-4737B2D3C1DD}">
      <dgm:prSet phldrT="[Text]"/>
      <dgm:spPr/>
      <dgm:t>
        <a:bodyPr/>
        <a:lstStyle/>
        <a:p>
          <a:pPr algn="ctr"/>
          <a:r>
            <a:rPr lang="en-US" dirty="0">
              <a:latin typeface="Times New Roman" panose="02020603050405020304" pitchFamily="18" charset="0"/>
              <a:cs typeface="Times New Roman" panose="02020603050405020304" pitchFamily="18" charset="0"/>
            </a:rPr>
            <a:t>Testing on validation</a:t>
          </a:r>
        </a:p>
      </dgm:t>
    </dgm:pt>
    <dgm:pt modelId="{968999A2-2852-4F57-949E-3ED9236659FD}" type="parTrans" cxnId="{9736EFCE-CFF6-4615-B2FF-98BAE3719F19}">
      <dgm:prSet/>
      <dgm:spPr/>
      <dgm:t>
        <a:bodyPr/>
        <a:lstStyle/>
        <a:p>
          <a:pPr algn="ctr"/>
          <a:endParaRPr lang="en-US"/>
        </a:p>
      </dgm:t>
    </dgm:pt>
    <dgm:pt modelId="{6DE82740-1DE6-470B-87D4-7CCC97E75B7D}" type="sibTrans" cxnId="{9736EFCE-CFF6-4615-B2FF-98BAE3719F19}">
      <dgm:prSet/>
      <dgm:spPr/>
      <dgm:t>
        <a:bodyPr/>
        <a:lstStyle/>
        <a:p>
          <a:pPr algn="ctr"/>
          <a:endParaRPr lang="en-US"/>
        </a:p>
      </dgm:t>
    </dgm:pt>
    <dgm:pt modelId="{DDFC2752-2052-4C1F-AB70-DE24FDF80C1C}">
      <dgm:prSet phldrT="[Text]"/>
      <dgm:spPr/>
      <dgm:t>
        <a:bodyPr/>
        <a:lstStyle/>
        <a:p>
          <a:pPr algn="ctr"/>
          <a:r>
            <a:rPr lang="en-US" dirty="0">
              <a:latin typeface="Times New Roman" panose="02020603050405020304" pitchFamily="18" charset="0"/>
              <a:cs typeface="Times New Roman" panose="02020603050405020304" pitchFamily="18" charset="0"/>
            </a:rPr>
            <a:t>Classification on new data</a:t>
          </a:r>
        </a:p>
      </dgm:t>
    </dgm:pt>
    <dgm:pt modelId="{380FBE10-7F7B-4326-A582-009C9F871679}" type="parTrans" cxnId="{9A0E9014-8602-40AE-816E-ECA5268632E5}">
      <dgm:prSet/>
      <dgm:spPr/>
      <dgm:t>
        <a:bodyPr/>
        <a:lstStyle/>
        <a:p>
          <a:pPr algn="ctr"/>
          <a:endParaRPr lang="en-US"/>
        </a:p>
      </dgm:t>
    </dgm:pt>
    <dgm:pt modelId="{D268CD08-6FF7-4A16-B642-BB089EBA6EE8}" type="sibTrans" cxnId="{9A0E9014-8602-40AE-816E-ECA5268632E5}">
      <dgm:prSet/>
      <dgm:spPr/>
      <dgm:t>
        <a:bodyPr/>
        <a:lstStyle/>
        <a:p>
          <a:pPr algn="ctr"/>
          <a:endParaRPr lang="en-US"/>
        </a:p>
      </dgm:t>
    </dgm:pt>
    <dgm:pt modelId="{37405527-F0B5-4C6A-AA6E-85689858E918}">
      <dgm:prSet phldrT="[Text]"/>
      <dgm:spPr/>
      <dgm:t>
        <a:bodyPr/>
        <a:lstStyle/>
        <a:p>
          <a:pPr algn="ctr"/>
          <a:r>
            <a:rPr lang="en-US" dirty="0">
              <a:latin typeface="Times New Roman" panose="02020603050405020304" pitchFamily="18" charset="0"/>
              <a:cs typeface="Times New Roman" panose="02020603050405020304" pitchFamily="18" charset="0"/>
            </a:rPr>
            <a:t>End</a:t>
          </a:r>
        </a:p>
      </dgm:t>
    </dgm:pt>
    <dgm:pt modelId="{8406C0B3-524D-4EB8-B060-6532837E8330}" type="parTrans" cxnId="{344AEADF-EB37-4B6C-A01F-BDBBECF8A30B}">
      <dgm:prSet/>
      <dgm:spPr/>
      <dgm:t>
        <a:bodyPr/>
        <a:lstStyle/>
        <a:p>
          <a:pPr algn="ctr"/>
          <a:endParaRPr lang="en-US"/>
        </a:p>
      </dgm:t>
    </dgm:pt>
    <dgm:pt modelId="{52F9A5CC-FBBF-4FE7-A671-625A29FC857D}" type="sibTrans" cxnId="{344AEADF-EB37-4B6C-A01F-BDBBECF8A30B}">
      <dgm:prSet/>
      <dgm:spPr/>
      <dgm:t>
        <a:bodyPr/>
        <a:lstStyle/>
        <a:p>
          <a:pPr algn="ctr"/>
          <a:endParaRPr lang="en-US"/>
        </a:p>
      </dgm:t>
    </dgm:pt>
    <dgm:pt modelId="{99795456-B9DA-4D02-8803-383455D4D7C3}" type="pres">
      <dgm:prSet presAssocID="{BC617B88-0361-48FF-B718-4BF796E91FEB}" presName="hierChild1" presStyleCnt="0">
        <dgm:presLayoutVars>
          <dgm:orgChart val="1"/>
          <dgm:chPref val="1"/>
          <dgm:dir/>
          <dgm:animOne val="branch"/>
          <dgm:animLvl val="lvl"/>
          <dgm:resizeHandles/>
        </dgm:presLayoutVars>
      </dgm:prSet>
      <dgm:spPr/>
      <dgm:t>
        <a:bodyPr/>
        <a:lstStyle/>
        <a:p>
          <a:endParaRPr lang="en-US"/>
        </a:p>
      </dgm:t>
    </dgm:pt>
    <dgm:pt modelId="{B56D7A78-C0DF-4944-8811-5EA5873CCB07}" type="pres">
      <dgm:prSet presAssocID="{8EA390F5-BB18-4385-8C38-A5025E8E4C83}" presName="hierRoot1" presStyleCnt="0">
        <dgm:presLayoutVars>
          <dgm:hierBranch val="init"/>
        </dgm:presLayoutVars>
      </dgm:prSet>
      <dgm:spPr/>
      <dgm:t>
        <a:bodyPr/>
        <a:lstStyle/>
        <a:p>
          <a:endParaRPr lang="en-US"/>
        </a:p>
      </dgm:t>
    </dgm:pt>
    <dgm:pt modelId="{B35BF2AD-9CBC-4EE7-9BD8-5CA856338AD5}" type="pres">
      <dgm:prSet presAssocID="{8EA390F5-BB18-4385-8C38-A5025E8E4C83}" presName="rootComposite1" presStyleCnt="0"/>
      <dgm:spPr/>
      <dgm:t>
        <a:bodyPr/>
        <a:lstStyle/>
        <a:p>
          <a:endParaRPr lang="en-US"/>
        </a:p>
      </dgm:t>
    </dgm:pt>
    <dgm:pt modelId="{B03CB9FA-1DDE-417E-890E-95CE1B2BAAF4}" type="pres">
      <dgm:prSet presAssocID="{8EA390F5-BB18-4385-8C38-A5025E8E4C83}" presName="rootText1" presStyleLbl="node0" presStyleIdx="0" presStyleCnt="1">
        <dgm:presLayoutVars>
          <dgm:chPref val="3"/>
        </dgm:presLayoutVars>
      </dgm:prSet>
      <dgm:spPr/>
      <dgm:t>
        <a:bodyPr/>
        <a:lstStyle/>
        <a:p>
          <a:endParaRPr lang="en-US"/>
        </a:p>
      </dgm:t>
    </dgm:pt>
    <dgm:pt modelId="{1DC15D48-FD99-4FF5-9820-C7D12DB202EF}" type="pres">
      <dgm:prSet presAssocID="{8EA390F5-BB18-4385-8C38-A5025E8E4C83}" presName="rootConnector1" presStyleLbl="node1" presStyleIdx="0" presStyleCnt="0"/>
      <dgm:spPr/>
      <dgm:t>
        <a:bodyPr/>
        <a:lstStyle/>
        <a:p>
          <a:endParaRPr lang="en-US"/>
        </a:p>
      </dgm:t>
    </dgm:pt>
    <dgm:pt modelId="{A02D8010-7471-458E-A8E0-6E6C440A8EBF}" type="pres">
      <dgm:prSet presAssocID="{8EA390F5-BB18-4385-8C38-A5025E8E4C83}" presName="hierChild2" presStyleCnt="0"/>
      <dgm:spPr/>
      <dgm:t>
        <a:bodyPr/>
        <a:lstStyle/>
        <a:p>
          <a:endParaRPr lang="en-US"/>
        </a:p>
      </dgm:t>
    </dgm:pt>
    <dgm:pt modelId="{08EC6738-8061-4924-9D2E-8C32DFFB7109}" type="pres">
      <dgm:prSet presAssocID="{052A58A4-8AD3-4385-A08C-E651E6C1A0C4}" presName="Name64" presStyleLbl="parChTrans1D2" presStyleIdx="0" presStyleCnt="6"/>
      <dgm:spPr/>
      <dgm:t>
        <a:bodyPr/>
        <a:lstStyle/>
        <a:p>
          <a:endParaRPr lang="en-US"/>
        </a:p>
      </dgm:t>
    </dgm:pt>
    <dgm:pt modelId="{31C5BF7C-41F0-4046-91A2-BF4866512F0B}" type="pres">
      <dgm:prSet presAssocID="{55306F7A-FF89-4992-8E26-AEBC0D19A3BD}" presName="hierRoot2" presStyleCnt="0">
        <dgm:presLayoutVars>
          <dgm:hierBranch val="init"/>
        </dgm:presLayoutVars>
      </dgm:prSet>
      <dgm:spPr/>
      <dgm:t>
        <a:bodyPr/>
        <a:lstStyle/>
        <a:p>
          <a:endParaRPr lang="en-US"/>
        </a:p>
      </dgm:t>
    </dgm:pt>
    <dgm:pt modelId="{E5278C8A-2269-4598-B377-5CB87AEE1BE3}" type="pres">
      <dgm:prSet presAssocID="{55306F7A-FF89-4992-8E26-AEBC0D19A3BD}" presName="rootComposite" presStyleCnt="0"/>
      <dgm:spPr/>
      <dgm:t>
        <a:bodyPr/>
        <a:lstStyle/>
        <a:p>
          <a:endParaRPr lang="en-US"/>
        </a:p>
      </dgm:t>
    </dgm:pt>
    <dgm:pt modelId="{EBE40003-57D1-417C-9371-D32664E974ED}" type="pres">
      <dgm:prSet presAssocID="{55306F7A-FF89-4992-8E26-AEBC0D19A3BD}" presName="rootText" presStyleLbl="node2" presStyleIdx="0" presStyleCnt="6">
        <dgm:presLayoutVars>
          <dgm:chPref val="3"/>
        </dgm:presLayoutVars>
      </dgm:prSet>
      <dgm:spPr/>
      <dgm:t>
        <a:bodyPr/>
        <a:lstStyle/>
        <a:p>
          <a:endParaRPr lang="en-US"/>
        </a:p>
      </dgm:t>
    </dgm:pt>
    <dgm:pt modelId="{698280B0-F330-417F-892C-2ECE84E9BE08}" type="pres">
      <dgm:prSet presAssocID="{55306F7A-FF89-4992-8E26-AEBC0D19A3BD}" presName="rootConnector" presStyleLbl="node2" presStyleIdx="0" presStyleCnt="6"/>
      <dgm:spPr/>
      <dgm:t>
        <a:bodyPr/>
        <a:lstStyle/>
        <a:p>
          <a:endParaRPr lang="en-US"/>
        </a:p>
      </dgm:t>
    </dgm:pt>
    <dgm:pt modelId="{6B2B6684-68B9-41BF-9385-271A791CA017}" type="pres">
      <dgm:prSet presAssocID="{55306F7A-FF89-4992-8E26-AEBC0D19A3BD}" presName="hierChild4" presStyleCnt="0"/>
      <dgm:spPr/>
      <dgm:t>
        <a:bodyPr/>
        <a:lstStyle/>
        <a:p>
          <a:endParaRPr lang="en-US"/>
        </a:p>
      </dgm:t>
    </dgm:pt>
    <dgm:pt modelId="{A63C3C48-3B8E-4197-B90D-AA52751DF625}" type="pres">
      <dgm:prSet presAssocID="{55306F7A-FF89-4992-8E26-AEBC0D19A3BD}" presName="hierChild5" presStyleCnt="0"/>
      <dgm:spPr/>
      <dgm:t>
        <a:bodyPr/>
        <a:lstStyle/>
        <a:p>
          <a:endParaRPr lang="en-US"/>
        </a:p>
      </dgm:t>
    </dgm:pt>
    <dgm:pt modelId="{80FA710F-7BAD-4A16-B6D0-DB4FB75004EE}" type="pres">
      <dgm:prSet presAssocID="{CC7C5C55-CAF0-441B-8F13-93EB6A8D404E}" presName="Name64" presStyleLbl="parChTrans1D2" presStyleIdx="1" presStyleCnt="6"/>
      <dgm:spPr/>
      <dgm:t>
        <a:bodyPr/>
        <a:lstStyle/>
        <a:p>
          <a:endParaRPr lang="en-US"/>
        </a:p>
      </dgm:t>
    </dgm:pt>
    <dgm:pt modelId="{063C3D07-9657-4232-86C9-64D5ED045777}" type="pres">
      <dgm:prSet presAssocID="{B1E764ED-5AA0-4C76-BC55-B148539E8647}" presName="hierRoot2" presStyleCnt="0">
        <dgm:presLayoutVars>
          <dgm:hierBranch val="init"/>
        </dgm:presLayoutVars>
      </dgm:prSet>
      <dgm:spPr/>
      <dgm:t>
        <a:bodyPr/>
        <a:lstStyle/>
        <a:p>
          <a:endParaRPr lang="en-US"/>
        </a:p>
      </dgm:t>
    </dgm:pt>
    <dgm:pt modelId="{9628AC40-B796-4831-BE2B-9BA9B60C014B}" type="pres">
      <dgm:prSet presAssocID="{B1E764ED-5AA0-4C76-BC55-B148539E8647}" presName="rootComposite" presStyleCnt="0"/>
      <dgm:spPr/>
      <dgm:t>
        <a:bodyPr/>
        <a:lstStyle/>
        <a:p>
          <a:endParaRPr lang="en-US"/>
        </a:p>
      </dgm:t>
    </dgm:pt>
    <dgm:pt modelId="{12048D1F-1C22-4794-AAC9-FD8444ECFD38}" type="pres">
      <dgm:prSet presAssocID="{B1E764ED-5AA0-4C76-BC55-B148539E8647}" presName="rootText" presStyleLbl="node2" presStyleIdx="1" presStyleCnt="6">
        <dgm:presLayoutVars>
          <dgm:chPref val="3"/>
        </dgm:presLayoutVars>
      </dgm:prSet>
      <dgm:spPr/>
      <dgm:t>
        <a:bodyPr/>
        <a:lstStyle/>
        <a:p>
          <a:endParaRPr lang="en-US"/>
        </a:p>
      </dgm:t>
    </dgm:pt>
    <dgm:pt modelId="{1B32D292-75B3-4977-9B84-4654F775C373}" type="pres">
      <dgm:prSet presAssocID="{B1E764ED-5AA0-4C76-BC55-B148539E8647}" presName="rootConnector" presStyleLbl="node2" presStyleIdx="1" presStyleCnt="6"/>
      <dgm:spPr/>
      <dgm:t>
        <a:bodyPr/>
        <a:lstStyle/>
        <a:p>
          <a:endParaRPr lang="en-US"/>
        </a:p>
      </dgm:t>
    </dgm:pt>
    <dgm:pt modelId="{420311B1-B79B-4308-A1F5-B195E041077F}" type="pres">
      <dgm:prSet presAssocID="{B1E764ED-5AA0-4C76-BC55-B148539E8647}" presName="hierChild4" presStyleCnt="0"/>
      <dgm:spPr/>
      <dgm:t>
        <a:bodyPr/>
        <a:lstStyle/>
        <a:p>
          <a:endParaRPr lang="en-US"/>
        </a:p>
      </dgm:t>
    </dgm:pt>
    <dgm:pt modelId="{564A2BAD-8D2D-4408-92F3-6BA9EA48A1CB}" type="pres">
      <dgm:prSet presAssocID="{B1E764ED-5AA0-4C76-BC55-B148539E8647}" presName="hierChild5" presStyleCnt="0"/>
      <dgm:spPr/>
      <dgm:t>
        <a:bodyPr/>
        <a:lstStyle/>
        <a:p>
          <a:endParaRPr lang="en-US"/>
        </a:p>
      </dgm:t>
    </dgm:pt>
    <dgm:pt modelId="{E2D256E0-BB86-4CB5-BE9C-E2099EBCA192}" type="pres">
      <dgm:prSet presAssocID="{C1D54D6B-A7BD-4709-B04B-EC3B747C2B04}" presName="Name64" presStyleLbl="parChTrans1D2" presStyleIdx="2" presStyleCnt="6"/>
      <dgm:spPr/>
      <dgm:t>
        <a:bodyPr/>
        <a:lstStyle/>
        <a:p>
          <a:endParaRPr lang="en-US"/>
        </a:p>
      </dgm:t>
    </dgm:pt>
    <dgm:pt modelId="{665944FA-923A-4917-B131-742291F664E8}" type="pres">
      <dgm:prSet presAssocID="{F158CC4B-9FC5-4FAD-B377-92A586E0BF48}" presName="hierRoot2" presStyleCnt="0">
        <dgm:presLayoutVars>
          <dgm:hierBranch val="init"/>
        </dgm:presLayoutVars>
      </dgm:prSet>
      <dgm:spPr/>
      <dgm:t>
        <a:bodyPr/>
        <a:lstStyle/>
        <a:p>
          <a:endParaRPr lang="en-US"/>
        </a:p>
      </dgm:t>
    </dgm:pt>
    <dgm:pt modelId="{EE6985E3-2768-4D24-94B0-9F763BBDD104}" type="pres">
      <dgm:prSet presAssocID="{F158CC4B-9FC5-4FAD-B377-92A586E0BF48}" presName="rootComposite" presStyleCnt="0"/>
      <dgm:spPr/>
      <dgm:t>
        <a:bodyPr/>
        <a:lstStyle/>
        <a:p>
          <a:endParaRPr lang="en-US"/>
        </a:p>
      </dgm:t>
    </dgm:pt>
    <dgm:pt modelId="{D8E79859-E261-4E95-ABD9-6DE59FBF7F0F}" type="pres">
      <dgm:prSet presAssocID="{F158CC4B-9FC5-4FAD-B377-92A586E0BF48}" presName="rootText" presStyleLbl="node2" presStyleIdx="2" presStyleCnt="6">
        <dgm:presLayoutVars>
          <dgm:chPref val="3"/>
        </dgm:presLayoutVars>
      </dgm:prSet>
      <dgm:spPr/>
      <dgm:t>
        <a:bodyPr/>
        <a:lstStyle/>
        <a:p>
          <a:endParaRPr lang="en-US"/>
        </a:p>
      </dgm:t>
    </dgm:pt>
    <dgm:pt modelId="{CEE234DD-5D79-4186-AF5C-AB5034679714}" type="pres">
      <dgm:prSet presAssocID="{F158CC4B-9FC5-4FAD-B377-92A586E0BF48}" presName="rootConnector" presStyleLbl="node2" presStyleIdx="2" presStyleCnt="6"/>
      <dgm:spPr/>
      <dgm:t>
        <a:bodyPr/>
        <a:lstStyle/>
        <a:p>
          <a:endParaRPr lang="en-US"/>
        </a:p>
      </dgm:t>
    </dgm:pt>
    <dgm:pt modelId="{0F5BF09C-2BCE-4107-B6A2-D0ECA1DDD11D}" type="pres">
      <dgm:prSet presAssocID="{F158CC4B-9FC5-4FAD-B377-92A586E0BF48}" presName="hierChild4" presStyleCnt="0"/>
      <dgm:spPr/>
      <dgm:t>
        <a:bodyPr/>
        <a:lstStyle/>
        <a:p>
          <a:endParaRPr lang="en-US"/>
        </a:p>
      </dgm:t>
    </dgm:pt>
    <dgm:pt modelId="{235BFEA0-2A40-40DD-B92D-EA183ECE528A}" type="pres">
      <dgm:prSet presAssocID="{F158CC4B-9FC5-4FAD-B377-92A586E0BF48}" presName="hierChild5" presStyleCnt="0"/>
      <dgm:spPr/>
      <dgm:t>
        <a:bodyPr/>
        <a:lstStyle/>
        <a:p>
          <a:endParaRPr lang="en-US"/>
        </a:p>
      </dgm:t>
    </dgm:pt>
    <dgm:pt modelId="{697F5BC6-760B-4179-8FFD-F53773944E30}" type="pres">
      <dgm:prSet presAssocID="{968999A2-2852-4F57-949E-3ED9236659FD}" presName="Name64" presStyleLbl="parChTrans1D2" presStyleIdx="3" presStyleCnt="6"/>
      <dgm:spPr/>
      <dgm:t>
        <a:bodyPr/>
        <a:lstStyle/>
        <a:p>
          <a:endParaRPr lang="en-US"/>
        </a:p>
      </dgm:t>
    </dgm:pt>
    <dgm:pt modelId="{8A03C8AA-C9C2-43AE-9804-E8784AE7C453}" type="pres">
      <dgm:prSet presAssocID="{C390ADF7-811C-41B3-B404-4737B2D3C1DD}" presName="hierRoot2" presStyleCnt="0">
        <dgm:presLayoutVars>
          <dgm:hierBranch val="init"/>
        </dgm:presLayoutVars>
      </dgm:prSet>
      <dgm:spPr/>
      <dgm:t>
        <a:bodyPr/>
        <a:lstStyle/>
        <a:p>
          <a:endParaRPr lang="en-US"/>
        </a:p>
      </dgm:t>
    </dgm:pt>
    <dgm:pt modelId="{780E6173-8892-4C9E-9CE7-D3647ACE31AC}" type="pres">
      <dgm:prSet presAssocID="{C390ADF7-811C-41B3-B404-4737B2D3C1DD}" presName="rootComposite" presStyleCnt="0"/>
      <dgm:spPr/>
      <dgm:t>
        <a:bodyPr/>
        <a:lstStyle/>
        <a:p>
          <a:endParaRPr lang="en-US"/>
        </a:p>
      </dgm:t>
    </dgm:pt>
    <dgm:pt modelId="{7F9FF15B-B118-40E7-9056-89481BB97B05}" type="pres">
      <dgm:prSet presAssocID="{C390ADF7-811C-41B3-B404-4737B2D3C1DD}" presName="rootText" presStyleLbl="node2" presStyleIdx="3" presStyleCnt="6">
        <dgm:presLayoutVars>
          <dgm:chPref val="3"/>
        </dgm:presLayoutVars>
      </dgm:prSet>
      <dgm:spPr/>
      <dgm:t>
        <a:bodyPr/>
        <a:lstStyle/>
        <a:p>
          <a:endParaRPr lang="en-US"/>
        </a:p>
      </dgm:t>
    </dgm:pt>
    <dgm:pt modelId="{965E3472-280F-4AD6-976E-E58CC7BDE8C8}" type="pres">
      <dgm:prSet presAssocID="{C390ADF7-811C-41B3-B404-4737B2D3C1DD}" presName="rootConnector" presStyleLbl="node2" presStyleIdx="3" presStyleCnt="6"/>
      <dgm:spPr/>
      <dgm:t>
        <a:bodyPr/>
        <a:lstStyle/>
        <a:p>
          <a:endParaRPr lang="en-US"/>
        </a:p>
      </dgm:t>
    </dgm:pt>
    <dgm:pt modelId="{8F05D1CE-8245-49D8-8B5E-F3A6556D7FC9}" type="pres">
      <dgm:prSet presAssocID="{C390ADF7-811C-41B3-B404-4737B2D3C1DD}" presName="hierChild4" presStyleCnt="0"/>
      <dgm:spPr/>
      <dgm:t>
        <a:bodyPr/>
        <a:lstStyle/>
        <a:p>
          <a:endParaRPr lang="en-US"/>
        </a:p>
      </dgm:t>
    </dgm:pt>
    <dgm:pt modelId="{92EEE1F4-5CEC-4282-84E6-A247D141F44D}" type="pres">
      <dgm:prSet presAssocID="{C390ADF7-811C-41B3-B404-4737B2D3C1DD}" presName="hierChild5" presStyleCnt="0"/>
      <dgm:spPr/>
      <dgm:t>
        <a:bodyPr/>
        <a:lstStyle/>
        <a:p>
          <a:endParaRPr lang="en-US"/>
        </a:p>
      </dgm:t>
    </dgm:pt>
    <dgm:pt modelId="{7447DD12-CD58-4F8A-924E-1EBCBC901E07}" type="pres">
      <dgm:prSet presAssocID="{380FBE10-7F7B-4326-A582-009C9F871679}" presName="Name64" presStyleLbl="parChTrans1D2" presStyleIdx="4" presStyleCnt="6"/>
      <dgm:spPr/>
      <dgm:t>
        <a:bodyPr/>
        <a:lstStyle/>
        <a:p>
          <a:endParaRPr lang="en-US"/>
        </a:p>
      </dgm:t>
    </dgm:pt>
    <dgm:pt modelId="{B83160F5-1B9D-4C0F-B9B9-E244DE95E9AA}" type="pres">
      <dgm:prSet presAssocID="{DDFC2752-2052-4C1F-AB70-DE24FDF80C1C}" presName="hierRoot2" presStyleCnt="0">
        <dgm:presLayoutVars>
          <dgm:hierBranch val="init"/>
        </dgm:presLayoutVars>
      </dgm:prSet>
      <dgm:spPr/>
      <dgm:t>
        <a:bodyPr/>
        <a:lstStyle/>
        <a:p>
          <a:endParaRPr lang="en-US"/>
        </a:p>
      </dgm:t>
    </dgm:pt>
    <dgm:pt modelId="{9222D9A1-E825-4ED9-8C1A-96AC06D0F161}" type="pres">
      <dgm:prSet presAssocID="{DDFC2752-2052-4C1F-AB70-DE24FDF80C1C}" presName="rootComposite" presStyleCnt="0"/>
      <dgm:spPr/>
      <dgm:t>
        <a:bodyPr/>
        <a:lstStyle/>
        <a:p>
          <a:endParaRPr lang="en-US"/>
        </a:p>
      </dgm:t>
    </dgm:pt>
    <dgm:pt modelId="{1F3AA119-EBF2-49F1-B348-F425FD4EFF37}" type="pres">
      <dgm:prSet presAssocID="{DDFC2752-2052-4C1F-AB70-DE24FDF80C1C}" presName="rootText" presStyleLbl="node2" presStyleIdx="4" presStyleCnt="6">
        <dgm:presLayoutVars>
          <dgm:chPref val="3"/>
        </dgm:presLayoutVars>
      </dgm:prSet>
      <dgm:spPr/>
      <dgm:t>
        <a:bodyPr/>
        <a:lstStyle/>
        <a:p>
          <a:endParaRPr lang="en-US"/>
        </a:p>
      </dgm:t>
    </dgm:pt>
    <dgm:pt modelId="{E56B5876-28C8-43FE-8FD2-BBA60F6EEAC2}" type="pres">
      <dgm:prSet presAssocID="{DDFC2752-2052-4C1F-AB70-DE24FDF80C1C}" presName="rootConnector" presStyleLbl="node2" presStyleIdx="4" presStyleCnt="6"/>
      <dgm:spPr/>
      <dgm:t>
        <a:bodyPr/>
        <a:lstStyle/>
        <a:p>
          <a:endParaRPr lang="en-US"/>
        </a:p>
      </dgm:t>
    </dgm:pt>
    <dgm:pt modelId="{A6419FFC-3735-4F23-931C-25DF0372DBF9}" type="pres">
      <dgm:prSet presAssocID="{DDFC2752-2052-4C1F-AB70-DE24FDF80C1C}" presName="hierChild4" presStyleCnt="0"/>
      <dgm:spPr/>
      <dgm:t>
        <a:bodyPr/>
        <a:lstStyle/>
        <a:p>
          <a:endParaRPr lang="en-US"/>
        </a:p>
      </dgm:t>
    </dgm:pt>
    <dgm:pt modelId="{AF73535D-C9C1-40DA-8FE6-6C92DA03DB72}" type="pres">
      <dgm:prSet presAssocID="{DDFC2752-2052-4C1F-AB70-DE24FDF80C1C}" presName="hierChild5" presStyleCnt="0"/>
      <dgm:spPr/>
      <dgm:t>
        <a:bodyPr/>
        <a:lstStyle/>
        <a:p>
          <a:endParaRPr lang="en-US"/>
        </a:p>
      </dgm:t>
    </dgm:pt>
    <dgm:pt modelId="{B4D897D0-99FB-4003-81B8-8B3CD8385257}" type="pres">
      <dgm:prSet presAssocID="{8406C0B3-524D-4EB8-B060-6532837E8330}" presName="Name64" presStyleLbl="parChTrans1D2" presStyleIdx="5" presStyleCnt="6"/>
      <dgm:spPr/>
      <dgm:t>
        <a:bodyPr/>
        <a:lstStyle/>
        <a:p>
          <a:endParaRPr lang="en-US"/>
        </a:p>
      </dgm:t>
    </dgm:pt>
    <dgm:pt modelId="{F73B86DA-CD5C-4725-9D47-E2D75D4749CD}" type="pres">
      <dgm:prSet presAssocID="{37405527-F0B5-4C6A-AA6E-85689858E918}" presName="hierRoot2" presStyleCnt="0">
        <dgm:presLayoutVars>
          <dgm:hierBranch val="init"/>
        </dgm:presLayoutVars>
      </dgm:prSet>
      <dgm:spPr/>
      <dgm:t>
        <a:bodyPr/>
        <a:lstStyle/>
        <a:p>
          <a:endParaRPr lang="en-US"/>
        </a:p>
      </dgm:t>
    </dgm:pt>
    <dgm:pt modelId="{2EA32919-3C90-449C-B310-7967B46FB0AC}" type="pres">
      <dgm:prSet presAssocID="{37405527-F0B5-4C6A-AA6E-85689858E918}" presName="rootComposite" presStyleCnt="0"/>
      <dgm:spPr/>
      <dgm:t>
        <a:bodyPr/>
        <a:lstStyle/>
        <a:p>
          <a:endParaRPr lang="en-US"/>
        </a:p>
      </dgm:t>
    </dgm:pt>
    <dgm:pt modelId="{47D6063B-6964-4359-8E0E-B0F90A2B8B18}" type="pres">
      <dgm:prSet presAssocID="{37405527-F0B5-4C6A-AA6E-85689858E918}" presName="rootText" presStyleLbl="node2" presStyleIdx="5" presStyleCnt="6">
        <dgm:presLayoutVars>
          <dgm:chPref val="3"/>
        </dgm:presLayoutVars>
      </dgm:prSet>
      <dgm:spPr/>
      <dgm:t>
        <a:bodyPr/>
        <a:lstStyle/>
        <a:p>
          <a:endParaRPr lang="en-US"/>
        </a:p>
      </dgm:t>
    </dgm:pt>
    <dgm:pt modelId="{16148BC0-285F-4878-BEEC-59D733E7C190}" type="pres">
      <dgm:prSet presAssocID="{37405527-F0B5-4C6A-AA6E-85689858E918}" presName="rootConnector" presStyleLbl="node2" presStyleIdx="5" presStyleCnt="6"/>
      <dgm:spPr/>
      <dgm:t>
        <a:bodyPr/>
        <a:lstStyle/>
        <a:p>
          <a:endParaRPr lang="en-US"/>
        </a:p>
      </dgm:t>
    </dgm:pt>
    <dgm:pt modelId="{66594C6D-B00E-4263-BC2E-DD6FE4C8D1BD}" type="pres">
      <dgm:prSet presAssocID="{37405527-F0B5-4C6A-AA6E-85689858E918}" presName="hierChild4" presStyleCnt="0"/>
      <dgm:spPr/>
      <dgm:t>
        <a:bodyPr/>
        <a:lstStyle/>
        <a:p>
          <a:endParaRPr lang="en-US"/>
        </a:p>
      </dgm:t>
    </dgm:pt>
    <dgm:pt modelId="{DAE977C9-C570-45EC-898C-278D4C7A5A5D}" type="pres">
      <dgm:prSet presAssocID="{37405527-F0B5-4C6A-AA6E-85689858E918}" presName="hierChild5" presStyleCnt="0"/>
      <dgm:spPr/>
      <dgm:t>
        <a:bodyPr/>
        <a:lstStyle/>
        <a:p>
          <a:endParaRPr lang="en-US"/>
        </a:p>
      </dgm:t>
    </dgm:pt>
    <dgm:pt modelId="{7226AC3D-76E3-4E5E-933F-ED5CB13ACFD3}" type="pres">
      <dgm:prSet presAssocID="{8EA390F5-BB18-4385-8C38-A5025E8E4C83}" presName="hierChild3" presStyleCnt="0"/>
      <dgm:spPr/>
      <dgm:t>
        <a:bodyPr/>
        <a:lstStyle/>
        <a:p>
          <a:endParaRPr lang="en-US"/>
        </a:p>
      </dgm:t>
    </dgm:pt>
  </dgm:ptLst>
  <dgm:cxnLst>
    <dgm:cxn modelId="{9736EFCE-CFF6-4615-B2FF-98BAE3719F19}" srcId="{8EA390F5-BB18-4385-8C38-A5025E8E4C83}" destId="{C390ADF7-811C-41B3-B404-4737B2D3C1DD}" srcOrd="3" destOrd="0" parTransId="{968999A2-2852-4F57-949E-3ED9236659FD}" sibTransId="{6DE82740-1DE6-470B-87D4-7CCC97E75B7D}"/>
    <dgm:cxn modelId="{13966E83-545F-411B-A5D2-E3349C3BEC48}" type="presOf" srcId="{55306F7A-FF89-4992-8E26-AEBC0D19A3BD}" destId="{698280B0-F330-417F-892C-2ECE84E9BE08}" srcOrd="1" destOrd="0" presId="urn:microsoft.com/office/officeart/2009/3/layout/HorizontalOrganizationChart"/>
    <dgm:cxn modelId="{30C0AB68-C654-4265-A471-7E072FCA89E1}" type="presOf" srcId="{968999A2-2852-4F57-949E-3ED9236659FD}" destId="{697F5BC6-760B-4179-8FFD-F53773944E30}" srcOrd="0" destOrd="0" presId="urn:microsoft.com/office/officeart/2009/3/layout/HorizontalOrganizationChart"/>
    <dgm:cxn modelId="{233343B6-5044-4182-9198-11DA4C9A0FBF}" type="presOf" srcId="{55306F7A-FF89-4992-8E26-AEBC0D19A3BD}" destId="{EBE40003-57D1-417C-9371-D32664E974ED}" srcOrd="0" destOrd="0" presId="urn:microsoft.com/office/officeart/2009/3/layout/HorizontalOrganizationChart"/>
    <dgm:cxn modelId="{54158FFF-F28A-47D9-8354-809CE25E33AE}" type="presOf" srcId="{C390ADF7-811C-41B3-B404-4737B2D3C1DD}" destId="{7F9FF15B-B118-40E7-9056-89481BB97B05}" srcOrd="0" destOrd="0" presId="urn:microsoft.com/office/officeart/2009/3/layout/HorizontalOrganizationChart"/>
    <dgm:cxn modelId="{0B25B120-EA09-4561-AD26-353E1118B264}" srcId="{8EA390F5-BB18-4385-8C38-A5025E8E4C83}" destId="{F158CC4B-9FC5-4FAD-B377-92A586E0BF48}" srcOrd="2" destOrd="0" parTransId="{C1D54D6B-A7BD-4709-B04B-EC3B747C2B04}" sibTransId="{6CF3E0B5-E2C8-4C9C-8097-7AB91761EB07}"/>
    <dgm:cxn modelId="{344AEADF-EB37-4B6C-A01F-BDBBECF8A30B}" srcId="{8EA390F5-BB18-4385-8C38-A5025E8E4C83}" destId="{37405527-F0B5-4C6A-AA6E-85689858E918}" srcOrd="5" destOrd="0" parTransId="{8406C0B3-524D-4EB8-B060-6532837E8330}" sibTransId="{52F9A5CC-FBBF-4FE7-A671-625A29FC857D}"/>
    <dgm:cxn modelId="{2D16A58F-B82D-4819-9BF8-DDE9E187E5F7}" type="presOf" srcId="{052A58A4-8AD3-4385-A08C-E651E6C1A0C4}" destId="{08EC6738-8061-4924-9D2E-8C32DFFB7109}" srcOrd="0" destOrd="0" presId="urn:microsoft.com/office/officeart/2009/3/layout/HorizontalOrganizationChart"/>
    <dgm:cxn modelId="{C19841A6-F856-4525-832A-B3954D1F7AFF}" type="presOf" srcId="{B1E764ED-5AA0-4C76-BC55-B148539E8647}" destId="{12048D1F-1C22-4794-AAC9-FD8444ECFD38}" srcOrd="0" destOrd="0" presId="urn:microsoft.com/office/officeart/2009/3/layout/HorizontalOrganizationChart"/>
    <dgm:cxn modelId="{B034BAB6-AD42-4F61-8516-F4560DB1922F}" srcId="{8EA390F5-BB18-4385-8C38-A5025E8E4C83}" destId="{55306F7A-FF89-4992-8E26-AEBC0D19A3BD}" srcOrd="0" destOrd="0" parTransId="{052A58A4-8AD3-4385-A08C-E651E6C1A0C4}" sibTransId="{939A1134-409A-4FA7-A743-601A27E48BD3}"/>
    <dgm:cxn modelId="{D6D71D38-ECD4-4B0E-B7F5-FB544B2804BC}" type="presOf" srcId="{C1D54D6B-A7BD-4709-B04B-EC3B747C2B04}" destId="{E2D256E0-BB86-4CB5-BE9C-E2099EBCA192}" srcOrd="0" destOrd="0" presId="urn:microsoft.com/office/officeart/2009/3/layout/HorizontalOrganizationChart"/>
    <dgm:cxn modelId="{AE1EE455-832B-420E-B5CB-BFE115C878D2}" type="presOf" srcId="{F158CC4B-9FC5-4FAD-B377-92A586E0BF48}" destId="{CEE234DD-5D79-4186-AF5C-AB5034679714}" srcOrd="1" destOrd="0" presId="urn:microsoft.com/office/officeart/2009/3/layout/HorizontalOrganizationChart"/>
    <dgm:cxn modelId="{63C2FE54-88A3-4797-8ECE-1BA3A300E30A}" srcId="{BC617B88-0361-48FF-B718-4BF796E91FEB}" destId="{8EA390F5-BB18-4385-8C38-A5025E8E4C83}" srcOrd="0" destOrd="0" parTransId="{0D7AC894-6A97-4760-A51F-B9BD5184ECC0}" sibTransId="{857AC0E4-C22D-41DD-81D0-A74501D5A45B}"/>
    <dgm:cxn modelId="{8344EABC-5E3F-460B-829F-F4B7269F339A}" type="presOf" srcId="{8EA390F5-BB18-4385-8C38-A5025E8E4C83}" destId="{B03CB9FA-1DDE-417E-890E-95CE1B2BAAF4}" srcOrd="0" destOrd="0" presId="urn:microsoft.com/office/officeart/2009/3/layout/HorizontalOrganizationChart"/>
    <dgm:cxn modelId="{55EA26D0-FD76-4FAB-BAB8-F0B4252E2296}" type="presOf" srcId="{B1E764ED-5AA0-4C76-BC55-B148539E8647}" destId="{1B32D292-75B3-4977-9B84-4654F775C373}" srcOrd="1" destOrd="0" presId="urn:microsoft.com/office/officeart/2009/3/layout/HorizontalOrganizationChart"/>
    <dgm:cxn modelId="{341FC33D-FC9C-4DF8-85EA-8C3CFEB3E335}" type="presOf" srcId="{8EA390F5-BB18-4385-8C38-A5025E8E4C83}" destId="{1DC15D48-FD99-4FF5-9820-C7D12DB202EF}" srcOrd="1" destOrd="0" presId="urn:microsoft.com/office/officeart/2009/3/layout/HorizontalOrganizationChart"/>
    <dgm:cxn modelId="{85EB12AB-2307-4809-94F4-02DFA78152D9}" type="presOf" srcId="{8406C0B3-524D-4EB8-B060-6532837E8330}" destId="{B4D897D0-99FB-4003-81B8-8B3CD8385257}" srcOrd="0" destOrd="0" presId="urn:microsoft.com/office/officeart/2009/3/layout/HorizontalOrganizationChart"/>
    <dgm:cxn modelId="{BE1E4697-8410-4555-96CD-7AF4D1CCA2B8}" type="presOf" srcId="{CC7C5C55-CAF0-441B-8F13-93EB6A8D404E}" destId="{80FA710F-7BAD-4A16-B6D0-DB4FB75004EE}" srcOrd="0" destOrd="0" presId="urn:microsoft.com/office/officeart/2009/3/layout/HorizontalOrganizationChart"/>
    <dgm:cxn modelId="{9D4FBA48-8190-4B74-99A1-B3564B5B98CE}" type="presOf" srcId="{DDFC2752-2052-4C1F-AB70-DE24FDF80C1C}" destId="{1F3AA119-EBF2-49F1-B348-F425FD4EFF37}" srcOrd="0" destOrd="0" presId="urn:microsoft.com/office/officeart/2009/3/layout/HorizontalOrganizationChart"/>
    <dgm:cxn modelId="{60F16A99-CC34-4643-ACF5-EC5634431A34}" type="presOf" srcId="{C390ADF7-811C-41B3-B404-4737B2D3C1DD}" destId="{965E3472-280F-4AD6-976E-E58CC7BDE8C8}" srcOrd="1" destOrd="0" presId="urn:microsoft.com/office/officeart/2009/3/layout/HorizontalOrganizationChart"/>
    <dgm:cxn modelId="{11C0CC92-FB68-466F-806D-A9A473EEEE7F}" type="presOf" srcId="{F158CC4B-9FC5-4FAD-B377-92A586E0BF48}" destId="{D8E79859-E261-4E95-ABD9-6DE59FBF7F0F}" srcOrd="0" destOrd="0" presId="urn:microsoft.com/office/officeart/2009/3/layout/HorizontalOrganizationChart"/>
    <dgm:cxn modelId="{82B3FE49-B3B9-48EF-B422-8ADF93630217}" type="presOf" srcId="{37405527-F0B5-4C6A-AA6E-85689858E918}" destId="{16148BC0-285F-4878-BEEC-59D733E7C190}" srcOrd="1" destOrd="0" presId="urn:microsoft.com/office/officeart/2009/3/layout/HorizontalOrganizationChart"/>
    <dgm:cxn modelId="{E5790E92-D210-4CAA-BAFA-11CD17A1FEE0}" type="presOf" srcId="{37405527-F0B5-4C6A-AA6E-85689858E918}" destId="{47D6063B-6964-4359-8E0E-B0F90A2B8B18}" srcOrd="0" destOrd="0" presId="urn:microsoft.com/office/officeart/2009/3/layout/HorizontalOrganizationChart"/>
    <dgm:cxn modelId="{9A0E9014-8602-40AE-816E-ECA5268632E5}" srcId="{8EA390F5-BB18-4385-8C38-A5025E8E4C83}" destId="{DDFC2752-2052-4C1F-AB70-DE24FDF80C1C}" srcOrd="4" destOrd="0" parTransId="{380FBE10-7F7B-4326-A582-009C9F871679}" sibTransId="{D268CD08-6FF7-4A16-B642-BB089EBA6EE8}"/>
    <dgm:cxn modelId="{4976E114-68B2-4996-A33A-847CCA568813}" type="presOf" srcId="{380FBE10-7F7B-4326-A582-009C9F871679}" destId="{7447DD12-CD58-4F8A-924E-1EBCBC901E07}" srcOrd="0" destOrd="0" presId="urn:microsoft.com/office/officeart/2009/3/layout/HorizontalOrganizationChart"/>
    <dgm:cxn modelId="{0DB8380F-792C-40FA-BC1D-9A382009DF90}" type="presOf" srcId="{DDFC2752-2052-4C1F-AB70-DE24FDF80C1C}" destId="{E56B5876-28C8-43FE-8FD2-BBA60F6EEAC2}" srcOrd="1" destOrd="0" presId="urn:microsoft.com/office/officeart/2009/3/layout/HorizontalOrganizationChart"/>
    <dgm:cxn modelId="{AD61A6A1-0FF2-4474-9202-BC6D2383A8FA}" srcId="{8EA390F5-BB18-4385-8C38-A5025E8E4C83}" destId="{B1E764ED-5AA0-4C76-BC55-B148539E8647}" srcOrd="1" destOrd="0" parTransId="{CC7C5C55-CAF0-441B-8F13-93EB6A8D404E}" sibTransId="{511B5500-B11F-4C33-8D37-B80023D13CBC}"/>
    <dgm:cxn modelId="{D476CC28-8000-4D0D-8121-ECF672FC7BE8}" type="presOf" srcId="{BC617B88-0361-48FF-B718-4BF796E91FEB}" destId="{99795456-B9DA-4D02-8803-383455D4D7C3}" srcOrd="0" destOrd="0" presId="urn:microsoft.com/office/officeart/2009/3/layout/HorizontalOrganizationChart"/>
    <dgm:cxn modelId="{C2FE349C-F2CD-4F3E-A9C4-DCD38857F7C3}" type="presParOf" srcId="{99795456-B9DA-4D02-8803-383455D4D7C3}" destId="{B56D7A78-C0DF-4944-8811-5EA5873CCB07}" srcOrd="0" destOrd="0" presId="urn:microsoft.com/office/officeart/2009/3/layout/HorizontalOrganizationChart"/>
    <dgm:cxn modelId="{B142DDBA-314B-4309-B3FD-D25335FB1558}" type="presParOf" srcId="{B56D7A78-C0DF-4944-8811-5EA5873CCB07}" destId="{B35BF2AD-9CBC-4EE7-9BD8-5CA856338AD5}" srcOrd="0" destOrd="0" presId="urn:microsoft.com/office/officeart/2009/3/layout/HorizontalOrganizationChart"/>
    <dgm:cxn modelId="{5C936420-0D96-4D5B-9440-60E08910A00A}" type="presParOf" srcId="{B35BF2AD-9CBC-4EE7-9BD8-5CA856338AD5}" destId="{B03CB9FA-1DDE-417E-890E-95CE1B2BAAF4}" srcOrd="0" destOrd="0" presId="urn:microsoft.com/office/officeart/2009/3/layout/HorizontalOrganizationChart"/>
    <dgm:cxn modelId="{6BC71334-D0F2-408E-A202-4EDD9F1D8854}" type="presParOf" srcId="{B35BF2AD-9CBC-4EE7-9BD8-5CA856338AD5}" destId="{1DC15D48-FD99-4FF5-9820-C7D12DB202EF}" srcOrd="1" destOrd="0" presId="urn:microsoft.com/office/officeart/2009/3/layout/HorizontalOrganizationChart"/>
    <dgm:cxn modelId="{02D16549-96EF-4F23-85CC-C3B98A346A8D}" type="presParOf" srcId="{B56D7A78-C0DF-4944-8811-5EA5873CCB07}" destId="{A02D8010-7471-458E-A8E0-6E6C440A8EBF}" srcOrd="1" destOrd="0" presId="urn:microsoft.com/office/officeart/2009/3/layout/HorizontalOrganizationChart"/>
    <dgm:cxn modelId="{1B6D1762-8F64-4F73-963B-5112FD176245}" type="presParOf" srcId="{A02D8010-7471-458E-A8E0-6E6C440A8EBF}" destId="{08EC6738-8061-4924-9D2E-8C32DFFB7109}" srcOrd="0" destOrd="0" presId="urn:microsoft.com/office/officeart/2009/3/layout/HorizontalOrganizationChart"/>
    <dgm:cxn modelId="{61D81400-1379-4227-8CD6-DBAA127617FC}" type="presParOf" srcId="{A02D8010-7471-458E-A8E0-6E6C440A8EBF}" destId="{31C5BF7C-41F0-4046-91A2-BF4866512F0B}" srcOrd="1" destOrd="0" presId="urn:microsoft.com/office/officeart/2009/3/layout/HorizontalOrganizationChart"/>
    <dgm:cxn modelId="{27C9CE83-A391-4208-B90C-8605559804CF}" type="presParOf" srcId="{31C5BF7C-41F0-4046-91A2-BF4866512F0B}" destId="{E5278C8A-2269-4598-B377-5CB87AEE1BE3}" srcOrd="0" destOrd="0" presId="urn:microsoft.com/office/officeart/2009/3/layout/HorizontalOrganizationChart"/>
    <dgm:cxn modelId="{7CF5AF95-1CF0-42F4-983D-A3FF61F0A33F}" type="presParOf" srcId="{E5278C8A-2269-4598-B377-5CB87AEE1BE3}" destId="{EBE40003-57D1-417C-9371-D32664E974ED}" srcOrd="0" destOrd="0" presId="urn:microsoft.com/office/officeart/2009/3/layout/HorizontalOrganizationChart"/>
    <dgm:cxn modelId="{9A0EAD41-1E64-4225-AFD4-19021C7EB9A5}" type="presParOf" srcId="{E5278C8A-2269-4598-B377-5CB87AEE1BE3}" destId="{698280B0-F330-417F-892C-2ECE84E9BE08}" srcOrd="1" destOrd="0" presId="urn:microsoft.com/office/officeart/2009/3/layout/HorizontalOrganizationChart"/>
    <dgm:cxn modelId="{1F462C92-BCCB-4483-A789-F1C76048E9F4}" type="presParOf" srcId="{31C5BF7C-41F0-4046-91A2-BF4866512F0B}" destId="{6B2B6684-68B9-41BF-9385-271A791CA017}" srcOrd="1" destOrd="0" presId="urn:microsoft.com/office/officeart/2009/3/layout/HorizontalOrganizationChart"/>
    <dgm:cxn modelId="{DEF85BE3-BB7D-43B9-AEB6-CC3898637E12}" type="presParOf" srcId="{31C5BF7C-41F0-4046-91A2-BF4866512F0B}" destId="{A63C3C48-3B8E-4197-B90D-AA52751DF625}" srcOrd="2" destOrd="0" presId="urn:microsoft.com/office/officeart/2009/3/layout/HorizontalOrganizationChart"/>
    <dgm:cxn modelId="{BBE57582-A501-4A21-BA1C-03DA63EAB148}" type="presParOf" srcId="{A02D8010-7471-458E-A8E0-6E6C440A8EBF}" destId="{80FA710F-7BAD-4A16-B6D0-DB4FB75004EE}" srcOrd="2" destOrd="0" presId="urn:microsoft.com/office/officeart/2009/3/layout/HorizontalOrganizationChart"/>
    <dgm:cxn modelId="{0CD10161-02B2-4A5E-8405-14984434F5D8}" type="presParOf" srcId="{A02D8010-7471-458E-A8E0-6E6C440A8EBF}" destId="{063C3D07-9657-4232-86C9-64D5ED045777}" srcOrd="3" destOrd="0" presId="urn:microsoft.com/office/officeart/2009/3/layout/HorizontalOrganizationChart"/>
    <dgm:cxn modelId="{21C06FA7-AE3D-4592-AEDB-947BF3B4F46E}" type="presParOf" srcId="{063C3D07-9657-4232-86C9-64D5ED045777}" destId="{9628AC40-B796-4831-BE2B-9BA9B60C014B}" srcOrd="0" destOrd="0" presId="urn:microsoft.com/office/officeart/2009/3/layout/HorizontalOrganizationChart"/>
    <dgm:cxn modelId="{A71F9253-96A0-4608-A9FC-7CA2D4E30ACF}" type="presParOf" srcId="{9628AC40-B796-4831-BE2B-9BA9B60C014B}" destId="{12048D1F-1C22-4794-AAC9-FD8444ECFD38}" srcOrd="0" destOrd="0" presId="urn:microsoft.com/office/officeart/2009/3/layout/HorizontalOrganizationChart"/>
    <dgm:cxn modelId="{8C65F780-5D29-47AE-BA1C-427D0DF4DB55}" type="presParOf" srcId="{9628AC40-B796-4831-BE2B-9BA9B60C014B}" destId="{1B32D292-75B3-4977-9B84-4654F775C373}" srcOrd="1" destOrd="0" presId="urn:microsoft.com/office/officeart/2009/3/layout/HorizontalOrganizationChart"/>
    <dgm:cxn modelId="{A61E9D60-BFB8-4AAF-A7FF-C33912A04AA9}" type="presParOf" srcId="{063C3D07-9657-4232-86C9-64D5ED045777}" destId="{420311B1-B79B-4308-A1F5-B195E041077F}" srcOrd="1" destOrd="0" presId="urn:microsoft.com/office/officeart/2009/3/layout/HorizontalOrganizationChart"/>
    <dgm:cxn modelId="{5255CF59-CDE4-4C27-BD63-F5A52EB14F56}" type="presParOf" srcId="{063C3D07-9657-4232-86C9-64D5ED045777}" destId="{564A2BAD-8D2D-4408-92F3-6BA9EA48A1CB}" srcOrd="2" destOrd="0" presId="urn:microsoft.com/office/officeart/2009/3/layout/HorizontalOrganizationChart"/>
    <dgm:cxn modelId="{B57F4832-DDD2-40E9-BBE7-CB7389F48218}" type="presParOf" srcId="{A02D8010-7471-458E-A8E0-6E6C440A8EBF}" destId="{E2D256E0-BB86-4CB5-BE9C-E2099EBCA192}" srcOrd="4" destOrd="0" presId="urn:microsoft.com/office/officeart/2009/3/layout/HorizontalOrganizationChart"/>
    <dgm:cxn modelId="{2E6BB820-4150-42EA-9F1B-356A84880605}" type="presParOf" srcId="{A02D8010-7471-458E-A8E0-6E6C440A8EBF}" destId="{665944FA-923A-4917-B131-742291F664E8}" srcOrd="5" destOrd="0" presId="urn:microsoft.com/office/officeart/2009/3/layout/HorizontalOrganizationChart"/>
    <dgm:cxn modelId="{7BDCCE89-FB7F-4236-97C6-72DDF2B4023B}" type="presParOf" srcId="{665944FA-923A-4917-B131-742291F664E8}" destId="{EE6985E3-2768-4D24-94B0-9F763BBDD104}" srcOrd="0" destOrd="0" presId="urn:microsoft.com/office/officeart/2009/3/layout/HorizontalOrganizationChart"/>
    <dgm:cxn modelId="{908E8FF8-2C1B-42FA-A45E-856DC6181F72}" type="presParOf" srcId="{EE6985E3-2768-4D24-94B0-9F763BBDD104}" destId="{D8E79859-E261-4E95-ABD9-6DE59FBF7F0F}" srcOrd="0" destOrd="0" presId="urn:microsoft.com/office/officeart/2009/3/layout/HorizontalOrganizationChart"/>
    <dgm:cxn modelId="{9F395AE5-90E8-49F7-AECA-77FBCB549DF1}" type="presParOf" srcId="{EE6985E3-2768-4D24-94B0-9F763BBDD104}" destId="{CEE234DD-5D79-4186-AF5C-AB5034679714}" srcOrd="1" destOrd="0" presId="urn:microsoft.com/office/officeart/2009/3/layout/HorizontalOrganizationChart"/>
    <dgm:cxn modelId="{D3651947-EABA-45AF-A927-83836D7565CD}" type="presParOf" srcId="{665944FA-923A-4917-B131-742291F664E8}" destId="{0F5BF09C-2BCE-4107-B6A2-D0ECA1DDD11D}" srcOrd="1" destOrd="0" presId="urn:microsoft.com/office/officeart/2009/3/layout/HorizontalOrganizationChart"/>
    <dgm:cxn modelId="{6CF1117D-46B6-4ADB-87F7-1682B6563DAB}" type="presParOf" srcId="{665944FA-923A-4917-B131-742291F664E8}" destId="{235BFEA0-2A40-40DD-B92D-EA183ECE528A}" srcOrd="2" destOrd="0" presId="urn:microsoft.com/office/officeart/2009/3/layout/HorizontalOrganizationChart"/>
    <dgm:cxn modelId="{6EF2A42C-0C90-4E34-BC2D-029C862A1F86}" type="presParOf" srcId="{A02D8010-7471-458E-A8E0-6E6C440A8EBF}" destId="{697F5BC6-760B-4179-8FFD-F53773944E30}" srcOrd="6" destOrd="0" presId="urn:microsoft.com/office/officeart/2009/3/layout/HorizontalOrganizationChart"/>
    <dgm:cxn modelId="{BC69D8CF-D95A-4F6F-8383-AC2236951C45}" type="presParOf" srcId="{A02D8010-7471-458E-A8E0-6E6C440A8EBF}" destId="{8A03C8AA-C9C2-43AE-9804-E8784AE7C453}" srcOrd="7" destOrd="0" presId="urn:microsoft.com/office/officeart/2009/3/layout/HorizontalOrganizationChart"/>
    <dgm:cxn modelId="{D53004F9-FFBB-42F8-84EE-C8897A9C9F9C}" type="presParOf" srcId="{8A03C8AA-C9C2-43AE-9804-E8784AE7C453}" destId="{780E6173-8892-4C9E-9CE7-D3647ACE31AC}" srcOrd="0" destOrd="0" presId="urn:microsoft.com/office/officeart/2009/3/layout/HorizontalOrganizationChart"/>
    <dgm:cxn modelId="{713B7B36-4357-4AFB-95D1-3CD2C555D76E}" type="presParOf" srcId="{780E6173-8892-4C9E-9CE7-D3647ACE31AC}" destId="{7F9FF15B-B118-40E7-9056-89481BB97B05}" srcOrd="0" destOrd="0" presId="urn:microsoft.com/office/officeart/2009/3/layout/HorizontalOrganizationChart"/>
    <dgm:cxn modelId="{685174A1-DE46-43AE-A30B-60F1C6164755}" type="presParOf" srcId="{780E6173-8892-4C9E-9CE7-D3647ACE31AC}" destId="{965E3472-280F-4AD6-976E-E58CC7BDE8C8}" srcOrd="1" destOrd="0" presId="urn:microsoft.com/office/officeart/2009/3/layout/HorizontalOrganizationChart"/>
    <dgm:cxn modelId="{FDAB2C56-3C44-448A-9FF8-DE50E281BECB}" type="presParOf" srcId="{8A03C8AA-C9C2-43AE-9804-E8784AE7C453}" destId="{8F05D1CE-8245-49D8-8B5E-F3A6556D7FC9}" srcOrd="1" destOrd="0" presId="urn:microsoft.com/office/officeart/2009/3/layout/HorizontalOrganizationChart"/>
    <dgm:cxn modelId="{0D701C8A-7F0C-4A65-8452-F5BF907825B5}" type="presParOf" srcId="{8A03C8AA-C9C2-43AE-9804-E8784AE7C453}" destId="{92EEE1F4-5CEC-4282-84E6-A247D141F44D}" srcOrd="2" destOrd="0" presId="urn:microsoft.com/office/officeart/2009/3/layout/HorizontalOrganizationChart"/>
    <dgm:cxn modelId="{72ABC989-26E4-4C6F-A30D-312178D9BA5F}" type="presParOf" srcId="{A02D8010-7471-458E-A8E0-6E6C440A8EBF}" destId="{7447DD12-CD58-4F8A-924E-1EBCBC901E07}" srcOrd="8" destOrd="0" presId="urn:microsoft.com/office/officeart/2009/3/layout/HorizontalOrganizationChart"/>
    <dgm:cxn modelId="{83EFEAB4-AD30-433B-82D5-4879904417AC}" type="presParOf" srcId="{A02D8010-7471-458E-A8E0-6E6C440A8EBF}" destId="{B83160F5-1B9D-4C0F-B9B9-E244DE95E9AA}" srcOrd="9" destOrd="0" presId="urn:microsoft.com/office/officeart/2009/3/layout/HorizontalOrganizationChart"/>
    <dgm:cxn modelId="{DA8F2A38-55F7-4B72-93E7-4056C3844E7C}" type="presParOf" srcId="{B83160F5-1B9D-4C0F-B9B9-E244DE95E9AA}" destId="{9222D9A1-E825-4ED9-8C1A-96AC06D0F161}" srcOrd="0" destOrd="0" presId="urn:microsoft.com/office/officeart/2009/3/layout/HorizontalOrganizationChart"/>
    <dgm:cxn modelId="{BEE0C39B-33CF-47F9-B963-D342350C7DB0}" type="presParOf" srcId="{9222D9A1-E825-4ED9-8C1A-96AC06D0F161}" destId="{1F3AA119-EBF2-49F1-B348-F425FD4EFF37}" srcOrd="0" destOrd="0" presId="urn:microsoft.com/office/officeart/2009/3/layout/HorizontalOrganizationChart"/>
    <dgm:cxn modelId="{8F91FEEC-B875-41D2-9F42-7A8C9539A639}" type="presParOf" srcId="{9222D9A1-E825-4ED9-8C1A-96AC06D0F161}" destId="{E56B5876-28C8-43FE-8FD2-BBA60F6EEAC2}" srcOrd="1" destOrd="0" presId="urn:microsoft.com/office/officeart/2009/3/layout/HorizontalOrganizationChart"/>
    <dgm:cxn modelId="{586D6BE2-29C3-403B-9A5C-A2F39C5A817D}" type="presParOf" srcId="{B83160F5-1B9D-4C0F-B9B9-E244DE95E9AA}" destId="{A6419FFC-3735-4F23-931C-25DF0372DBF9}" srcOrd="1" destOrd="0" presId="urn:microsoft.com/office/officeart/2009/3/layout/HorizontalOrganizationChart"/>
    <dgm:cxn modelId="{6F464699-14B6-4090-A6BD-54D05FD545AB}" type="presParOf" srcId="{B83160F5-1B9D-4C0F-B9B9-E244DE95E9AA}" destId="{AF73535D-C9C1-40DA-8FE6-6C92DA03DB72}" srcOrd="2" destOrd="0" presId="urn:microsoft.com/office/officeart/2009/3/layout/HorizontalOrganizationChart"/>
    <dgm:cxn modelId="{96E65E5A-2E19-4CB6-8EA6-389F06AE0188}" type="presParOf" srcId="{A02D8010-7471-458E-A8E0-6E6C440A8EBF}" destId="{B4D897D0-99FB-4003-81B8-8B3CD8385257}" srcOrd="10" destOrd="0" presId="urn:microsoft.com/office/officeart/2009/3/layout/HorizontalOrganizationChart"/>
    <dgm:cxn modelId="{58DA7E3F-A918-49B5-B53A-C0A9306FF2F9}" type="presParOf" srcId="{A02D8010-7471-458E-A8E0-6E6C440A8EBF}" destId="{F73B86DA-CD5C-4725-9D47-E2D75D4749CD}" srcOrd="11" destOrd="0" presId="urn:microsoft.com/office/officeart/2009/3/layout/HorizontalOrganizationChart"/>
    <dgm:cxn modelId="{D6DAC129-D164-4BE5-8EA6-057D889C6063}" type="presParOf" srcId="{F73B86DA-CD5C-4725-9D47-E2D75D4749CD}" destId="{2EA32919-3C90-449C-B310-7967B46FB0AC}" srcOrd="0" destOrd="0" presId="urn:microsoft.com/office/officeart/2009/3/layout/HorizontalOrganizationChart"/>
    <dgm:cxn modelId="{FC77C7B2-A342-4070-827D-52351F3C439B}" type="presParOf" srcId="{2EA32919-3C90-449C-B310-7967B46FB0AC}" destId="{47D6063B-6964-4359-8E0E-B0F90A2B8B18}" srcOrd="0" destOrd="0" presId="urn:microsoft.com/office/officeart/2009/3/layout/HorizontalOrganizationChart"/>
    <dgm:cxn modelId="{46632CC7-2722-4E43-AE69-47BFD77D1EA3}" type="presParOf" srcId="{2EA32919-3C90-449C-B310-7967B46FB0AC}" destId="{16148BC0-285F-4878-BEEC-59D733E7C190}" srcOrd="1" destOrd="0" presId="urn:microsoft.com/office/officeart/2009/3/layout/HorizontalOrganizationChart"/>
    <dgm:cxn modelId="{4CA51D94-8935-4834-8A01-40FA8D588023}" type="presParOf" srcId="{F73B86DA-CD5C-4725-9D47-E2D75D4749CD}" destId="{66594C6D-B00E-4263-BC2E-DD6FE4C8D1BD}" srcOrd="1" destOrd="0" presId="urn:microsoft.com/office/officeart/2009/3/layout/HorizontalOrganizationChart"/>
    <dgm:cxn modelId="{0D6BBA95-5CF9-4D82-BF6C-A380C1D58496}" type="presParOf" srcId="{F73B86DA-CD5C-4725-9D47-E2D75D4749CD}" destId="{DAE977C9-C570-45EC-898C-278D4C7A5A5D}" srcOrd="2" destOrd="0" presId="urn:microsoft.com/office/officeart/2009/3/layout/HorizontalOrganizationChart"/>
    <dgm:cxn modelId="{578011A7-24EF-4FC7-A4E8-9888CE9FB00A}" type="presParOf" srcId="{B56D7A78-C0DF-4944-8811-5EA5873CCB07}" destId="{7226AC3D-76E3-4E5E-933F-ED5CB13ACFD3}" srcOrd="2" destOrd="0" presId="urn:microsoft.com/office/officeart/2009/3/layout/HorizontalOrganizationChart"/>
  </dgm:cxnLst>
  <dgm:bg>
    <a:pattFill prst="narHorz">
      <a:fgClr>
        <a:schemeClr val="bg1"/>
      </a:fgClr>
      <a:bgClr>
        <a:schemeClr val="bg1"/>
      </a:bgClr>
    </a:pattFill>
    <a:effectLst>
      <a:glow rad="127000">
        <a:schemeClr val="bg1"/>
      </a:glow>
    </a:effect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D897D0-99FB-4003-81B8-8B3CD8385257}">
      <dsp:nvSpPr>
        <dsp:cNvPr id="0" name=""/>
        <dsp:cNvSpPr/>
      </dsp:nvSpPr>
      <dsp:spPr>
        <a:xfrm>
          <a:off x="2809356" y="2720068"/>
          <a:ext cx="442453" cy="2378186"/>
        </a:xfrm>
        <a:custGeom>
          <a:avLst/>
          <a:gdLst/>
          <a:ahLst/>
          <a:cxnLst/>
          <a:rect l="0" t="0" r="0" b="0"/>
          <a:pathLst>
            <a:path>
              <a:moveTo>
                <a:pt x="0" y="0"/>
              </a:moveTo>
              <a:lnTo>
                <a:pt x="221226" y="0"/>
              </a:lnTo>
              <a:lnTo>
                <a:pt x="221226" y="2378186"/>
              </a:lnTo>
              <a:lnTo>
                <a:pt x="442453" y="2378186"/>
              </a:lnTo>
            </a:path>
          </a:pathLst>
        </a:custGeom>
        <a:noFill/>
        <a:ln w="15875" cap="flat" cmpd="sng" algn="ctr">
          <a:solidFill>
            <a:schemeClr val="accent5">
              <a:tint val="9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7447DD12-CD58-4F8A-924E-1EBCBC901E07}">
      <dsp:nvSpPr>
        <dsp:cNvPr id="0" name=""/>
        <dsp:cNvSpPr/>
      </dsp:nvSpPr>
      <dsp:spPr>
        <a:xfrm>
          <a:off x="2809356" y="2720068"/>
          <a:ext cx="442453" cy="1426911"/>
        </a:xfrm>
        <a:custGeom>
          <a:avLst/>
          <a:gdLst/>
          <a:ahLst/>
          <a:cxnLst/>
          <a:rect l="0" t="0" r="0" b="0"/>
          <a:pathLst>
            <a:path>
              <a:moveTo>
                <a:pt x="0" y="0"/>
              </a:moveTo>
              <a:lnTo>
                <a:pt x="221226" y="0"/>
              </a:lnTo>
              <a:lnTo>
                <a:pt x="221226" y="1426911"/>
              </a:lnTo>
              <a:lnTo>
                <a:pt x="442453" y="1426911"/>
              </a:lnTo>
            </a:path>
          </a:pathLst>
        </a:custGeom>
        <a:noFill/>
        <a:ln w="15875" cap="flat" cmpd="sng" algn="ctr">
          <a:solidFill>
            <a:schemeClr val="accent5">
              <a:tint val="9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697F5BC6-760B-4179-8FFD-F53773944E30}">
      <dsp:nvSpPr>
        <dsp:cNvPr id="0" name=""/>
        <dsp:cNvSpPr/>
      </dsp:nvSpPr>
      <dsp:spPr>
        <a:xfrm>
          <a:off x="2809356" y="2720068"/>
          <a:ext cx="442453" cy="475637"/>
        </a:xfrm>
        <a:custGeom>
          <a:avLst/>
          <a:gdLst/>
          <a:ahLst/>
          <a:cxnLst/>
          <a:rect l="0" t="0" r="0" b="0"/>
          <a:pathLst>
            <a:path>
              <a:moveTo>
                <a:pt x="0" y="0"/>
              </a:moveTo>
              <a:lnTo>
                <a:pt x="221226" y="0"/>
              </a:lnTo>
              <a:lnTo>
                <a:pt x="221226" y="475637"/>
              </a:lnTo>
              <a:lnTo>
                <a:pt x="442453" y="475637"/>
              </a:lnTo>
            </a:path>
          </a:pathLst>
        </a:custGeom>
        <a:noFill/>
        <a:ln w="15875" cap="flat" cmpd="sng" algn="ctr">
          <a:solidFill>
            <a:schemeClr val="accent5">
              <a:tint val="9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E2D256E0-BB86-4CB5-BE9C-E2099EBCA192}">
      <dsp:nvSpPr>
        <dsp:cNvPr id="0" name=""/>
        <dsp:cNvSpPr/>
      </dsp:nvSpPr>
      <dsp:spPr>
        <a:xfrm>
          <a:off x="2809356" y="2244430"/>
          <a:ext cx="442453" cy="475637"/>
        </a:xfrm>
        <a:custGeom>
          <a:avLst/>
          <a:gdLst/>
          <a:ahLst/>
          <a:cxnLst/>
          <a:rect l="0" t="0" r="0" b="0"/>
          <a:pathLst>
            <a:path>
              <a:moveTo>
                <a:pt x="0" y="475637"/>
              </a:moveTo>
              <a:lnTo>
                <a:pt x="221226" y="475637"/>
              </a:lnTo>
              <a:lnTo>
                <a:pt x="221226" y="0"/>
              </a:lnTo>
              <a:lnTo>
                <a:pt x="442453" y="0"/>
              </a:lnTo>
            </a:path>
          </a:pathLst>
        </a:custGeom>
        <a:noFill/>
        <a:ln w="15875" cap="flat" cmpd="sng" algn="ctr">
          <a:solidFill>
            <a:schemeClr val="accent5">
              <a:tint val="9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80FA710F-7BAD-4A16-B6D0-DB4FB75004EE}">
      <dsp:nvSpPr>
        <dsp:cNvPr id="0" name=""/>
        <dsp:cNvSpPr/>
      </dsp:nvSpPr>
      <dsp:spPr>
        <a:xfrm>
          <a:off x="2809356" y="1293156"/>
          <a:ext cx="442453" cy="1426911"/>
        </a:xfrm>
        <a:custGeom>
          <a:avLst/>
          <a:gdLst/>
          <a:ahLst/>
          <a:cxnLst/>
          <a:rect l="0" t="0" r="0" b="0"/>
          <a:pathLst>
            <a:path>
              <a:moveTo>
                <a:pt x="0" y="1426911"/>
              </a:moveTo>
              <a:lnTo>
                <a:pt x="221226" y="1426911"/>
              </a:lnTo>
              <a:lnTo>
                <a:pt x="221226" y="0"/>
              </a:lnTo>
              <a:lnTo>
                <a:pt x="442453" y="0"/>
              </a:lnTo>
            </a:path>
          </a:pathLst>
        </a:custGeom>
        <a:noFill/>
        <a:ln w="15875" cap="flat" cmpd="sng" algn="ctr">
          <a:solidFill>
            <a:schemeClr val="accent5">
              <a:tint val="9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08EC6738-8061-4924-9D2E-8C32DFFB7109}">
      <dsp:nvSpPr>
        <dsp:cNvPr id="0" name=""/>
        <dsp:cNvSpPr/>
      </dsp:nvSpPr>
      <dsp:spPr>
        <a:xfrm>
          <a:off x="2809356" y="341881"/>
          <a:ext cx="442453" cy="2378186"/>
        </a:xfrm>
        <a:custGeom>
          <a:avLst/>
          <a:gdLst/>
          <a:ahLst/>
          <a:cxnLst/>
          <a:rect l="0" t="0" r="0" b="0"/>
          <a:pathLst>
            <a:path>
              <a:moveTo>
                <a:pt x="0" y="2378186"/>
              </a:moveTo>
              <a:lnTo>
                <a:pt x="221226" y="2378186"/>
              </a:lnTo>
              <a:lnTo>
                <a:pt x="221226" y="0"/>
              </a:lnTo>
              <a:lnTo>
                <a:pt x="442453" y="0"/>
              </a:lnTo>
            </a:path>
          </a:pathLst>
        </a:custGeom>
        <a:noFill/>
        <a:ln w="15875" cap="flat" cmpd="sng" algn="ctr">
          <a:solidFill>
            <a:schemeClr val="accent5">
              <a:tint val="9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B03CB9FA-1DDE-417E-890E-95CE1B2BAAF4}">
      <dsp:nvSpPr>
        <dsp:cNvPr id="0" name=""/>
        <dsp:cNvSpPr/>
      </dsp:nvSpPr>
      <dsp:spPr>
        <a:xfrm>
          <a:off x="597089" y="2382697"/>
          <a:ext cx="2212266" cy="674741"/>
        </a:xfrm>
        <a:prstGeom prst="rect">
          <a:avLst/>
        </a:prstGeom>
        <a:gradFill rotWithShape="0">
          <a:gsLst>
            <a:gs pos="0">
              <a:schemeClr val="accent5">
                <a:shade val="60000"/>
                <a:hueOff val="0"/>
                <a:satOff val="0"/>
                <a:lumOff val="0"/>
                <a:alphaOff val="0"/>
                <a:tint val="100000"/>
                <a:shade val="85000"/>
                <a:satMod val="100000"/>
                <a:lumMod val="100000"/>
              </a:schemeClr>
            </a:gs>
            <a:gs pos="100000">
              <a:schemeClr val="accent5">
                <a:shade val="60000"/>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en-US" sz="1700" kern="1200" dirty="0">
              <a:latin typeface="Times New Roman" panose="02020603050405020304" pitchFamily="18" charset="0"/>
              <a:cs typeface="Times New Roman" panose="02020603050405020304" pitchFamily="18" charset="0"/>
            </a:rPr>
            <a:t>Blood Group detection using finger print images</a:t>
          </a:r>
        </a:p>
      </dsp:txBody>
      <dsp:txXfrm>
        <a:off x="597089" y="2382697"/>
        <a:ext cx="2212266" cy="674741"/>
      </dsp:txXfrm>
    </dsp:sp>
    <dsp:sp modelId="{EBE40003-57D1-417C-9371-D32664E974ED}">
      <dsp:nvSpPr>
        <dsp:cNvPr id="0" name=""/>
        <dsp:cNvSpPr/>
      </dsp:nvSpPr>
      <dsp:spPr>
        <a:xfrm>
          <a:off x="3251809" y="4510"/>
          <a:ext cx="2212266" cy="674741"/>
        </a:xfrm>
        <a:prstGeom prst="rect">
          <a:avLst/>
        </a:prstGeom>
        <a:gradFill rotWithShape="0">
          <a:gsLst>
            <a:gs pos="0">
              <a:schemeClr val="accent5">
                <a:shade val="80000"/>
                <a:hueOff val="0"/>
                <a:satOff val="0"/>
                <a:lumOff val="0"/>
                <a:alphaOff val="0"/>
                <a:tint val="100000"/>
                <a:shade val="85000"/>
                <a:satMod val="100000"/>
                <a:lumMod val="100000"/>
              </a:schemeClr>
            </a:gs>
            <a:gs pos="100000">
              <a:schemeClr val="accent5">
                <a:shade val="80000"/>
                <a:hueOff val="0"/>
                <a:satOff val="0"/>
                <a:lumOff val="0"/>
                <a:alphaOff val="0"/>
                <a:tint val="90000"/>
                <a:shade val="100000"/>
                <a:satMod val="150000"/>
                <a:lumMod val="100000"/>
              </a:schemeClr>
            </a:gs>
          </a:gsLst>
          <a:path path="circle">
            <a:fillToRect l="100000" t="100000" r="100000" b="100000"/>
          </a:path>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en-US" sz="1700" kern="1200" dirty="0">
              <a:latin typeface="Times New Roman" panose="02020603050405020304" pitchFamily="18" charset="0"/>
              <a:cs typeface="Times New Roman" panose="02020603050405020304" pitchFamily="18" charset="0"/>
            </a:rPr>
            <a:t>Load dataset</a:t>
          </a:r>
        </a:p>
      </dsp:txBody>
      <dsp:txXfrm>
        <a:off x="3251809" y="4510"/>
        <a:ext cx="2212266" cy="674741"/>
      </dsp:txXfrm>
    </dsp:sp>
    <dsp:sp modelId="{12048D1F-1C22-4794-AAC9-FD8444ECFD38}">
      <dsp:nvSpPr>
        <dsp:cNvPr id="0" name=""/>
        <dsp:cNvSpPr/>
      </dsp:nvSpPr>
      <dsp:spPr>
        <a:xfrm>
          <a:off x="3251809" y="955785"/>
          <a:ext cx="2212266" cy="674741"/>
        </a:xfrm>
        <a:prstGeom prst="rect">
          <a:avLst/>
        </a:prstGeom>
        <a:gradFill rotWithShape="0">
          <a:gsLst>
            <a:gs pos="0">
              <a:schemeClr val="accent5">
                <a:shade val="80000"/>
                <a:hueOff val="0"/>
                <a:satOff val="0"/>
                <a:lumOff val="0"/>
                <a:alphaOff val="0"/>
                <a:tint val="100000"/>
                <a:shade val="85000"/>
                <a:satMod val="100000"/>
                <a:lumMod val="100000"/>
              </a:schemeClr>
            </a:gs>
            <a:gs pos="100000">
              <a:schemeClr val="accent5">
                <a:shade val="80000"/>
                <a:hueOff val="0"/>
                <a:satOff val="0"/>
                <a:lumOff val="0"/>
                <a:alphaOff val="0"/>
                <a:tint val="90000"/>
                <a:shade val="100000"/>
                <a:satMod val="150000"/>
                <a:lumMod val="100000"/>
              </a:schemeClr>
            </a:gs>
          </a:gsLst>
          <a:path path="circle">
            <a:fillToRect l="100000" t="100000" r="100000" b="100000"/>
          </a:path>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en-US" sz="1700" kern="1200" dirty="0">
              <a:latin typeface="Times New Roman" panose="02020603050405020304" pitchFamily="18" charset="0"/>
              <a:cs typeface="Times New Roman" panose="02020603050405020304" pitchFamily="18" charset="0"/>
            </a:rPr>
            <a:t>Data Preprocessing</a:t>
          </a:r>
        </a:p>
      </dsp:txBody>
      <dsp:txXfrm>
        <a:off x="3251809" y="955785"/>
        <a:ext cx="2212266" cy="674741"/>
      </dsp:txXfrm>
    </dsp:sp>
    <dsp:sp modelId="{D8E79859-E261-4E95-ABD9-6DE59FBF7F0F}">
      <dsp:nvSpPr>
        <dsp:cNvPr id="0" name=""/>
        <dsp:cNvSpPr/>
      </dsp:nvSpPr>
      <dsp:spPr>
        <a:xfrm>
          <a:off x="3251809" y="1907060"/>
          <a:ext cx="2212266" cy="674741"/>
        </a:xfrm>
        <a:prstGeom prst="rect">
          <a:avLst/>
        </a:prstGeom>
        <a:gradFill rotWithShape="0">
          <a:gsLst>
            <a:gs pos="0">
              <a:schemeClr val="accent5">
                <a:shade val="80000"/>
                <a:hueOff val="0"/>
                <a:satOff val="0"/>
                <a:lumOff val="0"/>
                <a:alphaOff val="0"/>
                <a:tint val="100000"/>
                <a:shade val="85000"/>
                <a:satMod val="100000"/>
                <a:lumMod val="100000"/>
              </a:schemeClr>
            </a:gs>
            <a:gs pos="100000">
              <a:schemeClr val="accent5">
                <a:shade val="80000"/>
                <a:hueOff val="0"/>
                <a:satOff val="0"/>
                <a:lumOff val="0"/>
                <a:alphaOff val="0"/>
                <a:tint val="90000"/>
                <a:shade val="100000"/>
                <a:satMod val="150000"/>
                <a:lumMod val="100000"/>
              </a:schemeClr>
            </a:gs>
          </a:gsLst>
          <a:path path="circle">
            <a:fillToRect l="100000" t="100000" r="100000" b="100000"/>
          </a:path>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9525" tIns="9525" rIns="9525" bIns="9525" numCol="1" spcCol="1270" anchor="ctr" anchorCtr="0">
          <a:noAutofit/>
        </a:bodyPr>
        <a:lstStyle/>
        <a:p>
          <a:pPr lvl="0" algn="ctr" defTabSz="666750">
            <a:lnSpc>
              <a:spcPct val="90000"/>
            </a:lnSpc>
            <a:spcBef>
              <a:spcPct val="0"/>
            </a:spcBef>
            <a:spcAft>
              <a:spcPct val="35000"/>
            </a:spcAft>
          </a:pPr>
          <a:r>
            <a:rPr lang="en-US" sz="1500" kern="1200" dirty="0">
              <a:latin typeface="Times New Roman" panose="02020603050405020304" pitchFamily="18" charset="0"/>
              <a:cs typeface="Times New Roman" panose="02020603050405020304" pitchFamily="18" charset="0"/>
            </a:rPr>
            <a:t>Training Models using MobileNet, ResNet+RNN and Vision Transformer</a:t>
          </a:r>
        </a:p>
      </dsp:txBody>
      <dsp:txXfrm>
        <a:off x="3251809" y="1907060"/>
        <a:ext cx="2212266" cy="674741"/>
      </dsp:txXfrm>
    </dsp:sp>
    <dsp:sp modelId="{7F9FF15B-B118-40E7-9056-89481BB97B05}">
      <dsp:nvSpPr>
        <dsp:cNvPr id="0" name=""/>
        <dsp:cNvSpPr/>
      </dsp:nvSpPr>
      <dsp:spPr>
        <a:xfrm>
          <a:off x="3251809" y="2858334"/>
          <a:ext cx="2212266" cy="674741"/>
        </a:xfrm>
        <a:prstGeom prst="rect">
          <a:avLst/>
        </a:prstGeom>
        <a:gradFill rotWithShape="0">
          <a:gsLst>
            <a:gs pos="0">
              <a:schemeClr val="accent5">
                <a:shade val="80000"/>
                <a:hueOff val="0"/>
                <a:satOff val="0"/>
                <a:lumOff val="0"/>
                <a:alphaOff val="0"/>
                <a:tint val="100000"/>
                <a:shade val="85000"/>
                <a:satMod val="100000"/>
                <a:lumMod val="100000"/>
              </a:schemeClr>
            </a:gs>
            <a:gs pos="100000">
              <a:schemeClr val="accent5">
                <a:shade val="80000"/>
                <a:hueOff val="0"/>
                <a:satOff val="0"/>
                <a:lumOff val="0"/>
                <a:alphaOff val="0"/>
                <a:tint val="90000"/>
                <a:shade val="100000"/>
                <a:satMod val="150000"/>
                <a:lumMod val="100000"/>
              </a:schemeClr>
            </a:gs>
          </a:gsLst>
          <a:path path="circle">
            <a:fillToRect l="100000" t="100000" r="100000" b="100000"/>
          </a:path>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en-US" sz="1700" kern="1200" dirty="0">
              <a:latin typeface="Times New Roman" panose="02020603050405020304" pitchFamily="18" charset="0"/>
              <a:cs typeface="Times New Roman" panose="02020603050405020304" pitchFamily="18" charset="0"/>
            </a:rPr>
            <a:t>Testing on validation</a:t>
          </a:r>
        </a:p>
      </dsp:txBody>
      <dsp:txXfrm>
        <a:off x="3251809" y="2858334"/>
        <a:ext cx="2212266" cy="674741"/>
      </dsp:txXfrm>
    </dsp:sp>
    <dsp:sp modelId="{1F3AA119-EBF2-49F1-B348-F425FD4EFF37}">
      <dsp:nvSpPr>
        <dsp:cNvPr id="0" name=""/>
        <dsp:cNvSpPr/>
      </dsp:nvSpPr>
      <dsp:spPr>
        <a:xfrm>
          <a:off x="3251809" y="3809609"/>
          <a:ext cx="2212266" cy="674741"/>
        </a:xfrm>
        <a:prstGeom prst="rect">
          <a:avLst/>
        </a:prstGeom>
        <a:gradFill rotWithShape="0">
          <a:gsLst>
            <a:gs pos="0">
              <a:schemeClr val="accent5">
                <a:shade val="80000"/>
                <a:hueOff val="0"/>
                <a:satOff val="0"/>
                <a:lumOff val="0"/>
                <a:alphaOff val="0"/>
                <a:tint val="100000"/>
                <a:shade val="85000"/>
                <a:satMod val="100000"/>
                <a:lumMod val="100000"/>
              </a:schemeClr>
            </a:gs>
            <a:gs pos="100000">
              <a:schemeClr val="accent5">
                <a:shade val="80000"/>
                <a:hueOff val="0"/>
                <a:satOff val="0"/>
                <a:lumOff val="0"/>
                <a:alphaOff val="0"/>
                <a:tint val="90000"/>
                <a:shade val="100000"/>
                <a:satMod val="150000"/>
                <a:lumMod val="100000"/>
              </a:schemeClr>
            </a:gs>
          </a:gsLst>
          <a:path path="circle">
            <a:fillToRect l="100000" t="100000" r="100000" b="100000"/>
          </a:path>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en-US" sz="1700" kern="1200" dirty="0">
              <a:latin typeface="Times New Roman" panose="02020603050405020304" pitchFamily="18" charset="0"/>
              <a:cs typeface="Times New Roman" panose="02020603050405020304" pitchFamily="18" charset="0"/>
            </a:rPr>
            <a:t>Classification on new data</a:t>
          </a:r>
        </a:p>
      </dsp:txBody>
      <dsp:txXfrm>
        <a:off x="3251809" y="3809609"/>
        <a:ext cx="2212266" cy="674741"/>
      </dsp:txXfrm>
    </dsp:sp>
    <dsp:sp modelId="{47D6063B-6964-4359-8E0E-B0F90A2B8B18}">
      <dsp:nvSpPr>
        <dsp:cNvPr id="0" name=""/>
        <dsp:cNvSpPr/>
      </dsp:nvSpPr>
      <dsp:spPr>
        <a:xfrm>
          <a:off x="3251809" y="4760883"/>
          <a:ext cx="2212266" cy="674741"/>
        </a:xfrm>
        <a:prstGeom prst="rect">
          <a:avLst/>
        </a:prstGeom>
        <a:gradFill rotWithShape="0">
          <a:gsLst>
            <a:gs pos="0">
              <a:schemeClr val="accent5">
                <a:shade val="80000"/>
                <a:hueOff val="0"/>
                <a:satOff val="0"/>
                <a:lumOff val="0"/>
                <a:alphaOff val="0"/>
                <a:tint val="100000"/>
                <a:shade val="85000"/>
                <a:satMod val="100000"/>
                <a:lumMod val="100000"/>
              </a:schemeClr>
            </a:gs>
            <a:gs pos="100000">
              <a:schemeClr val="accent5">
                <a:shade val="80000"/>
                <a:hueOff val="0"/>
                <a:satOff val="0"/>
                <a:lumOff val="0"/>
                <a:alphaOff val="0"/>
                <a:tint val="90000"/>
                <a:shade val="100000"/>
                <a:satMod val="150000"/>
                <a:lumMod val="100000"/>
              </a:schemeClr>
            </a:gs>
          </a:gsLst>
          <a:path path="circle">
            <a:fillToRect l="100000" t="100000" r="100000" b="100000"/>
          </a:path>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en-US" sz="1700" kern="1200" dirty="0">
              <a:latin typeface="Times New Roman" panose="02020603050405020304" pitchFamily="18" charset="0"/>
              <a:cs typeface="Times New Roman" panose="02020603050405020304" pitchFamily="18" charset="0"/>
            </a:rPr>
            <a:t>End</a:t>
          </a:r>
        </a:p>
      </dsp:txBody>
      <dsp:txXfrm>
        <a:off x="3251809" y="4760883"/>
        <a:ext cx="2212266" cy="674741"/>
      </dsp:txXfrm>
    </dsp:sp>
  </dsp:spTree>
</dsp:drawing>
</file>

<file path=ppt/diagrams/layout1.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52ADB1-275D-430A-89EE-5C7E6CFF6FF2}" type="datetimeFigureOut">
              <a:rPr lang="en-US" smtClean="0"/>
              <a:t>1/21/2025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725628-3A68-42F4-BA86-981817953149}" type="slidenum">
              <a:rPr lang="en-US" smtClean="0"/>
              <a:t>‹#›</a:t>
            </a:fld>
            <a:endParaRPr lang="en-US" dirty="0"/>
          </a:p>
        </p:txBody>
      </p:sp>
    </p:spTree>
    <p:extLst>
      <p:ext uri="{BB962C8B-B14F-4D97-AF65-F5344CB8AC3E}">
        <p14:creationId xmlns:p14="http://schemas.microsoft.com/office/powerpoint/2010/main" val="649258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7005E26E-BCB2-4FD5-8FD5-81A5EAE94C21}" type="datetime1">
              <a:rPr lang="en-US" smtClean="0"/>
              <a:t>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585C470-CD19-455C-B830-6D252EAD7FE5}" type="datetime1">
              <a:rPr lang="en-US" smtClean="0"/>
              <a:t>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smtClean="0"/>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F85C43C-50D9-4F49-A136-0EFF292F93ED}" type="datetime1">
              <a:rPr lang="en-US" smtClean="0"/>
              <a:t>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7B53B1A3-0AEF-4064-A724-D27D660C8653}" type="datetime1">
              <a:rPr lang="en-US" smtClean="0"/>
              <a:t>1/21/2025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smtClean="0"/>
              <a:t>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37D5D0F2-BF66-4A24-9384-A0129B196518}" type="datetime1">
              <a:rPr lang="en-US" smtClean="0"/>
              <a:t>1/21/2025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8C318A6C-4F6B-48D2-BDB0-D7413B3FDB0A}" type="datetime1">
              <a:rPr lang="en-US" smtClean="0"/>
              <a:t>1/21/2025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01ECED-6ECE-4989-B917-9D4D7E6D3C76}" type="datetime1">
              <a:rPr lang="en-US" smtClean="0"/>
              <a:t>1/21/2025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smtClean="0"/>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E3B570E1-CB40-488E-8C6F-EF4211DFFCB0}" type="datetime1">
              <a:rPr lang="en-US" smtClean="0"/>
              <a:t>1/21/2025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1CEB6AF-9F5C-43BE-879E-CB9514111250}" type="datetime1">
              <a:rPr lang="en-US" smtClean="0"/>
              <a:t>1/21/2025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CC2E9B8-0487-42E4-B571-744A3D775783}" type="datetime1">
              <a:rPr lang="en-US" smtClean="0"/>
              <a:t>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052E32D-1E84-43FD-8158-FFFE757EB0E8}" type="datetime1">
              <a:rPr lang="en-US" smtClean="0"/>
              <a:t>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60000"/>
                <a:lumOff val="4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7EE424C-FCA3-4EDD-B274-8E055D649B7D}" type="datetime1">
              <a:rPr lang="en-US" smtClean="0"/>
              <a:t>1/21/2025</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FAB73BC-B049-4115-A692-8D63A059BFB8}" type="slidenum">
              <a:rPr lang="en-US" dirty="0"/>
              <a:pPr/>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8" r:id="rId10"/>
    <p:sldLayoutId id="2147483659" r:id="rId11"/>
  </p:sldLayoutIdLst>
  <p:hf sldNum="0" hdr="0" ft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Free Images : hand, pattern, finger, nail, art, drawing, design ..."/>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0166" y="114300"/>
            <a:ext cx="11183815" cy="6583680"/>
          </a:xfrm>
          <a:prstGeom prst="rect">
            <a:avLst/>
          </a:prstGeom>
        </p:spPr>
      </p:pic>
      <p:sp>
        <p:nvSpPr>
          <p:cNvPr id="15" name="Rectangle 14"/>
          <p:cNvSpPr/>
          <p:nvPr/>
        </p:nvSpPr>
        <p:spPr>
          <a:xfrm>
            <a:off x="1981200" y="631960"/>
            <a:ext cx="7977053" cy="1323439"/>
          </a:xfrm>
          <a:prstGeom prst="rect">
            <a:avLst/>
          </a:prstGeom>
          <a:solidFill>
            <a:schemeClr val="accent5">
              <a:lumMod val="50000"/>
            </a:schemeClr>
          </a:solidFill>
        </p:spPr>
        <p:style>
          <a:lnRef idx="0">
            <a:schemeClr val="accent5"/>
          </a:lnRef>
          <a:fillRef idx="3">
            <a:schemeClr val="accent5"/>
          </a:fillRef>
          <a:effectRef idx="3">
            <a:schemeClr val="accent5"/>
          </a:effectRef>
          <a:fontRef idx="minor">
            <a:schemeClr val="lt1"/>
          </a:fontRef>
        </p:style>
        <p:txBody>
          <a:bodyPr wrap="square">
            <a:spAutoFit/>
          </a:bodyPr>
          <a:lstStyle/>
          <a:p>
            <a:pPr algn="ctr"/>
            <a:r>
              <a:rPr lang="en-US" sz="4000" b="1" dirty="0" smtClean="0">
                <a:latin typeface="Times New Roman" panose="02020603050405020304" pitchFamily="18" charset="0"/>
                <a:cs typeface="Times New Roman" panose="02020603050405020304" pitchFamily="18" charset="0"/>
              </a:rPr>
              <a:t>BLOOD </a:t>
            </a:r>
            <a:r>
              <a:rPr lang="en-US" sz="4000" b="1" dirty="0">
                <a:latin typeface="Times New Roman" panose="02020603050405020304" pitchFamily="18" charset="0"/>
                <a:cs typeface="Times New Roman" panose="02020603050405020304" pitchFamily="18" charset="0"/>
              </a:rPr>
              <a:t>GROUP DETECTION USING FINGERPRINT</a:t>
            </a:r>
          </a:p>
        </p:txBody>
      </p:sp>
    </p:spTree>
    <p:extLst>
      <p:ext uri="{BB962C8B-B14F-4D97-AF65-F5344CB8AC3E}">
        <p14:creationId xmlns:p14="http://schemas.microsoft.com/office/powerpoint/2010/main" val="280625702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788997" y="703765"/>
            <a:ext cx="9720072" cy="770709"/>
          </a:xfrm>
        </p:spPr>
        <p:txBody>
          <a:bodyPr>
            <a:normAutofit/>
          </a:bodyPr>
          <a:lstStyle/>
          <a:p>
            <a:r>
              <a:rPr lang="en-US" sz="3000" b="1" dirty="0" smtClean="0">
                <a:solidFill>
                  <a:schemeClr val="tx2">
                    <a:lumMod val="50000"/>
                  </a:schemeClr>
                </a:solidFill>
                <a:latin typeface="Times New Roman" panose="02020603050405020304" pitchFamily="18" charset="0"/>
                <a:cs typeface="Times New Roman" panose="02020603050405020304" pitchFamily="18" charset="0"/>
              </a:rPr>
              <a:t>TABLE OF CONTENTS</a:t>
            </a:r>
            <a:endParaRPr lang="en-US" sz="3000" b="1" dirty="0">
              <a:solidFill>
                <a:schemeClr val="tx2">
                  <a:lumMod val="50000"/>
                </a:schemeClr>
              </a:solidFill>
              <a:latin typeface="Times New Roman" panose="02020603050405020304" pitchFamily="18" charset="0"/>
              <a:cs typeface="Times New Roman" panose="02020603050405020304" pitchFamily="18" charset="0"/>
            </a:endParaRPr>
          </a:p>
        </p:txBody>
      </p:sp>
      <p:sp>
        <p:nvSpPr>
          <p:cNvPr id="6" name="TextBox 5"/>
          <p:cNvSpPr txBox="1"/>
          <p:nvPr/>
        </p:nvSpPr>
        <p:spPr>
          <a:xfrm>
            <a:off x="788997" y="1737360"/>
            <a:ext cx="5807746" cy="4942892"/>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ü"/>
            </a:pPr>
            <a:r>
              <a:rPr lang="en-US" sz="1600" b="1" dirty="0" smtClean="0">
                <a:latin typeface="Times New Roman" panose="02020603050405020304" pitchFamily="18" charset="0"/>
                <a:cs typeface="Times New Roman" panose="02020603050405020304" pitchFamily="18" charset="0"/>
              </a:rPr>
              <a:t>Project Description</a:t>
            </a:r>
          </a:p>
          <a:p>
            <a:pPr marL="342900" indent="-342900" algn="just">
              <a:lnSpc>
                <a:spcPct val="150000"/>
              </a:lnSpc>
              <a:buFont typeface="Wingdings" panose="05000000000000000000" pitchFamily="2" charset="2"/>
              <a:buChar char="ü"/>
            </a:pPr>
            <a:r>
              <a:rPr lang="en-US" sz="1600" b="1" dirty="0" smtClean="0">
                <a:latin typeface="Times New Roman" panose="02020603050405020304" pitchFamily="18" charset="0"/>
                <a:cs typeface="Times New Roman" panose="02020603050405020304" pitchFamily="18" charset="0"/>
              </a:rPr>
              <a:t>Problem Statement</a:t>
            </a:r>
          </a:p>
          <a:p>
            <a:pPr marL="342900" indent="-342900" algn="just">
              <a:lnSpc>
                <a:spcPct val="150000"/>
              </a:lnSpc>
              <a:buFont typeface="Wingdings" panose="05000000000000000000" pitchFamily="2" charset="2"/>
              <a:buChar char="ü"/>
            </a:pPr>
            <a:r>
              <a:rPr lang="en-US" sz="1600" b="1" dirty="0" smtClean="0">
                <a:latin typeface="Times New Roman" panose="02020603050405020304" pitchFamily="18" charset="0"/>
                <a:cs typeface="Times New Roman" panose="02020603050405020304" pitchFamily="18" charset="0"/>
              </a:rPr>
              <a:t>Objective</a:t>
            </a:r>
          </a:p>
          <a:p>
            <a:pPr marL="342900" indent="-342900" algn="just">
              <a:lnSpc>
                <a:spcPct val="150000"/>
              </a:lnSpc>
              <a:buFont typeface="Wingdings" panose="05000000000000000000" pitchFamily="2" charset="2"/>
              <a:buChar char="ü"/>
            </a:pPr>
            <a:r>
              <a:rPr lang="en-US" sz="1600" b="1" dirty="0" smtClean="0">
                <a:latin typeface="Times New Roman" panose="02020603050405020304" pitchFamily="18" charset="0"/>
                <a:cs typeface="Times New Roman" panose="02020603050405020304" pitchFamily="18" charset="0"/>
              </a:rPr>
              <a:t>Scope</a:t>
            </a:r>
          </a:p>
          <a:p>
            <a:pPr marL="342900" indent="-342900" algn="just">
              <a:lnSpc>
                <a:spcPct val="150000"/>
              </a:lnSpc>
              <a:buFont typeface="Wingdings" panose="05000000000000000000" pitchFamily="2" charset="2"/>
              <a:buChar char="ü"/>
            </a:pPr>
            <a:r>
              <a:rPr lang="en-US" sz="1600" b="1" dirty="0" smtClean="0">
                <a:latin typeface="Times New Roman" panose="02020603050405020304" pitchFamily="18" charset="0"/>
                <a:cs typeface="Times New Roman" panose="02020603050405020304" pitchFamily="18" charset="0"/>
              </a:rPr>
              <a:t>Significant</a:t>
            </a:r>
          </a:p>
          <a:p>
            <a:pPr marL="342900" indent="-342900" algn="just">
              <a:lnSpc>
                <a:spcPct val="150000"/>
              </a:lnSpc>
              <a:buFont typeface="Wingdings" panose="05000000000000000000" pitchFamily="2" charset="2"/>
              <a:buChar char="ü"/>
            </a:pPr>
            <a:r>
              <a:rPr lang="en-US" sz="1600" b="1" dirty="0" smtClean="0">
                <a:latin typeface="Times New Roman" panose="02020603050405020304" pitchFamily="18" charset="0"/>
                <a:cs typeface="Times New Roman" panose="02020603050405020304" pitchFamily="18" charset="0"/>
              </a:rPr>
              <a:t>Existing System</a:t>
            </a:r>
          </a:p>
          <a:p>
            <a:pPr marL="342900" indent="-342900" algn="just">
              <a:lnSpc>
                <a:spcPct val="150000"/>
              </a:lnSpc>
              <a:buFont typeface="Wingdings" panose="05000000000000000000" pitchFamily="2" charset="2"/>
              <a:buChar char="ü"/>
            </a:pPr>
            <a:r>
              <a:rPr lang="en-US" sz="1600" b="1" dirty="0" smtClean="0">
                <a:latin typeface="Times New Roman" panose="02020603050405020304" pitchFamily="18" charset="0"/>
                <a:cs typeface="Times New Roman" panose="02020603050405020304" pitchFamily="18" charset="0"/>
              </a:rPr>
              <a:t>Proposed System</a:t>
            </a:r>
          </a:p>
          <a:p>
            <a:pPr marL="342900" indent="-342900" algn="just">
              <a:lnSpc>
                <a:spcPct val="150000"/>
              </a:lnSpc>
              <a:buFont typeface="Wingdings" panose="05000000000000000000" pitchFamily="2" charset="2"/>
              <a:buChar char="ü"/>
            </a:pPr>
            <a:r>
              <a:rPr lang="en-US" sz="1600" b="1" dirty="0" smtClean="0">
                <a:latin typeface="Times New Roman" panose="02020603050405020304" pitchFamily="18" charset="0"/>
                <a:cs typeface="Times New Roman" panose="02020603050405020304" pitchFamily="18" charset="0"/>
              </a:rPr>
              <a:t>Architecture</a:t>
            </a:r>
          </a:p>
          <a:p>
            <a:pPr marL="342900" indent="-342900" algn="just">
              <a:lnSpc>
                <a:spcPct val="150000"/>
              </a:lnSpc>
              <a:buFont typeface="Wingdings" panose="05000000000000000000" pitchFamily="2" charset="2"/>
              <a:buChar char="ü"/>
            </a:pPr>
            <a:r>
              <a:rPr lang="en-US" sz="1600" b="1" dirty="0" smtClean="0">
                <a:latin typeface="Times New Roman" panose="02020603050405020304" pitchFamily="18" charset="0"/>
                <a:cs typeface="Times New Roman" panose="02020603050405020304" pitchFamily="18" charset="0"/>
              </a:rPr>
              <a:t>Resource Requirements</a:t>
            </a:r>
          </a:p>
          <a:p>
            <a:pPr marL="342900" indent="-342900" algn="just">
              <a:lnSpc>
                <a:spcPct val="150000"/>
              </a:lnSpc>
              <a:buFont typeface="Wingdings" panose="05000000000000000000" pitchFamily="2" charset="2"/>
              <a:buChar char="ü"/>
            </a:pPr>
            <a:r>
              <a:rPr lang="en-US" sz="1600" b="1" dirty="0" smtClean="0">
                <a:latin typeface="Times New Roman" panose="02020603050405020304" pitchFamily="18" charset="0"/>
                <a:cs typeface="Times New Roman" panose="02020603050405020304" pitchFamily="18" charset="0"/>
              </a:rPr>
              <a:t>Literature Survey</a:t>
            </a:r>
          </a:p>
          <a:p>
            <a:pPr marL="342900" indent="-342900" algn="just">
              <a:lnSpc>
                <a:spcPct val="150000"/>
              </a:lnSpc>
              <a:buFont typeface="Wingdings" panose="05000000000000000000" pitchFamily="2" charset="2"/>
              <a:buChar char="ü"/>
            </a:pPr>
            <a:r>
              <a:rPr lang="en-US" sz="1600" b="1" dirty="0" smtClean="0">
                <a:latin typeface="Times New Roman" panose="02020603050405020304" pitchFamily="18" charset="0"/>
                <a:cs typeface="Times New Roman" panose="02020603050405020304" pitchFamily="18" charset="0"/>
              </a:rPr>
              <a:t>Research Gap analysis</a:t>
            </a:r>
            <a:endParaRPr lang="en-US" sz="1600" b="1"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ü"/>
            </a:pPr>
            <a:endParaRPr lang="en-IN" sz="1600" b="1" dirty="0">
              <a:latin typeface="Times New Roman" panose="02020603050405020304" pitchFamily="18" charset="0"/>
              <a:cs typeface="Times New Roman" panose="02020603050405020304" pitchFamily="18" charset="0"/>
            </a:endParaRPr>
          </a:p>
          <a:p>
            <a:pPr lvl="2" algn="ctr">
              <a:lnSpc>
                <a:spcPct val="170000"/>
              </a:lnSpc>
              <a:buFont typeface="Wingdings" panose="05000000000000000000" pitchFamily="2" charset="2"/>
              <a:buChar char="v"/>
            </a:pPr>
            <a:endParaRPr lang="en-US" sz="1600" b="1" dirty="0">
              <a:latin typeface="Times New Roman" panose="02020603050405020304" pitchFamily="18" charset="0"/>
              <a:cs typeface="Times New Roman" panose="02020603050405020304" pitchFamily="18" charset="0"/>
            </a:endParaRPr>
          </a:p>
        </p:txBody>
      </p:sp>
      <p:sp>
        <p:nvSpPr>
          <p:cNvPr id="7" name="TextBox 6"/>
          <p:cNvSpPr txBox="1"/>
          <p:nvPr/>
        </p:nvSpPr>
        <p:spPr>
          <a:xfrm>
            <a:off x="4621203" y="1737360"/>
            <a:ext cx="3516958" cy="3785652"/>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ü"/>
            </a:pPr>
            <a:r>
              <a:rPr lang="en-US" sz="1600" b="1" dirty="0" smtClean="0">
                <a:latin typeface="Times New Roman" panose="02020603050405020304" pitchFamily="18" charset="0"/>
                <a:cs typeface="Times New Roman" panose="02020603050405020304" pitchFamily="18" charset="0"/>
              </a:rPr>
              <a:t>Implementation</a:t>
            </a:r>
          </a:p>
          <a:p>
            <a:pPr lvl="1" algn="just">
              <a:lnSpc>
                <a:spcPct val="150000"/>
              </a:lnSpc>
            </a:pPr>
            <a:r>
              <a:rPr lang="en-US" sz="1600" b="1" dirty="0" smtClean="0">
                <a:latin typeface="Times New Roman" panose="02020603050405020304" pitchFamily="18" charset="0"/>
                <a:cs typeface="Times New Roman" panose="02020603050405020304" pitchFamily="18" charset="0"/>
              </a:rPr>
              <a:t>1</a:t>
            </a:r>
            <a:r>
              <a:rPr lang="en-US" sz="1600" b="1" dirty="0">
                <a:latin typeface="Times New Roman" panose="02020603050405020304" pitchFamily="18" charset="0"/>
                <a:cs typeface="Times New Roman" panose="02020603050405020304" pitchFamily="18" charset="0"/>
              </a:rPr>
              <a:t>. Data </a:t>
            </a:r>
            <a:r>
              <a:rPr lang="en-US" sz="1600" b="1" dirty="0" smtClean="0">
                <a:latin typeface="Times New Roman" panose="02020603050405020304" pitchFamily="18" charset="0"/>
                <a:cs typeface="Times New Roman" panose="02020603050405020304" pitchFamily="18" charset="0"/>
              </a:rPr>
              <a:t>Description</a:t>
            </a:r>
          </a:p>
          <a:p>
            <a:pPr marL="342900" lvl="1" indent="-342900" algn="just">
              <a:lnSpc>
                <a:spcPct val="150000"/>
              </a:lnSpc>
              <a:buFont typeface="Wingdings" panose="05000000000000000000" pitchFamily="2" charset="2"/>
              <a:buChar char="ü"/>
            </a:pPr>
            <a:r>
              <a:rPr lang="en-US" sz="1600" b="1" dirty="0" smtClean="0">
                <a:latin typeface="Times New Roman" panose="02020603050405020304" pitchFamily="18" charset="0"/>
                <a:cs typeface="Times New Roman" panose="02020603050405020304" pitchFamily="18" charset="0"/>
              </a:rPr>
              <a:t>Model Implementation DL</a:t>
            </a:r>
            <a:endParaRPr lang="en-US" sz="1600" b="1" dirty="0">
              <a:latin typeface="Times New Roman" panose="02020603050405020304" pitchFamily="18" charset="0"/>
              <a:cs typeface="Times New Roman" panose="02020603050405020304" pitchFamily="18" charset="0"/>
            </a:endParaRPr>
          </a:p>
          <a:p>
            <a:pPr algn="just">
              <a:lnSpc>
                <a:spcPct val="150000"/>
              </a:lnSpc>
            </a:pPr>
            <a:r>
              <a:rPr lang="en-US" sz="1600" b="1" dirty="0">
                <a:latin typeface="Times New Roman" panose="02020603050405020304" pitchFamily="18" charset="0"/>
                <a:cs typeface="Times New Roman" panose="02020603050405020304" pitchFamily="18" charset="0"/>
              </a:rPr>
              <a:t>	1. Algorithm Definition</a:t>
            </a:r>
          </a:p>
          <a:p>
            <a:pPr algn="just">
              <a:lnSpc>
                <a:spcPct val="150000"/>
              </a:lnSpc>
            </a:pPr>
            <a:r>
              <a:rPr lang="en-US" sz="1600" b="1" dirty="0">
                <a:latin typeface="Times New Roman" panose="02020603050405020304" pitchFamily="18" charset="0"/>
                <a:cs typeface="Times New Roman" panose="02020603050405020304" pitchFamily="18" charset="0"/>
              </a:rPr>
              <a:t>	2. working </a:t>
            </a:r>
            <a:r>
              <a:rPr lang="en-US" sz="1600" b="1" dirty="0" smtClean="0">
                <a:latin typeface="Times New Roman" panose="02020603050405020304" pitchFamily="18" charset="0"/>
                <a:cs typeface="Times New Roman" panose="02020603050405020304" pitchFamily="18" charset="0"/>
              </a:rPr>
              <a:t>Process</a:t>
            </a:r>
          </a:p>
          <a:p>
            <a:pPr marL="342900" lvl="1" indent="-342900" algn="just">
              <a:lnSpc>
                <a:spcPct val="150000"/>
              </a:lnSpc>
              <a:buFont typeface="Wingdings" panose="05000000000000000000" pitchFamily="2" charset="2"/>
              <a:buChar char="ü"/>
            </a:pPr>
            <a:r>
              <a:rPr lang="en-US" sz="1600" b="1" dirty="0" smtClean="0">
                <a:latin typeface="Times New Roman" panose="02020603050405020304" pitchFamily="18" charset="0"/>
                <a:cs typeface="Times New Roman" panose="02020603050405020304" pitchFamily="18" charset="0"/>
              </a:rPr>
              <a:t>Future </a:t>
            </a:r>
            <a:r>
              <a:rPr lang="en-US" sz="1600" b="1" dirty="0">
                <a:latin typeface="Times New Roman" panose="02020603050405020304" pitchFamily="18" charset="0"/>
                <a:cs typeface="Times New Roman" panose="02020603050405020304" pitchFamily="18" charset="0"/>
              </a:rPr>
              <a:t>Scope</a:t>
            </a:r>
          </a:p>
          <a:p>
            <a:pPr marL="342900" lvl="1" indent="-342900" algn="just">
              <a:lnSpc>
                <a:spcPct val="150000"/>
              </a:lnSpc>
              <a:buFont typeface="Wingdings" panose="05000000000000000000" pitchFamily="2" charset="2"/>
              <a:buChar char="ü"/>
            </a:pPr>
            <a:r>
              <a:rPr lang="en-US" sz="1600" b="1" dirty="0">
                <a:latin typeface="Times New Roman" panose="02020603050405020304" pitchFamily="18" charset="0"/>
                <a:cs typeface="Times New Roman" panose="02020603050405020304" pitchFamily="18" charset="0"/>
              </a:rPr>
              <a:t>Conclusion</a:t>
            </a:r>
          </a:p>
          <a:p>
            <a:pPr marL="342900" lvl="1" indent="-342900" algn="just">
              <a:lnSpc>
                <a:spcPct val="150000"/>
              </a:lnSpc>
              <a:buFont typeface="Wingdings" panose="05000000000000000000" pitchFamily="2" charset="2"/>
              <a:buChar char="ü"/>
            </a:pPr>
            <a:r>
              <a:rPr lang="en-US" sz="1600" b="1" dirty="0">
                <a:latin typeface="Times New Roman" panose="02020603050405020304" pitchFamily="18" charset="0"/>
                <a:cs typeface="Times New Roman" panose="02020603050405020304" pitchFamily="18" charset="0"/>
              </a:rPr>
              <a:t>References</a:t>
            </a:r>
            <a:endParaRPr lang="en-IN" sz="1600" b="1" dirty="0">
              <a:latin typeface="Times New Roman" panose="02020603050405020304" pitchFamily="18" charset="0"/>
              <a:cs typeface="Times New Roman" panose="02020603050405020304" pitchFamily="18" charset="0"/>
            </a:endParaRPr>
          </a:p>
          <a:p>
            <a:pPr algn="just">
              <a:lnSpc>
                <a:spcPct val="150000"/>
              </a:lnSpc>
            </a:pPr>
            <a:endParaRPr lang="en-US" sz="1600" b="1" dirty="0">
              <a:latin typeface="Times New Roman" panose="02020603050405020304" pitchFamily="18" charset="0"/>
              <a:cs typeface="Times New Roman" panose="02020603050405020304" pitchFamily="18" charset="0"/>
            </a:endParaRPr>
          </a:p>
          <a:p>
            <a:pPr algn="just">
              <a:lnSpc>
                <a:spcPct val="150000"/>
              </a:lnSpc>
            </a:pPr>
            <a:r>
              <a:rPr lang="en-US" sz="1600" b="1" dirty="0">
                <a:latin typeface="Times New Roman" panose="02020603050405020304" pitchFamily="18" charset="0"/>
                <a:cs typeface="Times New Roman" panose="02020603050405020304" pitchFamily="18" charset="0"/>
              </a:rPr>
              <a:t>	</a:t>
            </a:r>
            <a:endParaRPr lang="en-US" sz="1600" b="1"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174155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710619" y="277585"/>
            <a:ext cx="9720072" cy="770709"/>
          </a:xfrm>
        </p:spPr>
        <p:txBody>
          <a:bodyPr>
            <a:normAutofit fontScale="90000"/>
          </a:bodyPr>
          <a:lstStyle/>
          <a:p>
            <a:pPr lvl="2">
              <a:lnSpc>
                <a:spcPct val="170000"/>
              </a:lnSpc>
            </a:pPr>
            <a:r>
              <a:rPr lang="en-US" sz="3300" u="sng" dirty="0" smtClean="0">
                <a:latin typeface="Times New Roman" panose="02020603050405020304" pitchFamily="18" charset="0"/>
                <a:cs typeface="Times New Roman" panose="02020603050405020304" pitchFamily="18" charset="0"/>
              </a:rPr>
              <a:t>Project Description</a:t>
            </a: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5" name="Rectangle 4"/>
          <p:cNvSpPr/>
          <p:nvPr/>
        </p:nvSpPr>
        <p:spPr>
          <a:xfrm>
            <a:off x="710619" y="767441"/>
            <a:ext cx="11241895" cy="5193729"/>
          </a:xfrm>
          <a:prstGeom prst="rect">
            <a:avLst/>
          </a:prstGeom>
        </p:spPr>
        <p:txBody>
          <a:bodyPr wrap="square">
            <a:spAutoFit/>
          </a:bodyPr>
          <a:lstStyle/>
          <a:p>
            <a:pPr algn="just">
              <a:lnSpc>
                <a:spcPct val="150000"/>
              </a:lnSpc>
            </a:pPr>
            <a:r>
              <a:rPr lang="en-US" sz="1700" dirty="0" smtClean="0">
                <a:latin typeface="Times New Roman" panose="02020603050405020304" pitchFamily="18" charset="0"/>
                <a:cs typeface="Times New Roman" panose="02020603050405020304" pitchFamily="18" charset="0"/>
              </a:rPr>
              <a:t>•This </a:t>
            </a:r>
            <a:r>
              <a:rPr lang="en-US" sz="1700" dirty="0">
                <a:latin typeface="Times New Roman" panose="02020603050405020304" pitchFamily="18" charset="0"/>
                <a:cs typeface="Times New Roman" panose="02020603050405020304" pitchFamily="18" charset="0"/>
              </a:rPr>
              <a:t>project presents a novel approach for blood group detection using fingerprint analysis, a non-invasive and efficient method that can enhance current blood typing techniques</a:t>
            </a:r>
            <a:r>
              <a:rPr lang="en-US" sz="1700" dirty="0" smtClean="0">
                <a:latin typeface="Times New Roman" panose="02020603050405020304" pitchFamily="18" charset="0"/>
                <a:cs typeface="Times New Roman" panose="02020603050405020304" pitchFamily="18" charset="0"/>
              </a:rPr>
              <a:t>.</a:t>
            </a:r>
          </a:p>
          <a:p>
            <a:pPr algn="just">
              <a:lnSpc>
                <a:spcPct val="150000"/>
              </a:lnSpc>
            </a:pPr>
            <a:r>
              <a:rPr lang="en-US" sz="1700" dirty="0" smtClean="0">
                <a:latin typeface="Times New Roman" panose="02020603050405020304" pitchFamily="18" charset="0"/>
                <a:cs typeface="Times New Roman" panose="02020603050405020304" pitchFamily="18" charset="0"/>
              </a:rPr>
              <a:t> •The </a:t>
            </a:r>
            <a:r>
              <a:rPr lang="en-US" sz="1700" dirty="0">
                <a:latin typeface="Times New Roman" panose="02020603050405020304" pitchFamily="18" charset="0"/>
                <a:cs typeface="Times New Roman" panose="02020603050405020304" pitchFamily="18" charset="0"/>
              </a:rPr>
              <a:t>study involves classifying fingerprints into eight distinct blood group categories: A+, A-, AB+, AB-, B+, B-, O+, and O-. We employ a variety of advanced machine learning algorithms to achieve high accuracy in classification. </a:t>
            </a:r>
            <a:endParaRPr lang="en-US" sz="1700" dirty="0" smtClean="0">
              <a:latin typeface="Times New Roman" panose="02020603050405020304" pitchFamily="18" charset="0"/>
              <a:cs typeface="Times New Roman" panose="02020603050405020304" pitchFamily="18" charset="0"/>
            </a:endParaRPr>
          </a:p>
          <a:p>
            <a:pPr algn="just">
              <a:lnSpc>
                <a:spcPct val="150000"/>
              </a:lnSpc>
            </a:pPr>
            <a:r>
              <a:rPr lang="en-US" sz="1700" dirty="0" smtClean="0">
                <a:latin typeface="Times New Roman" panose="02020603050405020304" pitchFamily="18" charset="0"/>
                <a:cs typeface="Times New Roman" panose="02020603050405020304" pitchFamily="18" charset="0"/>
              </a:rPr>
              <a:t>•Specifically</a:t>
            </a:r>
            <a:r>
              <a:rPr lang="en-US" sz="1700" dirty="0">
                <a:latin typeface="Times New Roman" panose="02020603050405020304" pitchFamily="18" charset="0"/>
                <a:cs typeface="Times New Roman" panose="02020603050405020304" pitchFamily="18" charset="0"/>
              </a:rPr>
              <a:t>, we utilize Convolutional Neural Networks (CNN), MobileNet, RNN combined with </a:t>
            </a:r>
            <a:r>
              <a:rPr lang="en-US" sz="1700" dirty="0" err="1">
                <a:latin typeface="Times New Roman" panose="02020603050405020304" pitchFamily="18" charset="0"/>
                <a:cs typeface="Times New Roman" panose="02020603050405020304" pitchFamily="18" charset="0"/>
              </a:rPr>
              <a:t>ResNet</a:t>
            </a:r>
            <a:r>
              <a:rPr lang="en-US" sz="1700" dirty="0">
                <a:latin typeface="Times New Roman" panose="02020603050405020304" pitchFamily="18" charset="0"/>
                <a:cs typeface="Times New Roman" panose="02020603050405020304" pitchFamily="18" charset="0"/>
              </a:rPr>
              <a:t>, and Vision Transformers to analyze fingerprint patterns and extract meaningful features. Our approach focuses on leveraging the unique characteristics of fingerprint minutiae to correlate with specific blood group characteristics</a:t>
            </a:r>
            <a:r>
              <a:rPr lang="en-US" sz="1700" dirty="0" smtClean="0">
                <a:latin typeface="Times New Roman" panose="02020603050405020304" pitchFamily="18" charset="0"/>
                <a:cs typeface="Times New Roman" panose="02020603050405020304" pitchFamily="18" charset="0"/>
              </a:rPr>
              <a:t>.</a:t>
            </a:r>
          </a:p>
          <a:p>
            <a:pPr algn="just">
              <a:lnSpc>
                <a:spcPct val="150000"/>
              </a:lnSpc>
            </a:pPr>
            <a:r>
              <a:rPr lang="en-US" sz="1700" dirty="0" smtClean="0">
                <a:latin typeface="Times New Roman" panose="02020603050405020304" pitchFamily="18" charset="0"/>
                <a:cs typeface="Times New Roman" panose="02020603050405020304" pitchFamily="18" charset="0"/>
              </a:rPr>
              <a:t>Through </a:t>
            </a:r>
            <a:r>
              <a:rPr lang="en-US" sz="1700" dirty="0">
                <a:latin typeface="Times New Roman" panose="02020603050405020304" pitchFamily="18" charset="0"/>
                <a:cs typeface="Times New Roman" panose="02020603050405020304" pitchFamily="18" charset="0"/>
              </a:rPr>
              <a:t>comprehensive experiments, we evaluate the performance of each algorithm, assessing their accuracy, precision, and computational </a:t>
            </a:r>
            <a:r>
              <a:rPr lang="en-US" sz="1700" dirty="0" smtClean="0">
                <a:latin typeface="Times New Roman" panose="02020603050405020304" pitchFamily="18" charset="0"/>
                <a:cs typeface="Times New Roman" panose="02020603050405020304" pitchFamily="18" charset="0"/>
              </a:rPr>
              <a:t>efficiency.</a:t>
            </a:r>
          </a:p>
          <a:p>
            <a:pPr algn="just">
              <a:lnSpc>
                <a:spcPct val="150000"/>
              </a:lnSpc>
            </a:pPr>
            <a:r>
              <a:rPr lang="en-US" sz="1700" dirty="0" smtClean="0">
                <a:latin typeface="Times New Roman" panose="02020603050405020304" pitchFamily="18" charset="0"/>
                <a:cs typeface="Times New Roman" panose="02020603050405020304" pitchFamily="18" charset="0"/>
              </a:rPr>
              <a:t>•The </a:t>
            </a:r>
            <a:r>
              <a:rPr lang="en-US" sz="1700" dirty="0">
                <a:latin typeface="Times New Roman" panose="02020603050405020304" pitchFamily="18" charset="0"/>
                <a:cs typeface="Times New Roman" panose="02020603050405020304" pitchFamily="18" charset="0"/>
              </a:rPr>
              <a:t>results demonstrate the potential of fingerprint-based blood group detection as a reliable alternative to traditional methods</a:t>
            </a:r>
            <a:r>
              <a:rPr lang="en-US" sz="1700" dirty="0" smtClean="0">
                <a:latin typeface="Times New Roman" panose="02020603050405020304" pitchFamily="18" charset="0"/>
                <a:cs typeface="Times New Roman" panose="02020603050405020304" pitchFamily="18" charset="0"/>
              </a:rPr>
              <a:t>.</a:t>
            </a:r>
          </a:p>
          <a:p>
            <a:pPr algn="just">
              <a:lnSpc>
                <a:spcPct val="150000"/>
              </a:lnSpc>
            </a:pPr>
            <a:r>
              <a:rPr lang="en-US" sz="1700" dirty="0" smtClean="0">
                <a:latin typeface="Times New Roman" panose="02020603050405020304" pitchFamily="18" charset="0"/>
                <a:cs typeface="Times New Roman" panose="02020603050405020304" pitchFamily="18" charset="0"/>
              </a:rPr>
              <a:t> </a:t>
            </a:r>
            <a:r>
              <a:rPr lang="en-US" sz="1700" dirty="0">
                <a:latin typeface="Times New Roman" panose="02020603050405020304" pitchFamily="18" charset="0"/>
                <a:cs typeface="Times New Roman" panose="02020603050405020304" pitchFamily="18" charset="0"/>
              </a:rPr>
              <a:t>This innovative technique not only provides quick and accurate results but also contributes to the growing field of biometric applications in medical diagnostics. The findings highlight the feasibility of integrating biometric identification systems with healthcare solutions, paving the way for future research in this domain.</a:t>
            </a:r>
            <a:endParaRPr lang="en-IN"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340467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879564" y="684168"/>
            <a:ext cx="9616441" cy="1642654"/>
          </a:xfrm>
        </p:spPr>
        <p:txBody>
          <a:bodyPr>
            <a:normAutofit fontScale="90000"/>
          </a:bodyPr>
          <a:lstStyle/>
          <a:p>
            <a:pPr lvl="2">
              <a:lnSpc>
                <a:spcPct val="170000"/>
              </a:lnSpc>
            </a:pPr>
            <a:r>
              <a:rPr lang="en-US" sz="3300" u="sng" dirty="0" smtClean="0">
                <a:latin typeface="Times New Roman" panose="02020603050405020304" pitchFamily="18" charset="0"/>
                <a:cs typeface="Times New Roman" panose="02020603050405020304" pitchFamily="18" charset="0"/>
              </a:rPr>
              <a:t>Problem Statement</a:t>
            </a: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5" name="Rectangle 4"/>
          <p:cNvSpPr/>
          <p:nvPr/>
        </p:nvSpPr>
        <p:spPr>
          <a:xfrm>
            <a:off x="979714" y="1726657"/>
            <a:ext cx="11116491" cy="2120068"/>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Current blood typing methods often require invasive procedures, leading to discomfort and delays in critical medical situations. Furthermore, these techniques can be prone to human error and are not always readily accessible in emergencies. </a:t>
            </a:r>
            <a:endParaRPr lang="en-US" dirty="0" smtClean="0">
              <a:latin typeface="Times New Roman" panose="02020603050405020304" pitchFamily="18" charset="0"/>
              <a:cs typeface="Times New Roman" panose="02020603050405020304" pitchFamily="18" charset="0"/>
            </a:endParaRPr>
          </a:p>
          <a:p>
            <a:pPr algn="just">
              <a:lnSpc>
                <a:spcPct val="150000"/>
              </a:lnSpc>
            </a:pPr>
            <a:r>
              <a:rPr lang="en-US" dirty="0" smtClean="0">
                <a:latin typeface="Times New Roman" panose="02020603050405020304" pitchFamily="18" charset="0"/>
                <a:cs typeface="Times New Roman" panose="02020603050405020304" pitchFamily="18" charset="0"/>
              </a:rPr>
              <a:t>This </a:t>
            </a:r>
            <a:r>
              <a:rPr lang="en-US" dirty="0">
                <a:latin typeface="Times New Roman" panose="02020603050405020304" pitchFamily="18" charset="0"/>
                <a:cs typeface="Times New Roman" panose="02020603050405020304" pitchFamily="18" charset="0"/>
              </a:rPr>
              <a:t>project addresses the challenge of accurately detecting blood groups using non-invasive fingerprint analysis, leveraging modern machine learning algorithms to create a reliable and efficient alternative.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551193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903511" y="723357"/>
            <a:ext cx="9616441" cy="1642654"/>
          </a:xfrm>
        </p:spPr>
        <p:txBody>
          <a:bodyPr>
            <a:normAutofit fontScale="90000"/>
          </a:bodyPr>
          <a:lstStyle/>
          <a:p>
            <a:pPr lvl="2">
              <a:lnSpc>
                <a:spcPct val="170000"/>
              </a:lnSpc>
            </a:pPr>
            <a:r>
              <a:rPr lang="en-US" sz="3300" u="sng" dirty="0" smtClean="0">
                <a:latin typeface="Times New Roman" panose="02020603050405020304" pitchFamily="18" charset="0"/>
                <a:cs typeface="Times New Roman" panose="02020603050405020304" pitchFamily="18" charset="0"/>
              </a:rPr>
              <a:t>Objective</a:t>
            </a: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4" name="Rectangle 3"/>
          <p:cNvSpPr/>
          <p:nvPr/>
        </p:nvSpPr>
        <p:spPr>
          <a:xfrm>
            <a:off x="812071" y="1134855"/>
            <a:ext cx="11224264" cy="3831818"/>
          </a:xfrm>
          <a:prstGeom prst="rect">
            <a:avLst/>
          </a:prstGeom>
        </p:spPr>
        <p:txBody>
          <a:bodyPr wrap="square">
            <a:spAutoFit/>
          </a:bodyPr>
          <a:lstStyle/>
          <a:p>
            <a:pPr algn="just">
              <a:lnSpc>
                <a:spcPct val="150000"/>
              </a:lnSpc>
            </a:pPr>
            <a:r>
              <a:rPr lang="en-US" dirty="0" smtClean="0">
                <a:latin typeface="Times New Roman" panose="02020603050405020304" pitchFamily="18" charset="0"/>
                <a:cs typeface="Times New Roman" panose="02020603050405020304" pitchFamily="18" charset="0"/>
              </a:rPr>
              <a:t>• The </a:t>
            </a:r>
            <a:r>
              <a:rPr lang="en-US" dirty="0">
                <a:latin typeface="Times New Roman" panose="02020603050405020304" pitchFamily="18" charset="0"/>
                <a:cs typeface="Times New Roman" panose="02020603050405020304" pitchFamily="18" charset="0"/>
              </a:rPr>
              <a:t>primary objective of this project is to develop a robust system for blood group detection through fingerprint analysis. By employing various machine learning algorithms, including CNN, MobileNet, RNN with </a:t>
            </a:r>
            <a:r>
              <a:rPr lang="en-US" dirty="0" err="1">
                <a:latin typeface="Times New Roman" panose="02020603050405020304" pitchFamily="18" charset="0"/>
                <a:cs typeface="Times New Roman" panose="02020603050405020304" pitchFamily="18" charset="0"/>
              </a:rPr>
              <a:t>ResNet</a:t>
            </a:r>
            <a:r>
              <a:rPr lang="en-US" dirty="0">
                <a:latin typeface="Times New Roman" panose="02020603050405020304" pitchFamily="18" charset="0"/>
                <a:cs typeface="Times New Roman" panose="02020603050405020304" pitchFamily="18" charset="0"/>
              </a:rPr>
              <a:t>, and Vision </a:t>
            </a:r>
            <a:r>
              <a:rPr lang="en-US" dirty="0" smtClean="0">
                <a:latin typeface="Times New Roman" panose="02020603050405020304" pitchFamily="18" charset="0"/>
                <a:cs typeface="Times New Roman" panose="02020603050405020304" pitchFamily="18" charset="0"/>
              </a:rPr>
              <a:t>Transformers.</a:t>
            </a:r>
          </a:p>
          <a:p>
            <a:pPr algn="just">
              <a:lnSpc>
                <a:spcPct val="150000"/>
              </a:lnSpc>
            </a:pPr>
            <a:r>
              <a:rPr lang="en-US" dirty="0" smtClean="0">
                <a:latin typeface="Times New Roman" panose="02020603050405020304" pitchFamily="18" charset="0"/>
                <a:cs typeface="Times New Roman" panose="02020603050405020304" pitchFamily="18" charset="0"/>
              </a:rPr>
              <a:t>• The </a:t>
            </a:r>
            <a:r>
              <a:rPr lang="en-US" dirty="0">
                <a:latin typeface="Times New Roman" panose="02020603050405020304" pitchFamily="18" charset="0"/>
                <a:cs typeface="Times New Roman" panose="02020603050405020304" pitchFamily="18" charset="0"/>
              </a:rPr>
              <a:t>project aims to achieve high accuracy in classifying fingerprints into eight distinct blood groups: A+, A-, AB+, AB-, B+, B-, O+, and O-. </a:t>
            </a:r>
            <a:endParaRPr lang="en-US" dirty="0" smtClean="0">
              <a:latin typeface="Times New Roman" panose="02020603050405020304" pitchFamily="18" charset="0"/>
              <a:cs typeface="Times New Roman" panose="02020603050405020304" pitchFamily="18" charset="0"/>
            </a:endParaRPr>
          </a:p>
          <a:p>
            <a:pPr algn="just">
              <a:lnSpc>
                <a:spcPct val="150000"/>
              </a:lnSpc>
            </a:pPr>
            <a:r>
              <a:rPr lang="en-US" dirty="0" smtClean="0">
                <a:latin typeface="Times New Roman" panose="02020603050405020304" pitchFamily="18" charset="0"/>
                <a:cs typeface="Times New Roman" panose="02020603050405020304" pitchFamily="18" charset="0"/>
              </a:rPr>
              <a:t>• The </a:t>
            </a:r>
            <a:r>
              <a:rPr lang="en-US" dirty="0">
                <a:latin typeface="Times New Roman" panose="02020603050405020304" pitchFamily="18" charset="0"/>
                <a:cs typeface="Times New Roman" panose="02020603050405020304" pitchFamily="18" charset="0"/>
              </a:rPr>
              <a:t>system will be trained on a diverse dataset of fingerprint images to ensure generalizability across different populations</a:t>
            </a:r>
            <a:r>
              <a:rPr lang="en-US" dirty="0" smtClean="0">
                <a:latin typeface="Times New Roman" panose="02020603050405020304" pitchFamily="18" charset="0"/>
                <a:cs typeface="Times New Roman" panose="02020603050405020304" pitchFamily="18" charset="0"/>
              </a:rPr>
              <a:t>.</a:t>
            </a:r>
          </a:p>
          <a:p>
            <a:pPr algn="just">
              <a:lnSpc>
                <a:spcPct val="150000"/>
              </a:lnSpc>
            </a:pPr>
            <a:r>
              <a:rPr lang="en-US" dirty="0" smtClean="0">
                <a:latin typeface="Times New Roman" panose="02020603050405020304" pitchFamily="18" charset="0"/>
                <a:cs typeface="Times New Roman" panose="02020603050405020304" pitchFamily="18" charset="0"/>
              </a:rPr>
              <a:t> • Additionally</a:t>
            </a:r>
            <a:r>
              <a:rPr lang="en-US" dirty="0">
                <a:latin typeface="Times New Roman" panose="02020603050405020304" pitchFamily="18" charset="0"/>
                <a:cs typeface="Times New Roman" panose="02020603050405020304" pitchFamily="18" charset="0"/>
              </a:rPr>
              <a:t>, the project seeks to demonstrate the feasibility of using biometric data for medical diagnostics, paving the way for further integration of technology in healthcare solutions.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6178838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710619" y="0"/>
            <a:ext cx="9720072" cy="770709"/>
          </a:xfrm>
        </p:spPr>
        <p:txBody>
          <a:bodyPr>
            <a:noAutofit/>
          </a:bodyPr>
          <a:lstStyle/>
          <a:p>
            <a:pPr lvl="2">
              <a:lnSpc>
                <a:spcPct val="170000"/>
              </a:lnSpc>
            </a:pPr>
            <a:r>
              <a:rPr lang="en-US" sz="3000" u="sng" dirty="0" smtClean="0">
                <a:latin typeface="Times New Roman" panose="02020603050405020304" pitchFamily="18" charset="0"/>
                <a:cs typeface="Times New Roman" panose="02020603050405020304" pitchFamily="18" charset="0"/>
              </a:rPr>
              <a:t>Scope</a:t>
            </a:r>
          </a:p>
        </p:txBody>
      </p:sp>
      <p:sp>
        <p:nvSpPr>
          <p:cNvPr id="5" name="Rectangle 4"/>
          <p:cNvSpPr/>
          <p:nvPr/>
        </p:nvSpPr>
        <p:spPr>
          <a:xfrm>
            <a:off x="710619" y="999041"/>
            <a:ext cx="11072078" cy="4201150"/>
          </a:xfrm>
          <a:prstGeom prst="rect">
            <a:avLst/>
          </a:prstGeom>
        </p:spPr>
        <p:txBody>
          <a:bodyPr wrap="square">
            <a:spAutoFit/>
          </a:bodyPr>
          <a:lstStyle/>
          <a:p>
            <a:pPr algn="just" defTabSz="914400" eaLnBrk="0" fontAlgn="base" hangingPunct="0">
              <a:lnSpc>
                <a:spcPct val="150000"/>
              </a:lnSpc>
              <a:spcBef>
                <a:spcPct val="0"/>
              </a:spcBef>
              <a:spcAft>
                <a:spcPct val="0"/>
              </a:spcAft>
              <a:buFontTx/>
              <a:buChar char="•"/>
            </a:pPr>
            <a:r>
              <a:rPr lang="en-US" dirty="0">
                <a:latin typeface="Times New Roman" panose="02020603050405020304" pitchFamily="18" charset="0"/>
                <a:cs typeface="Times New Roman" panose="02020603050405020304" pitchFamily="18" charset="0"/>
              </a:rPr>
              <a:t>The scope of this project encompasses the development and evaluation of a fingerprint-based blood group detection system. Initially, it will focus on collecting and preprocessing a comprehensive dataset of fingerprint images associated with the eight blood groups</a:t>
            </a:r>
            <a:r>
              <a:rPr lang="en-US" dirty="0" smtClean="0">
                <a:latin typeface="Times New Roman" panose="02020603050405020304" pitchFamily="18" charset="0"/>
                <a:cs typeface="Times New Roman" panose="02020603050405020304" pitchFamily="18" charset="0"/>
              </a:rPr>
              <a:t>.</a:t>
            </a:r>
          </a:p>
          <a:p>
            <a:pPr algn="just" defTabSz="914400" eaLnBrk="0" fontAlgn="base" hangingPunct="0">
              <a:lnSpc>
                <a:spcPct val="150000"/>
              </a:lnSpc>
              <a:spcBef>
                <a:spcPct val="0"/>
              </a:spcBef>
              <a:spcAft>
                <a:spcPct val="0"/>
              </a:spcAft>
              <a:buFontTx/>
              <a:buChar char="•"/>
            </a:pP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project will explore various machine learning algorithms, comparing their effectiveness in classification accuracy and computational efficiency. </a:t>
            </a:r>
            <a:endParaRPr lang="en-US" dirty="0" smtClean="0">
              <a:latin typeface="Times New Roman" panose="02020603050405020304" pitchFamily="18" charset="0"/>
              <a:cs typeface="Times New Roman" panose="02020603050405020304" pitchFamily="18" charset="0"/>
            </a:endParaRPr>
          </a:p>
          <a:p>
            <a:pPr algn="just" defTabSz="914400" eaLnBrk="0" fontAlgn="base" hangingPunct="0">
              <a:lnSpc>
                <a:spcPct val="150000"/>
              </a:lnSpc>
              <a:spcBef>
                <a:spcPct val="0"/>
              </a:spcBef>
              <a:spcAft>
                <a:spcPct val="0"/>
              </a:spcAft>
              <a:buFontTx/>
              <a:buChar char="•"/>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system will be designed to operate in real-time, making it suitable for emergency medical situations. Future enhancements may include optimizing the algorithms for deployment on mobile devices, increasing accessibility. </a:t>
            </a:r>
            <a:endParaRPr lang="en-US" dirty="0" smtClean="0">
              <a:latin typeface="Times New Roman" panose="02020603050405020304" pitchFamily="18" charset="0"/>
              <a:cs typeface="Times New Roman" panose="02020603050405020304" pitchFamily="18" charset="0"/>
            </a:endParaRPr>
          </a:p>
          <a:p>
            <a:pPr algn="just" defTabSz="914400" eaLnBrk="0" fontAlgn="base" hangingPunct="0">
              <a:lnSpc>
                <a:spcPct val="150000"/>
              </a:lnSpc>
              <a:spcBef>
                <a:spcPct val="0"/>
              </a:spcBef>
              <a:spcAft>
                <a:spcPct val="0"/>
              </a:spcAft>
              <a:buFontTx/>
              <a:buChar char="•"/>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research also aims to contribute to the broader field of biometric identification in healthcare, highlighting the potential for innovative applications in medical diagnostics and patient care.</a:t>
            </a:r>
            <a:endParaRPr lang="en-IN" dirty="0">
              <a:latin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buFontTx/>
              <a:buChar char="•"/>
            </a:pPr>
            <a:endParaRPr lang="en-US" alt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399666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762871" y="816823"/>
            <a:ext cx="9720072" cy="770709"/>
          </a:xfrm>
        </p:spPr>
        <p:txBody>
          <a:bodyPr>
            <a:normAutofit fontScale="90000"/>
          </a:bodyPr>
          <a:lstStyle/>
          <a:p>
            <a:pPr lvl="2">
              <a:lnSpc>
                <a:spcPct val="170000"/>
              </a:lnSpc>
            </a:pPr>
            <a:r>
              <a:rPr lang="en-US" sz="3300" u="sng" dirty="0" smtClean="0">
                <a:latin typeface="Times New Roman" panose="02020603050405020304" pitchFamily="18" charset="0"/>
                <a:cs typeface="Times New Roman" panose="02020603050405020304" pitchFamily="18" charset="0"/>
              </a:rPr>
              <a:t>Significant</a:t>
            </a: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5" name="Rectangle 4"/>
          <p:cNvSpPr/>
          <p:nvPr/>
        </p:nvSpPr>
        <p:spPr>
          <a:xfrm>
            <a:off x="762871" y="1450372"/>
            <a:ext cx="11045952" cy="3831818"/>
          </a:xfrm>
          <a:prstGeom prst="rect">
            <a:avLst/>
          </a:prstGeom>
        </p:spPr>
        <p:txBody>
          <a:bodyPr wrap="square">
            <a:spAutoFit/>
          </a:bodyPr>
          <a:lstStyle/>
          <a:p>
            <a:pPr algn="just">
              <a:lnSpc>
                <a:spcPct val="150000"/>
              </a:lnSpc>
            </a:pPr>
            <a:r>
              <a:rPr lang="en-US" dirty="0" smtClean="0">
                <a:latin typeface="Times New Roman" panose="02020603050405020304" pitchFamily="18" charset="0"/>
                <a:cs typeface="Times New Roman" panose="02020603050405020304" pitchFamily="18" charset="0"/>
              </a:rPr>
              <a:t>• The </a:t>
            </a:r>
            <a:r>
              <a:rPr lang="en-US" dirty="0">
                <a:latin typeface="Times New Roman" panose="02020603050405020304" pitchFamily="18" charset="0"/>
                <a:cs typeface="Times New Roman" panose="02020603050405020304" pitchFamily="18" charset="0"/>
              </a:rPr>
              <a:t>motivation behind the "Blood Group Detection Using Fingerprint" project stems from the pressing need for efficient and non-invasive blood typing methods in medical diagnostics. </a:t>
            </a:r>
            <a:endParaRPr lang="en-US" dirty="0" smtClean="0">
              <a:latin typeface="Times New Roman" panose="02020603050405020304" pitchFamily="18" charset="0"/>
              <a:cs typeface="Times New Roman" panose="02020603050405020304" pitchFamily="18" charset="0"/>
            </a:endParaRPr>
          </a:p>
          <a:p>
            <a:pPr algn="just">
              <a:lnSpc>
                <a:spcPct val="150000"/>
              </a:lnSpc>
            </a:pPr>
            <a:r>
              <a:rPr lang="en-US" dirty="0" smtClean="0">
                <a:latin typeface="Times New Roman" panose="02020603050405020304" pitchFamily="18" charset="0"/>
                <a:cs typeface="Times New Roman" panose="02020603050405020304" pitchFamily="18" charset="0"/>
              </a:rPr>
              <a:t>• Traditional </a:t>
            </a:r>
            <a:r>
              <a:rPr lang="en-US" dirty="0">
                <a:latin typeface="Times New Roman" panose="02020603050405020304" pitchFamily="18" charset="0"/>
                <a:cs typeface="Times New Roman" panose="02020603050405020304" pitchFamily="18" charset="0"/>
              </a:rPr>
              <a:t>blood typing techniques often involve invasive procedures and can be time-consuming, especially in emergency situations. Fingerprints, being unique to every individual, present an opportunity for innovative approaches in blood group identification. </a:t>
            </a:r>
          </a:p>
          <a:p>
            <a:pPr algn="just">
              <a:lnSpc>
                <a:spcPct val="150000"/>
              </a:lnSpc>
            </a:pPr>
            <a:r>
              <a:rPr lang="en-US" dirty="0" smtClean="0">
                <a:latin typeface="Times New Roman" panose="02020603050405020304" pitchFamily="18" charset="0"/>
                <a:cs typeface="Times New Roman" panose="02020603050405020304" pitchFamily="18" charset="0"/>
              </a:rPr>
              <a:t>• By </a:t>
            </a:r>
            <a:r>
              <a:rPr lang="en-US" dirty="0">
                <a:latin typeface="Times New Roman" panose="02020603050405020304" pitchFamily="18" charset="0"/>
                <a:cs typeface="Times New Roman" panose="02020603050405020304" pitchFamily="18" charset="0"/>
              </a:rPr>
              <a:t>utilizing advanced machine learning algorithms, this project aims to streamline the process, ensuring faster and more accurate results</a:t>
            </a:r>
            <a:r>
              <a:rPr lang="en-US" dirty="0" smtClean="0">
                <a:latin typeface="Times New Roman" panose="02020603050405020304" pitchFamily="18" charset="0"/>
                <a:cs typeface="Times New Roman" panose="02020603050405020304" pitchFamily="18" charset="0"/>
              </a:rPr>
              <a:t>.</a:t>
            </a:r>
          </a:p>
          <a:p>
            <a:pPr algn="just">
              <a:lnSpc>
                <a:spcPct val="150000"/>
              </a:lnSpc>
            </a:pPr>
            <a:r>
              <a:rPr lang="en-US" dirty="0" smtClean="0">
                <a:latin typeface="Times New Roman" panose="02020603050405020304" pitchFamily="18" charset="0"/>
                <a:cs typeface="Times New Roman" panose="02020603050405020304" pitchFamily="18" charset="0"/>
              </a:rPr>
              <a:t>• Additionally</a:t>
            </a:r>
            <a:r>
              <a:rPr lang="en-US" dirty="0">
                <a:latin typeface="Times New Roman" panose="02020603050405020304" pitchFamily="18" charset="0"/>
                <a:cs typeface="Times New Roman" panose="02020603050405020304" pitchFamily="18" charset="0"/>
              </a:rPr>
              <a:t>, integrating biometric identification into healthcare can enhance patient care, reduce human error, and open new avenues for research in medical technology, ultimately improving healthcare accessibility and efficiency.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639475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766628" y="1567569"/>
            <a:ext cx="10267404" cy="793567"/>
          </a:xfrm>
        </p:spPr>
        <p:txBody>
          <a:bodyPr>
            <a:normAutofit fontScale="90000"/>
          </a:bodyPr>
          <a:lstStyle/>
          <a:p>
            <a:pPr lvl="2">
              <a:lnSpc>
                <a:spcPct val="170000"/>
              </a:lnSpc>
            </a:pPr>
            <a:r>
              <a:rPr lang="en-US" sz="3300" dirty="0" smtClean="0">
                <a:latin typeface="Times New Roman" panose="02020603050405020304" pitchFamily="18" charset="0"/>
                <a:cs typeface="Times New Roman" panose="02020603050405020304" pitchFamily="18" charset="0"/>
              </a:rPr>
              <a:t>Existing System</a:t>
            </a: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3" name="Rectangle 2"/>
          <p:cNvSpPr/>
          <p:nvPr/>
        </p:nvSpPr>
        <p:spPr>
          <a:xfrm>
            <a:off x="636000" y="1964352"/>
            <a:ext cx="11212011" cy="3741409"/>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existing system primarily utilizes Convolutional Neural Networks (CNNs) for blood group detection based on fingerprint analysis. CNNs are particularly effective for image classification tasks due to their ability to automatically extract and learn hierarchical features from images. </a:t>
            </a:r>
            <a:endParaRPr lang="en-US" dirty="0" smtClean="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In </a:t>
            </a:r>
            <a:r>
              <a:rPr lang="en-US" dirty="0">
                <a:latin typeface="Times New Roman" panose="02020603050405020304" pitchFamily="18" charset="0"/>
                <a:cs typeface="Times New Roman" panose="02020603050405020304" pitchFamily="18" charset="0"/>
              </a:rPr>
              <a:t>this context, CNNs analyze the intricate patterns of fingerprints and classify them into distinct blood groups. While CNNs have achieved significant success in various applications, they often require large amounts of labeled training data and extensive computational resources</a:t>
            </a:r>
            <a:r>
              <a:rPr lang="en-US" dirty="0" smtClean="0">
                <a:latin typeface="Times New Roman" panose="02020603050405020304" pitchFamily="18" charset="0"/>
                <a:cs typeface="Times New Roman" panose="02020603050405020304" pitchFamily="18" charset="0"/>
              </a:rPr>
              <a:t>.</a:t>
            </a:r>
          </a:p>
          <a:p>
            <a:pPr marL="285750" indent="-285750" algn="just">
              <a:lnSpc>
                <a:spcPct val="150000"/>
              </a:lnSpc>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Additionally, their performance can be affected by variations in lighting, orientation, and fingerprint quality, which may lead to inaccuracies in classification.</a:t>
            </a:r>
            <a:endParaRPr lang="en-IN"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881587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975634" y="1022168"/>
            <a:ext cx="10267404" cy="793567"/>
          </a:xfrm>
        </p:spPr>
        <p:txBody>
          <a:bodyPr>
            <a:normAutofit fontScale="90000"/>
          </a:bodyPr>
          <a:lstStyle/>
          <a:p>
            <a:pPr lvl="2">
              <a:lnSpc>
                <a:spcPct val="170000"/>
              </a:lnSpc>
            </a:pPr>
            <a:r>
              <a:rPr lang="en-US" sz="3300" dirty="0" smtClean="0">
                <a:latin typeface="Times New Roman" panose="02020603050405020304" pitchFamily="18" charset="0"/>
                <a:cs typeface="Times New Roman" panose="02020603050405020304" pitchFamily="18" charset="0"/>
              </a:rPr>
              <a:t>Disadvantages</a:t>
            </a: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5" name="Rectangle 4"/>
          <p:cNvSpPr/>
          <p:nvPr/>
        </p:nvSpPr>
        <p:spPr>
          <a:xfrm>
            <a:off x="975634" y="1418951"/>
            <a:ext cx="10950755" cy="2951064"/>
          </a:xfrm>
          <a:prstGeom prst="rect">
            <a:avLst/>
          </a:prstGeom>
        </p:spPr>
        <p:txBody>
          <a:bodyPr wrap="square">
            <a:spAutoFit/>
          </a:bodyPr>
          <a:lstStyle/>
          <a:p>
            <a:pPr algn="just">
              <a:lnSpc>
                <a:spcPct val="150000"/>
              </a:lnSpc>
            </a:pPr>
            <a:r>
              <a:rPr lang="en-IN" b="1" dirty="0">
                <a:latin typeface="Times New Roman" panose="02020603050405020304" pitchFamily="18" charset="0"/>
                <a:cs typeface="Times New Roman" panose="02020603050405020304" pitchFamily="18" charset="0"/>
              </a:rPr>
              <a:t>High Computational Cost</a:t>
            </a:r>
            <a:r>
              <a:rPr lang="en-IN" dirty="0">
                <a:latin typeface="Times New Roman" panose="02020603050405020304" pitchFamily="18" charset="0"/>
                <a:cs typeface="Times New Roman" panose="02020603050405020304" pitchFamily="18" charset="0"/>
              </a:rPr>
              <a:t>: CNNs require substantial processing power, making them less feasible for real-time applications.</a:t>
            </a:r>
          </a:p>
          <a:p>
            <a:pPr algn="just">
              <a:lnSpc>
                <a:spcPct val="150000"/>
              </a:lnSpc>
            </a:pPr>
            <a:r>
              <a:rPr lang="en-IN" b="1" dirty="0">
                <a:latin typeface="Times New Roman" panose="02020603050405020304" pitchFamily="18" charset="0"/>
                <a:cs typeface="Times New Roman" panose="02020603050405020304" pitchFamily="18" charset="0"/>
              </a:rPr>
              <a:t>Data Requirement</a:t>
            </a:r>
            <a:r>
              <a:rPr lang="en-IN" dirty="0">
                <a:latin typeface="Times New Roman" panose="02020603050405020304" pitchFamily="18" charset="0"/>
                <a:cs typeface="Times New Roman" panose="02020603050405020304" pitchFamily="18" charset="0"/>
              </a:rPr>
              <a:t>: They need large </a:t>
            </a:r>
            <a:r>
              <a:rPr lang="en-IN" dirty="0" err="1">
                <a:latin typeface="Times New Roman" panose="02020603050405020304" pitchFamily="18" charset="0"/>
                <a:cs typeface="Times New Roman" panose="02020603050405020304" pitchFamily="18" charset="0"/>
              </a:rPr>
              <a:t>labeled</a:t>
            </a:r>
            <a:r>
              <a:rPr lang="en-IN" dirty="0">
                <a:latin typeface="Times New Roman" panose="02020603050405020304" pitchFamily="18" charset="0"/>
                <a:cs typeface="Times New Roman" panose="02020603050405020304" pitchFamily="18" charset="0"/>
              </a:rPr>
              <a:t> datasets for effective training, which may not always be available.</a:t>
            </a:r>
          </a:p>
          <a:p>
            <a:pPr algn="just">
              <a:lnSpc>
                <a:spcPct val="150000"/>
              </a:lnSpc>
            </a:pPr>
            <a:r>
              <a:rPr lang="en-IN" b="1" dirty="0">
                <a:latin typeface="Times New Roman" panose="02020603050405020304" pitchFamily="18" charset="0"/>
                <a:cs typeface="Times New Roman" panose="02020603050405020304" pitchFamily="18" charset="0"/>
              </a:rPr>
              <a:t>Overfitting</a:t>
            </a:r>
            <a:r>
              <a:rPr lang="en-IN" dirty="0">
                <a:latin typeface="Times New Roman" panose="02020603050405020304" pitchFamily="18" charset="0"/>
                <a:cs typeface="Times New Roman" panose="02020603050405020304" pitchFamily="18" charset="0"/>
              </a:rPr>
              <a:t>: CNNs can </a:t>
            </a:r>
            <a:r>
              <a:rPr lang="en-IN" dirty="0" err="1">
                <a:latin typeface="Times New Roman" panose="02020603050405020304" pitchFamily="18" charset="0"/>
                <a:cs typeface="Times New Roman" panose="02020603050405020304" pitchFamily="18" charset="0"/>
              </a:rPr>
              <a:t>overfit</a:t>
            </a:r>
            <a:r>
              <a:rPr lang="en-IN" dirty="0">
                <a:latin typeface="Times New Roman" panose="02020603050405020304" pitchFamily="18" charset="0"/>
                <a:cs typeface="Times New Roman" panose="02020603050405020304" pitchFamily="18" charset="0"/>
              </a:rPr>
              <a:t> to training data, leading to poor generalization on unseen samples.</a:t>
            </a:r>
          </a:p>
          <a:p>
            <a:pPr algn="just">
              <a:lnSpc>
                <a:spcPct val="150000"/>
              </a:lnSpc>
            </a:pPr>
            <a:r>
              <a:rPr lang="en-IN" b="1" dirty="0">
                <a:latin typeface="Times New Roman" panose="02020603050405020304" pitchFamily="18" charset="0"/>
                <a:cs typeface="Times New Roman" panose="02020603050405020304" pitchFamily="18" charset="0"/>
              </a:rPr>
              <a:t>Sensitivity to Variations</a:t>
            </a:r>
            <a:r>
              <a:rPr lang="en-IN" dirty="0">
                <a:latin typeface="Times New Roman" panose="02020603050405020304" pitchFamily="18" charset="0"/>
                <a:cs typeface="Times New Roman" panose="02020603050405020304" pitchFamily="18" charset="0"/>
              </a:rPr>
              <a:t>: Performance can degrade with variations in fingerprint quality, such as smudging or dirt.</a:t>
            </a:r>
          </a:p>
          <a:p>
            <a:pPr algn="just">
              <a:lnSpc>
                <a:spcPct val="150000"/>
              </a:lnSpc>
            </a:pPr>
            <a:r>
              <a:rPr lang="en-IN" b="1" dirty="0">
                <a:latin typeface="Times New Roman" panose="02020603050405020304" pitchFamily="18" charset="0"/>
                <a:cs typeface="Times New Roman" panose="02020603050405020304" pitchFamily="18" charset="0"/>
              </a:rPr>
              <a:t>Limited Interpretability</a:t>
            </a:r>
            <a:r>
              <a:rPr lang="en-IN" dirty="0">
                <a:latin typeface="Times New Roman" panose="02020603050405020304" pitchFamily="18" charset="0"/>
                <a:cs typeface="Times New Roman" panose="02020603050405020304" pitchFamily="18" charset="0"/>
              </a:rPr>
              <a:t>: CNNs are often viewed as "black boxes," making it difficult to understand the decision-making process.</a:t>
            </a:r>
          </a:p>
        </p:txBody>
      </p:sp>
    </p:spTree>
    <p:extLst>
      <p:ext uri="{BB962C8B-B14F-4D97-AF65-F5344CB8AC3E}">
        <p14:creationId xmlns:p14="http://schemas.microsoft.com/office/powerpoint/2010/main" val="410926738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723682" y="0"/>
            <a:ext cx="9720072" cy="770709"/>
          </a:xfrm>
        </p:spPr>
        <p:txBody>
          <a:bodyPr>
            <a:normAutofit fontScale="90000"/>
          </a:bodyPr>
          <a:lstStyle/>
          <a:p>
            <a:pPr lvl="2">
              <a:lnSpc>
                <a:spcPct val="170000"/>
              </a:lnSpc>
            </a:pPr>
            <a:r>
              <a:rPr lang="en-US" sz="3000" u="sng" dirty="0" smtClean="0">
                <a:latin typeface="Times New Roman" panose="02020603050405020304" pitchFamily="18" charset="0"/>
                <a:cs typeface="Times New Roman" panose="02020603050405020304" pitchFamily="18" charset="0"/>
              </a:rPr>
              <a:t>Proposed System</a:t>
            </a:r>
          </a:p>
        </p:txBody>
      </p:sp>
      <p:sp>
        <p:nvSpPr>
          <p:cNvPr id="3" name="Rectangle 2"/>
          <p:cNvSpPr/>
          <p:nvPr/>
        </p:nvSpPr>
        <p:spPr>
          <a:xfrm>
            <a:off x="1167820" y="1425421"/>
            <a:ext cx="9517597" cy="458074"/>
          </a:xfrm>
          <a:prstGeom prst="rect">
            <a:avLst/>
          </a:prstGeom>
        </p:spPr>
        <p:txBody>
          <a:bodyPr wrap="square">
            <a:spAutoFit/>
          </a:bodyPr>
          <a:lstStyle/>
          <a:p>
            <a:pPr marL="285750" indent="-285750" algn="just">
              <a:lnSpc>
                <a:spcPct val="150000"/>
              </a:lnSpc>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
        <p:nvSpPr>
          <p:cNvPr id="5" name="Rectangle 4"/>
          <p:cNvSpPr/>
          <p:nvPr/>
        </p:nvSpPr>
        <p:spPr>
          <a:xfrm>
            <a:off x="632242" y="1240972"/>
            <a:ext cx="11421290" cy="2535566"/>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proposed system enhances blood group detection by leveraging MobileNet, </a:t>
            </a:r>
            <a:r>
              <a:rPr lang="en-US" dirty="0" err="1">
                <a:latin typeface="Times New Roman" panose="02020603050405020304" pitchFamily="18" charset="0"/>
                <a:cs typeface="Times New Roman" panose="02020603050405020304" pitchFamily="18" charset="0"/>
              </a:rPr>
              <a:t>ResNet</a:t>
            </a:r>
            <a:r>
              <a:rPr lang="en-US" dirty="0">
                <a:latin typeface="Times New Roman" panose="02020603050405020304" pitchFamily="18" charset="0"/>
                <a:cs typeface="Times New Roman" panose="02020603050405020304" pitchFamily="18" charset="0"/>
              </a:rPr>
              <a:t> combined with RNN, and Vision Transformers. MobileNet provides efficient models optimized for mobile and edge devices, balancing performance with resource constraints. </a:t>
            </a:r>
            <a:r>
              <a:rPr lang="en-US" dirty="0" err="1">
                <a:latin typeface="Times New Roman" panose="02020603050405020304" pitchFamily="18" charset="0"/>
                <a:cs typeface="Times New Roman" panose="02020603050405020304" pitchFamily="18" charset="0"/>
              </a:rPr>
              <a:t>ResNet</a:t>
            </a:r>
            <a:r>
              <a:rPr lang="en-US" dirty="0">
                <a:latin typeface="Times New Roman" panose="02020603050405020304" pitchFamily="18" charset="0"/>
                <a:cs typeface="Times New Roman" panose="02020603050405020304" pitchFamily="18" charset="0"/>
              </a:rPr>
              <a:t>, with its residual connections, helps in training deeper networks without suffering from vanishing gradient issues. Combining it with RNNs allows the model to capture temporal dependencies, particularly useful in analyzing sequential fingerprint data. Vision Transformers, on the other hand, utilize attention mechanisms to improve feature extraction and capture long-range dependencies in images, enhancing classification accuracy.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047024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762870" y="120832"/>
            <a:ext cx="9720072" cy="770709"/>
          </a:xfrm>
        </p:spPr>
        <p:txBody>
          <a:bodyPr>
            <a:normAutofit fontScale="90000"/>
          </a:bodyPr>
          <a:lstStyle/>
          <a:p>
            <a:pPr lvl="2">
              <a:lnSpc>
                <a:spcPct val="170000"/>
              </a:lnSpc>
            </a:pPr>
            <a:r>
              <a:rPr lang="en-US" sz="3000" u="sng" dirty="0" smtClean="0">
                <a:latin typeface="Times New Roman" panose="02020603050405020304" pitchFamily="18" charset="0"/>
                <a:cs typeface="Times New Roman" panose="02020603050405020304" pitchFamily="18" charset="0"/>
              </a:rPr>
              <a:t>Proposed System Advantages</a:t>
            </a:r>
          </a:p>
        </p:txBody>
      </p:sp>
      <p:sp>
        <p:nvSpPr>
          <p:cNvPr id="3" name="Rectangle 2"/>
          <p:cNvSpPr/>
          <p:nvPr/>
        </p:nvSpPr>
        <p:spPr>
          <a:xfrm>
            <a:off x="762870" y="1400992"/>
            <a:ext cx="11241895" cy="4197559"/>
          </a:xfrm>
          <a:prstGeom prst="rect">
            <a:avLst/>
          </a:prstGeom>
        </p:spPr>
        <p:txBody>
          <a:bodyPr wrap="square">
            <a:spAutoFit/>
          </a:bodyPr>
          <a:lstStyle/>
          <a:p>
            <a:pPr algn="just">
              <a:lnSpc>
                <a:spcPct val="150000"/>
              </a:lnSpc>
            </a:pPr>
            <a:r>
              <a:rPr lang="en-IN" b="1" dirty="0">
                <a:latin typeface="Times New Roman" panose="02020603050405020304" pitchFamily="18" charset="0"/>
                <a:cs typeface="Times New Roman" panose="02020603050405020304" pitchFamily="18" charset="0"/>
              </a:rPr>
              <a:t>Improved Efficiency</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MobileNet</a:t>
            </a:r>
            <a:r>
              <a:rPr lang="en-IN" dirty="0">
                <a:latin typeface="Times New Roman" panose="02020603050405020304" pitchFamily="18" charset="0"/>
                <a:cs typeface="Times New Roman" panose="02020603050405020304" pitchFamily="18" charset="0"/>
              </a:rPr>
              <a:t> enables lightweight models, making them suitable for real-time applications on resource-constrained devices.</a:t>
            </a:r>
          </a:p>
          <a:p>
            <a:pPr algn="just">
              <a:lnSpc>
                <a:spcPct val="150000"/>
              </a:lnSpc>
            </a:pPr>
            <a:r>
              <a:rPr lang="en-IN" b="1" dirty="0">
                <a:latin typeface="Times New Roman" panose="02020603050405020304" pitchFamily="18" charset="0"/>
                <a:cs typeface="Times New Roman" panose="02020603050405020304" pitchFamily="18" charset="0"/>
              </a:rPr>
              <a:t>Higher Accuracy</a:t>
            </a:r>
            <a:r>
              <a:rPr lang="en-IN" dirty="0">
                <a:latin typeface="Times New Roman" panose="02020603050405020304" pitchFamily="18" charset="0"/>
                <a:cs typeface="Times New Roman" panose="02020603050405020304" pitchFamily="18" charset="0"/>
              </a:rPr>
              <a:t>: The combination of </a:t>
            </a:r>
            <a:r>
              <a:rPr lang="en-IN" dirty="0" err="1">
                <a:latin typeface="Times New Roman" panose="02020603050405020304" pitchFamily="18" charset="0"/>
                <a:cs typeface="Times New Roman" panose="02020603050405020304" pitchFamily="18" charset="0"/>
              </a:rPr>
              <a:t>ResNet</a:t>
            </a:r>
            <a:r>
              <a:rPr lang="en-IN" dirty="0">
                <a:latin typeface="Times New Roman" panose="02020603050405020304" pitchFamily="18" charset="0"/>
                <a:cs typeface="Times New Roman" panose="02020603050405020304" pitchFamily="18" charset="0"/>
              </a:rPr>
              <a:t> and RNN allows for better handling of complex patterns and sequences in fingerprint data.</a:t>
            </a:r>
          </a:p>
          <a:p>
            <a:pPr algn="just">
              <a:lnSpc>
                <a:spcPct val="150000"/>
              </a:lnSpc>
            </a:pPr>
            <a:r>
              <a:rPr lang="en-IN" b="1" dirty="0">
                <a:latin typeface="Times New Roman" panose="02020603050405020304" pitchFamily="18" charset="0"/>
                <a:cs typeface="Times New Roman" panose="02020603050405020304" pitchFamily="18" charset="0"/>
              </a:rPr>
              <a:t>Robustness to Variations</a:t>
            </a:r>
            <a:r>
              <a:rPr lang="en-IN" dirty="0">
                <a:latin typeface="Times New Roman" panose="02020603050405020304" pitchFamily="18" charset="0"/>
                <a:cs typeface="Times New Roman" panose="02020603050405020304" pitchFamily="18" charset="0"/>
              </a:rPr>
              <a:t>: Vision Transformers provide enhanced performance by addressing variations in fingerprint quality and orientation.</a:t>
            </a:r>
          </a:p>
          <a:p>
            <a:pPr algn="just">
              <a:lnSpc>
                <a:spcPct val="150000"/>
              </a:lnSpc>
            </a:pPr>
            <a:r>
              <a:rPr lang="en-IN" b="1" dirty="0">
                <a:latin typeface="Times New Roman" panose="02020603050405020304" pitchFamily="18" charset="0"/>
                <a:cs typeface="Times New Roman" panose="02020603050405020304" pitchFamily="18" charset="0"/>
              </a:rPr>
              <a:t>Scalability</a:t>
            </a:r>
            <a:r>
              <a:rPr lang="en-IN" dirty="0">
                <a:latin typeface="Times New Roman" panose="02020603050405020304" pitchFamily="18" charset="0"/>
                <a:cs typeface="Times New Roman" panose="02020603050405020304" pitchFamily="18" charset="0"/>
              </a:rPr>
              <a:t>: The architecture can be scaled easily, adapting to larger datasets and more complex tasks without extensive modifications.</a:t>
            </a:r>
          </a:p>
          <a:p>
            <a:pPr algn="just">
              <a:lnSpc>
                <a:spcPct val="150000"/>
              </a:lnSpc>
            </a:pPr>
            <a:r>
              <a:rPr lang="en-IN" b="1" dirty="0">
                <a:latin typeface="Times New Roman" panose="02020603050405020304" pitchFamily="18" charset="0"/>
                <a:cs typeface="Times New Roman" panose="02020603050405020304" pitchFamily="18" charset="0"/>
              </a:rPr>
              <a:t>Interpretability</a:t>
            </a:r>
            <a:r>
              <a:rPr lang="en-IN" dirty="0">
                <a:latin typeface="Times New Roman" panose="02020603050405020304" pitchFamily="18" charset="0"/>
                <a:cs typeface="Times New Roman" panose="02020603050405020304" pitchFamily="18" charset="0"/>
              </a:rPr>
              <a:t>: With attention mechanisms, Vision Transformers offer more insights into feature importance, making the decision process more transparent.</a:t>
            </a:r>
          </a:p>
        </p:txBody>
      </p:sp>
    </p:spTree>
    <p:extLst>
      <p:ext uri="{BB962C8B-B14F-4D97-AF65-F5344CB8AC3E}">
        <p14:creationId xmlns:p14="http://schemas.microsoft.com/office/powerpoint/2010/main" val="11622876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815122" y="173083"/>
            <a:ext cx="9720072" cy="770709"/>
          </a:xfrm>
        </p:spPr>
        <p:txBody>
          <a:bodyPr>
            <a:normAutofit fontScale="90000"/>
          </a:bodyPr>
          <a:lstStyle/>
          <a:p>
            <a:pPr lvl="2">
              <a:lnSpc>
                <a:spcPct val="170000"/>
              </a:lnSpc>
            </a:pPr>
            <a:r>
              <a:rPr lang="en-US" sz="3000" u="sng" dirty="0" smtClean="0">
                <a:latin typeface="Times New Roman" panose="02020603050405020304" pitchFamily="18" charset="0"/>
                <a:cs typeface="Times New Roman" panose="02020603050405020304" pitchFamily="18" charset="0"/>
              </a:rPr>
              <a:t>Architecture</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graphicFrame>
        <p:nvGraphicFramePr>
          <p:cNvPr id="6" name="Diagram 5"/>
          <p:cNvGraphicFramePr/>
          <p:nvPr>
            <p:extLst>
              <p:ext uri="{D42A27DB-BD31-4B8C-83A1-F6EECF244321}">
                <p14:modId xmlns:p14="http://schemas.microsoft.com/office/powerpoint/2010/main" val="2202014037"/>
              </p:ext>
            </p:extLst>
          </p:nvPr>
        </p:nvGraphicFramePr>
        <p:xfrm>
          <a:off x="3200400" y="895350"/>
          <a:ext cx="6061166" cy="54401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2660490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762871" y="760912"/>
            <a:ext cx="9720072" cy="770709"/>
          </a:xfrm>
        </p:spPr>
        <p:txBody>
          <a:bodyPr>
            <a:normAutofit fontScale="90000"/>
          </a:bodyPr>
          <a:lstStyle/>
          <a:p>
            <a:pPr lvl="2">
              <a:lnSpc>
                <a:spcPct val="170000"/>
              </a:lnSpc>
            </a:pPr>
            <a:r>
              <a:rPr lang="en-US" sz="3000" u="sng" dirty="0" smtClean="0">
                <a:latin typeface="Times New Roman" panose="02020603050405020304" pitchFamily="18" charset="0"/>
                <a:cs typeface="Times New Roman" panose="02020603050405020304" pitchFamily="18" charset="0"/>
              </a:rPr>
              <a:t>Resource Requirements</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3" name="Rectangle 2"/>
          <p:cNvSpPr/>
          <p:nvPr/>
        </p:nvSpPr>
        <p:spPr>
          <a:xfrm>
            <a:off x="396240" y="2256417"/>
            <a:ext cx="6096000" cy="3416320"/>
          </a:xfrm>
          <a:prstGeom prst="rect">
            <a:avLst/>
          </a:prstGeom>
        </p:spPr>
        <p:txBody>
          <a:bodyPr>
            <a:spAutoFit/>
          </a:bodyPr>
          <a:lstStyle/>
          <a:p>
            <a:pPr marL="342900" lvl="0" indent="-342900" algn="just">
              <a:lnSpc>
                <a:spcPct val="150000"/>
              </a:lnSpc>
              <a:spcAft>
                <a:spcPts val="0"/>
              </a:spcAft>
              <a:buFont typeface="Arial" panose="020B0604020202020204" pitchFamily="34" charset="0"/>
              <a:buChar char="•"/>
              <a:tabLst>
                <a:tab pos="457200" algn="l"/>
              </a:tabLst>
            </a:pPr>
            <a:r>
              <a:rPr lang="en-US" dirty="0">
                <a:solidFill>
                  <a:srgbClr val="000000"/>
                </a:solidFill>
                <a:latin typeface="Times New Roman" panose="02020603050405020304" pitchFamily="18" charset="0"/>
                <a:ea typeface="Times New Roman" panose="02020603050405020304" pitchFamily="18" charset="0"/>
              </a:rPr>
              <a:t>Operating System		:  Windows 7/8/10</a:t>
            </a:r>
            <a:endParaRPr lang="en-IN" sz="1600" dirty="0">
              <a:latin typeface="Times New Roman" panose="02020603050405020304" pitchFamily="18" charset="0"/>
              <a:ea typeface="Times New Roman" panose="02020603050405020304" pitchFamily="18" charset="0"/>
            </a:endParaRPr>
          </a:p>
          <a:p>
            <a:pPr marL="342900" lvl="0" indent="-342900" algn="just">
              <a:lnSpc>
                <a:spcPct val="150000"/>
              </a:lnSpc>
              <a:spcAft>
                <a:spcPts val="0"/>
              </a:spcAft>
              <a:buFont typeface="Arial" panose="020B0604020202020204" pitchFamily="34" charset="0"/>
              <a:buChar char="•"/>
              <a:tabLst>
                <a:tab pos="457200" algn="l"/>
              </a:tabLst>
            </a:pPr>
            <a:r>
              <a:rPr lang="en-US" dirty="0">
                <a:solidFill>
                  <a:srgbClr val="000000"/>
                </a:solidFill>
                <a:latin typeface="Times New Roman" panose="02020603050405020304" pitchFamily="18" charset="0"/>
                <a:ea typeface="Times New Roman" panose="02020603050405020304" pitchFamily="18" charset="0"/>
              </a:rPr>
              <a:t>Server side Script		:  HTML, CSS, Bootstrap &amp; JS</a:t>
            </a:r>
            <a:endParaRPr lang="en-IN" sz="1600" dirty="0">
              <a:latin typeface="Times New Roman" panose="02020603050405020304" pitchFamily="18" charset="0"/>
              <a:ea typeface="Times New Roman" panose="02020603050405020304" pitchFamily="18" charset="0"/>
            </a:endParaRPr>
          </a:p>
          <a:p>
            <a:pPr marL="342900" lvl="0" indent="-342900" algn="just">
              <a:lnSpc>
                <a:spcPct val="150000"/>
              </a:lnSpc>
              <a:spcAft>
                <a:spcPts val="0"/>
              </a:spcAft>
              <a:buFont typeface="Arial" panose="020B0604020202020204" pitchFamily="34" charset="0"/>
              <a:buChar char="•"/>
              <a:tabLst>
                <a:tab pos="457200" algn="l"/>
              </a:tabLst>
            </a:pPr>
            <a:r>
              <a:rPr lang="en-US" dirty="0">
                <a:solidFill>
                  <a:srgbClr val="000000"/>
                </a:solidFill>
                <a:latin typeface="Times New Roman" panose="02020603050405020304" pitchFamily="18" charset="0"/>
                <a:ea typeface="Times New Roman" panose="02020603050405020304" pitchFamily="18" charset="0"/>
              </a:rPr>
              <a:t>Programming Language	:  Python</a:t>
            </a:r>
            <a:endParaRPr lang="en-IN" sz="1600" dirty="0">
              <a:latin typeface="Times New Roman" panose="02020603050405020304" pitchFamily="18" charset="0"/>
              <a:ea typeface="Times New Roman" panose="02020603050405020304" pitchFamily="18" charset="0"/>
            </a:endParaRPr>
          </a:p>
          <a:p>
            <a:pPr marL="342900" lvl="0" indent="-342900" algn="just">
              <a:lnSpc>
                <a:spcPct val="150000"/>
              </a:lnSpc>
              <a:spcAft>
                <a:spcPts val="0"/>
              </a:spcAft>
              <a:buFont typeface="Arial" panose="020B0604020202020204" pitchFamily="34" charset="0"/>
              <a:buChar char="•"/>
              <a:tabLst>
                <a:tab pos="457200" algn="l"/>
              </a:tabLst>
            </a:pPr>
            <a:r>
              <a:rPr lang="en-US" dirty="0">
                <a:solidFill>
                  <a:srgbClr val="000000"/>
                </a:solidFill>
                <a:latin typeface="Times New Roman" panose="02020603050405020304" pitchFamily="18" charset="0"/>
                <a:ea typeface="Times New Roman" panose="02020603050405020304" pitchFamily="18" charset="0"/>
              </a:rPr>
              <a:t>Libraries			:  Flask, Pandas, MySQL. Connector, Tensor flow, </a:t>
            </a:r>
            <a:r>
              <a:rPr lang="en-US" dirty="0" err="1">
                <a:solidFill>
                  <a:srgbClr val="000000"/>
                </a:solidFill>
                <a:latin typeface="Times New Roman" panose="02020603050405020304" pitchFamily="18" charset="0"/>
                <a:ea typeface="Times New Roman" panose="02020603050405020304" pitchFamily="18" charset="0"/>
              </a:rPr>
              <a:t>Keras</a:t>
            </a:r>
            <a:endParaRPr lang="en-IN" sz="1600" dirty="0">
              <a:latin typeface="Times New Roman" panose="02020603050405020304" pitchFamily="18" charset="0"/>
              <a:ea typeface="Times New Roman" panose="02020603050405020304" pitchFamily="18" charset="0"/>
            </a:endParaRPr>
          </a:p>
          <a:p>
            <a:pPr marL="342900" lvl="0" indent="-342900" algn="just">
              <a:lnSpc>
                <a:spcPct val="150000"/>
              </a:lnSpc>
              <a:spcAft>
                <a:spcPts val="0"/>
              </a:spcAft>
              <a:buFont typeface="Arial" panose="020B0604020202020204" pitchFamily="34" charset="0"/>
              <a:buChar char="•"/>
              <a:tabLst>
                <a:tab pos="457200" algn="l"/>
              </a:tabLst>
            </a:pPr>
            <a:r>
              <a:rPr lang="en-US" dirty="0">
                <a:solidFill>
                  <a:srgbClr val="000000"/>
                </a:solidFill>
                <a:latin typeface="Times New Roman" panose="02020603050405020304" pitchFamily="18" charset="0"/>
                <a:ea typeface="Times New Roman" panose="02020603050405020304" pitchFamily="18" charset="0"/>
              </a:rPr>
              <a:t>IDE/Workbench		:  VS Code</a:t>
            </a:r>
            <a:endParaRPr lang="en-IN" sz="1600" dirty="0">
              <a:latin typeface="Times New Roman" panose="02020603050405020304" pitchFamily="18" charset="0"/>
              <a:ea typeface="Times New Roman" panose="02020603050405020304" pitchFamily="18" charset="0"/>
            </a:endParaRPr>
          </a:p>
          <a:p>
            <a:pPr marL="342900" lvl="0" indent="-342900" algn="just">
              <a:lnSpc>
                <a:spcPct val="150000"/>
              </a:lnSpc>
              <a:spcAft>
                <a:spcPts val="0"/>
              </a:spcAft>
              <a:buFont typeface="Arial" panose="020B0604020202020204" pitchFamily="34" charset="0"/>
              <a:buChar char="•"/>
              <a:tabLst>
                <a:tab pos="457200" algn="l"/>
              </a:tabLst>
            </a:pPr>
            <a:r>
              <a:rPr lang="en-US" dirty="0">
                <a:solidFill>
                  <a:srgbClr val="000000"/>
                </a:solidFill>
                <a:latin typeface="Times New Roman" panose="02020603050405020304" pitchFamily="18" charset="0"/>
                <a:ea typeface="Times New Roman" panose="02020603050405020304" pitchFamily="18" charset="0"/>
              </a:rPr>
              <a:t>Technology			:  Python 3.8+</a:t>
            </a:r>
            <a:endParaRPr lang="en-IN" sz="1600" dirty="0">
              <a:latin typeface="Times New Roman" panose="02020603050405020304" pitchFamily="18" charset="0"/>
              <a:ea typeface="Times New Roman" panose="02020603050405020304" pitchFamily="18" charset="0"/>
            </a:endParaRPr>
          </a:p>
          <a:p>
            <a:pPr marL="342900" lvl="0" indent="-342900" algn="just">
              <a:lnSpc>
                <a:spcPct val="150000"/>
              </a:lnSpc>
              <a:spcAft>
                <a:spcPts val="0"/>
              </a:spcAft>
              <a:buFont typeface="Arial" panose="020B0604020202020204" pitchFamily="34" charset="0"/>
              <a:buChar char="•"/>
              <a:tabLst>
                <a:tab pos="457200" algn="l"/>
              </a:tabLst>
            </a:pPr>
            <a:r>
              <a:rPr lang="en-US" dirty="0">
                <a:solidFill>
                  <a:srgbClr val="000000"/>
                </a:solidFill>
                <a:latin typeface="Times New Roman" panose="02020603050405020304" pitchFamily="18" charset="0"/>
                <a:ea typeface="Times New Roman" panose="02020603050405020304" pitchFamily="18" charset="0"/>
              </a:rPr>
              <a:t>Server Deployment		:  </a:t>
            </a:r>
            <a:r>
              <a:rPr lang="en-US" dirty="0" err="1">
                <a:solidFill>
                  <a:srgbClr val="000000"/>
                </a:solidFill>
                <a:latin typeface="Times New Roman" panose="02020603050405020304" pitchFamily="18" charset="0"/>
                <a:ea typeface="Times New Roman" panose="02020603050405020304" pitchFamily="18" charset="0"/>
              </a:rPr>
              <a:t>Xampp</a:t>
            </a:r>
            <a:r>
              <a:rPr lang="en-US" dirty="0">
                <a:solidFill>
                  <a:srgbClr val="000000"/>
                </a:solidFill>
                <a:latin typeface="Times New Roman" panose="02020603050405020304" pitchFamily="18" charset="0"/>
                <a:ea typeface="Times New Roman" panose="02020603050405020304" pitchFamily="18" charset="0"/>
              </a:rPr>
              <a:t> Server</a:t>
            </a:r>
            <a:endParaRPr lang="en-IN" sz="1600" dirty="0">
              <a:latin typeface="Times New Roman" panose="02020603050405020304" pitchFamily="18" charset="0"/>
              <a:ea typeface="Times New Roman" panose="02020603050405020304" pitchFamily="18" charset="0"/>
            </a:endParaRPr>
          </a:p>
        </p:txBody>
      </p:sp>
      <p:sp>
        <p:nvSpPr>
          <p:cNvPr id="5" name="Rectangle 4"/>
          <p:cNvSpPr/>
          <p:nvPr/>
        </p:nvSpPr>
        <p:spPr>
          <a:xfrm>
            <a:off x="6379029" y="1531621"/>
            <a:ext cx="5812971" cy="3154710"/>
          </a:xfrm>
          <a:prstGeom prst="rect">
            <a:avLst/>
          </a:prstGeom>
        </p:spPr>
        <p:txBody>
          <a:bodyPr wrap="square">
            <a:spAutoFit/>
          </a:bodyPr>
          <a:lstStyle/>
          <a:p>
            <a:pPr algn="just">
              <a:lnSpc>
                <a:spcPct val="150000"/>
              </a:lnSpc>
              <a:spcBef>
                <a:spcPts val="1200"/>
              </a:spcBef>
              <a:spcAft>
                <a:spcPts val="0"/>
              </a:spcAft>
            </a:pPr>
            <a:r>
              <a:rPr lang="en-US" b="1" kern="18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H/W CONFIGURATION:</a:t>
            </a:r>
            <a:endParaRPr lang="en-IN" sz="2400" b="1" kern="0" dirty="0">
              <a:solidFill>
                <a:srgbClr val="2E75B5"/>
              </a:solidFill>
              <a:latin typeface="Calibri Light" panose="020F0302020204030204" pitchFamily="34" charset="0"/>
              <a:ea typeface="SimSun" panose="02010600030101010101" pitchFamily="2" charset="-122"/>
              <a:cs typeface="Times New Roman" panose="02020603050405020304" pitchFamily="18" charset="0"/>
            </a:endParaRPr>
          </a:p>
          <a:p>
            <a:pPr indent="457200" algn="just">
              <a:lnSpc>
                <a:spcPct val="150000"/>
              </a:lnSpc>
              <a:spcBef>
                <a:spcPts val="1200"/>
              </a:spcBef>
              <a:spcAft>
                <a:spcPts val="0"/>
              </a:spcAft>
            </a:pPr>
            <a:r>
              <a:rPr lang="en-US" b="1" kern="18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Processor			- I3/Intel Processor</a:t>
            </a:r>
            <a:endParaRPr lang="en-IN" sz="2400" b="1" kern="0" dirty="0">
              <a:solidFill>
                <a:srgbClr val="2E75B5"/>
              </a:solidFill>
              <a:latin typeface="Calibri Light" panose="020F0302020204030204" pitchFamily="34" charset="0"/>
              <a:ea typeface="SimSun" panose="02010600030101010101" pitchFamily="2" charset="-122"/>
              <a:cs typeface="Times New Roman" panose="02020603050405020304" pitchFamily="18" charset="0"/>
            </a:endParaRPr>
          </a:p>
          <a:p>
            <a:pPr indent="457200" algn="just">
              <a:lnSpc>
                <a:spcPct val="150000"/>
              </a:lnSpc>
              <a:spcAft>
                <a:spcPts val="0"/>
              </a:spcAft>
            </a:pP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Hard Disk			- 160GB</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50000"/>
              </a:lnSpc>
              <a:spcAft>
                <a:spcPts val="0"/>
              </a:spcAft>
            </a:pP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Key Board			- Standard Windows Keyboard</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50000"/>
              </a:lnSpc>
              <a:spcAft>
                <a:spcPts val="0"/>
              </a:spcAft>
            </a:pP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Mouse				- Two or Three Button Mouse</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50000"/>
              </a:lnSpc>
              <a:spcAft>
                <a:spcPts val="0"/>
              </a:spcAft>
            </a:pP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Monitor			        - SVGA</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50000"/>
              </a:lnSpc>
              <a:spcAft>
                <a:spcPts val="0"/>
              </a:spcAft>
            </a:pP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RAM				- 8GB</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p:cNvSpPr/>
          <p:nvPr/>
        </p:nvSpPr>
        <p:spPr>
          <a:xfrm>
            <a:off x="653039" y="1531621"/>
            <a:ext cx="2734595" cy="507831"/>
          </a:xfrm>
          <a:prstGeom prst="rect">
            <a:avLst/>
          </a:prstGeom>
        </p:spPr>
        <p:txBody>
          <a:bodyPr wrap="none">
            <a:spAutoFit/>
          </a:bodyPr>
          <a:lstStyle/>
          <a:p>
            <a:pPr algn="just">
              <a:lnSpc>
                <a:spcPct val="150000"/>
              </a:lnSpc>
              <a:spcBef>
                <a:spcPts val="1200"/>
              </a:spcBef>
              <a:spcAft>
                <a:spcPts val="0"/>
              </a:spcAft>
            </a:pPr>
            <a:r>
              <a:rPr lang="en-IN"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S/W CONFIGURATION:</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302877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710620" y="290649"/>
            <a:ext cx="9720072" cy="770709"/>
          </a:xfrm>
        </p:spPr>
        <p:txBody>
          <a:bodyPr>
            <a:normAutofit fontScale="90000"/>
          </a:bodyPr>
          <a:lstStyle/>
          <a:p>
            <a:pPr lvl="2">
              <a:lnSpc>
                <a:spcPct val="170000"/>
              </a:lnSpc>
            </a:pPr>
            <a:r>
              <a:rPr lang="en-US" sz="3000" u="sng" dirty="0" smtClean="0">
                <a:latin typeface="Times New Roman" panose="02020603050405020304" pitchFamily="18" charset="0"/>
                <a:cs typeface="Times New Roman" panose="02020603050405020304" pitchFamily="18" charset="0"/>
              </a:rPr>
              <a:t>Literature Survey</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727261271"/>
              </p:ext>
            </p:extLst>
          </p:nvPr>
        </p:nvGraphicFramePr>
        <p:xfrm>
          <a:off x="574767" y="822461"/>
          <a:ext cx="11286309" cy="4859883"/>
        </p:xfrm>
        <a:graphic>
          <a:graphicData uri="http://schemas.openxmlformats.org/drawingml/2006/table">
            <a:tbl>
              <a:tblPr firstRow="1" bandRow="1">
                <a:tableStyleId>{B301B821-A1FF-4177-AEE7-76D212191A09}</a:tableStyleId>
              </a:tblPr>
              <a:tblGrid>
                <a:gridCol w="1005839">
                  <a:extLst>
                    <a:ext uri="{9D8B030D-6E8A-4147-A177-3AD203B41FA5}">
                      <a16:colId xmlns:a16="http://schemas.microsoft.com/office/drawing/2014/main" val="4262261026"/>
                    </a:ext>
                  </a:extLst>
                </a:gridCol>
                <a:gridCol w="1489165">
                  <a:extLst>
                    <a:ext uri="{9D8B030D-6E8A-4147-A177-3AD203B41FA5}">
                      <a16:colId xmlns:a16="http://schemas.microsoft.com/office/drawing/2014/main" val="3875791036"/>
                    </a:ext>
                  </a:extLst>
                </a:gridCol>
                <a:gridCol w="3148149">
                  <a:extLst>
                    <a:ext uri="{9D8B030D-6E8A-4147-A177-3AD203B41FA5}">
                      <a16:colId xmlns:a16="http://schemas.microsoft.com/office/drawing/2014/main" val="942164206"/>
                    </a:ext>
                  </a:extLst>
                </a:gridCol>
                <a:gridCol w="5643156">
                  <a:extLst>
                    <a:ext uri="{9D8B030D-6E8A-4147-A177-3AD203B41FA5}">
                      <a16:colId xmlns:a16="http://schemas.microsoft.com/office/drawing/2014/main" val="503154341"/>
                    </a:ext>
                  </a:extLst>
                </a:gridCol>
              </a:tblGrid>
              <a:tr h="536503">
                <a:tc>
                  <a:txBody>
                    <a:bodyPr/>
                    <a:lstStyle/>
                    <a:p>
                      <a:r>
                        <a:rPr lang="en-US" sz="1600" dirty="0" smtClean="0">
                          <a:latin typeface="Times New Roman" panose="02020603050405020304" pitchFamily="18" charset="0"/>
                          <a:cs typeface="Times New Roman" panose="02020603050405020304" pitchFamily="18" charset="0"/>
                        </a:rPr>
                        <a:t>Serial</a:t>
                      </a:r>
                      <a:r>
                        <a:rPr lang="en-US" sz="1600" baseline="0" dirty="0" smtClean="0">
                          <a:latin typeface="Times New Roman" panose="02020603050405020304" pitchFamily="18" charset="0"/>
                          <a:cs typeface="Times New Roman" panose="02020603050405020304" pitchFamily="18" charset="0"/>
                        </a:rPr>
                        <a:t> No</a:t>
                      </a: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smtClean="0">
                          <a:latin typeface="Times New Roman" panose="02020603050405020304" pitchFamily="18" charset="0"/>
                          <a:cs typeface="Times New Roman" panose="02020603050405020304" pitchFamily="18" charset="0"/>
                        </a:rPr>
                        <a:t>Authors</a:t>
                      </a:r>
                      <a:r>
                        <a:rPr lang="en-US" sz="1600" baseline="0" dirty="0" smtClean="0">
                          <a:latin typeface="Times New Roman" panose="02020603050405020304" pitchFamily="18" charset="0"/>
                          <a:cs typeface="Times New Roman" panose="02020603050405020304" pitchFamily="18" charset="0"/>
                        </a:rPr>
                        <a:t> </a:t>
                      </a: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smtClean="0">
                          <a:latin typeface="Times New Roman" panose="02020603050405020304" pitchFamily="18" charset="0"/>
                          <a:cs typeface="Times New Roman" panose="02020603050405020304" pitchFamily="18" charset="0"/>
                        </a:rPr>
                        <a:t>Title</a:t>
                      </a: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smtClean="0">
                          <a:latin typeface="Times New Roman" panose="02020603050405020304" pitchFamily="18" charset="0"/>
                          <a:cs typeface="Times New Roman" panose="02020603050405020304" pitchFamily="18" charset="0"/>
                        </a:rPr>
                        <a:t>Outcomes</a:t>
                      </a: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55714425"/>
                  </a:ext>
                </a:extLst>
              </a:tr>
              <a:tr h="1595390">
                <a:tc>
                  <a:txBody>
                    <a:bodyPr/>
                    <a:lstStyle/>
                    <a:p>
                      <a:pPr algn="l"/>
                      <a:r>
                        <a:rPr lang="en-IN" sz="1600">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600">
                          <a:latin typeface="Times New Roman" panose="02020603050405020304" pitchFamily="18" charset="0"/>
                          <a:cs typeface="Times New Roman" panose="02020603050405020304" pitchFamily="18" charset="0"/>
                        </a:rPr>
                        <a:t>Dalvi, A., Pulipaka, 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600">
                          <a:latin typeface="Times New Roman" panose="02020603050405020304" pitchFamily="18" charset="0"/>
                          <a:cs typeface="Times New Roman" panose="02020603050405020304" pitchFamily="18" charset="0"/>
                        </a:rPr>
                        <a:t>Fingerprint-Based Blood Group Detection Using Machine Learning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600">
                          <a:latin typeface="Times New Roman" panose="02020603050405020304" pitchFamily="18" charset="0"/>
                          <a:cs typeface="Times New Roman" panose="02020603050405020304" pitchFamily="18" charset="0"/>
                        </a:rPr>
                        <a:t>Presents a method for accurate blood group detection using fingerprints.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621675"/>
                  </a:ext>
                </a:extLst>
              </a:tr>
              <a:tr h="2727990">
                <a:tc>
                  <a:txBody>
                    <a:bodyPr/>
                    <a:lstStyle/>
                    <a:p>
                      <a:pPr algn="l"/>
                      <a:r>
                        <a:rPr lang="en-US" sz="1600" dirty="0" smtClean="0">
                          <a:latin typeface="Times New Roman" panose="02020603050405020304" pitchFamily="18" charset="0"/>
                          <a:cs typeface="Times New Roman" panose="02020603050405020304" pitchFamily="18" charset="0"/>
                        </a:rPr>
                        <a:t>2</a:t>
                      </a:r>
                      <a:endParaRPr lang="en-IN" sz="16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fi-FI" sz="1600" dirty="0" smtClean="0">
                          <a:latin typeface="Times New Roman" panose="02020603050405020304" pitchFamily="18" charset="0"/>
                          <a:cs typeface="Times New Roman" panose="02020603050405020304" pitchFamily="18" charset="0"/>
                        </a:rPr>
                        <a:t>S. D. Soni, A. K. Sharma, V. K. Sharma, S. Kumar</a:t>
                      </a:r>
                      <a:r>
                        <a:rPr lang="en-IN" sz="1600" dirty="0" smtClean="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600" dirty="0" smtClean="0">
                          <a:latin typeface="Times New Roman" panose="02020603050405020304" pitchFamily="18" charset="0"/>
                          <a:cs typeface="Times New Roman" panose="02020603050405020304" pitchFamily="18" charset="0"/>
                        </a:rPr>
                        <a:t>Blood Group Detection Using Fingerprint for Security Systems</a:t>
                      </a:r>
                      <a:endParaRPr lang="en-US" sz="16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600" dirty="0" smtClean="0">
                          <a:latin typeface="Times New Roman" panose="02020603050405020304" pitchFamily="18" charset="0"/>
                          <a:cs typeface="Times New Roman" panose="02020603050405020304" pitchFamily="18" charset="0"/>
                        </a:rPr>
                        <a:t>This study explores the potential of using fingerprint patterns to determine blood groups. The authors propose a system that integrates fingerprint recognition with blood group prediction to enhance security in medical systems. They found that this method could provide a faster and more reliable identification process in emergency situations..</a:t>
                      </a:r>
                      <a:endParaRPr lang="en-US" sz="16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62745900"/>
                  </a:ext>
                </a:extLst>
              </a:tr>
            </a:tbl>
          </a:graphicData>
        </a:graphic>
      </p:graphicFrame>
    </p:spTree>
    <p:extLst>
      <p:ext uri="{BB962C8B-B14F-4D97-AF65-F5344CB8AC3E}">
        <p14:creationId xmlns:p14="http://schemas.microsoft.com/office/powerpoint/2010/main" val="5753419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710620" y="290649"/>
            <a:ext cx="9720072" cy="770709"/>
          </a:xfrm>
        </p:spPr>
        <p:txBody>
          <a:bodyPr>
            <a:normAutofit fontScale="90000"/>
          </a:bodyPr>
          <a:lstStyle/>
          <a:p>
            <a:pPr lvl="2">
              <a:lnSpc>
                <a:spcPct val="170000"/>
              </a:lnSpc>
            </a:pPr>
            <a:r>
              <a:rPr lang="en-US" sz="3000" u="sng" dirty="0" smtClean="0">
                <a:latin typeface="Times New Roman" panose="02020603050405020304" pitchFamily="18" charset="0"/>
                <a:cs typeface="Times New Roman" panose="02020603050405020304" pitchFamily="18" charset="0"/>
              </a:rPr>
              <a:t>Literature Survey</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graphicFrame>
        <p:nvGraphicFramePr>
          <p:cNvPr id="3" name="Table 2"/>
          <p:cNvGraphicFramePr>
            <a:graphicFrameLocks noGrp="1"/>
          </p:cNvGraphicFramePr>
          <p:nvPr>
            <p:extLst>
              <p:ext uri="{D42A27DB-BD31-4B8C-83A1-F6EECF244321}">
                <p14:modId xmlns:p14="http://schemas.microsoft.com/office/powerpoint/2010/main" val="3630208517"/>
              </p:ext>
            </p:extLst>
          </p:nvPr>
        </p:nvGraphicFramePr>
        <p:xfrm>
          <a:off x="1031966" y="1007049"/>
          <a:ext cx="10306592" cy="5171682"/>
        </p:xfrm>
        <a:graphic>
          <a:graphicData uri="http://schemas.openxmlformats.org/drawingml/2006/table">
            <a:tbl>
              <a:tblPr firstRow="1" bandRow="1">
                <a:tableStyleId>{5C22544A-7EE6-4342-B048-85BDC9FD1C3A}</a:tableStyleId>
              </a:tblPr>
              <a:tblGrid>
                <a:gridCol w="1005839">
                  <a:extLst>
                    <a:ext uri="{9D8B030D-6E8A-4147-A177-3AD203B41FA5}">
                      <a16:colId xmlns:a16="http://schemas.microsoft.com/office/drawing/2014/main" val="1015582775"/>
                    </a:ext>
                  </a:extLst>
                </a:gridCol>
                <a:gridCol w="1619795">
                  <a:extLst>
                    <a:ext uri="{9D8B030D-6E8A-4147-A177-3AD203B41FA5}">
                      <a16:colId xmlns:a16="http://schemas.microsoft.com/office/drawing/2014/main" val="650775812"/>
                    </a:ext>
                  </a:extLst>
                </a:gridCol>
                <a:gridCol w="2743200">
                  <a:extLst>
                    <a:ext uri="{9D8B030D-6E8A-4147-A177-3AD203B41FA5}">
                      <a16:colId xmlns:a16="http://schemas.microsoft.com/office/drawing/2014/main" val="906774275"/>
                    </a:ext>
                  </a:extLst>
                </a:gridCol>
                <a:gridCol w="4937758">
                  <a:extLst>
                    <a:ext uri="{9D8B030D-6E8A-4147-A177-3AD203B41FA5}">
                      <a16:colId xmlns:a16="http://schemas.microsoft.com/office/drawing/2014/main" val="1150015560"/>
                    </a:ext>
                  </a:extLst>
                </a:gridCol>
              </a:tblGrid>
              <a:tr h="936534">
                <a:tc>
                  <a:txBody>
                    <a:bodyPr/>
                    <a:lstStyle/>
                    <a:p>
                      <a:r>
                        <a:rPr lang="en-US" sz="1600" dirty="0" smtClean="0">
                          <a:latin typeface="Times New Roman" panose="02020603050405020304" pitchFamily="18" charset="0"/>
                          <a:cs typeface="Times New Roman" panose="02020603050405020304" pitchFamily="18" charset="0"/>
                        </a:rPr>
                        <a:t>Serial</a:t>
                      </a:r>
                      <a:r>
                        <a:rPr lang="en-US" sz="1600" baseline="0" dirty="0" smtClean="0">
                          <a:latin typeface="Times New Roman" panose="02020603050405020304" pitchFamily="18" charset="0"/>
                          <a:cs typeface="Times New Roman" panose="02020603050405020304" pitchFamily="18" charset="0"/>
                        </a:rPr>
                        <a:t> No</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smtClean="0">
                          <a:latin typeface="Times New Roman" panose="02020603050405020304" pitchFamily="18" charset="0"/>
                          <a:cs typeface="Times New Roman" panose="02020603050405020304" pitchFamily="18" charset="0"/>
                        </a:rPr>
                        <a:t>Authors</a:t>
                      </a:r>
                      <a:r>
                        <a:rPr lang="en-US" sz="1600" baseline="0" dirty="0" smtClean="0">
                          <a:latin typeface="Times New Roman" panose="02020603050405020304" pitchFamily="18" charset="0"/>
                          <a:cs typeface="Times New Roman" panose="02020603050405020304" pitchFamily="18" charset="0"/>
                        </a:rPr>
                        <a:t> </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smtClean="0">
                          <a:latin typeface="Times New Roman" panose="02020603050405020304" pitchFamily="18" charset="0"/>
                          <a:cs typeface="Times New Roman" panose="02020603050405020304" pitchFamily="18" charset="0"/>
                        </a:rPr>
                        <a:t>Title</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smtClean="0">
                          <a:latin typeface="Times New Roman" panose="02020603050405020304" pitchFamily="18" charset="0"/>
                          <a:cs typeface="Times New Roman" panose="02020603050405020304" pitchFamily="18" charset="0"/>
                        </a:rPr>
                        <a:t>Outcomes</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37174646"/>
                  </a:ext>
                </a:extLst>
              </a:tr>
              <a:tr h="2223468">
                <a:tc>
                  <a:txBody>
                    <a:bodyPr/>
                    <a:lstStyle/>
                    <a:p>
                      <a:r>
                        <a:rPr lang="en-US" dirty="0" smtClean="0">
                          <a:latin typeface="Times New Roman" panose="02020603050405020304" pitchFamily="18" charset="0"/>
                          <a:cs typeface="Times New Roman" panose="02020603050405020304" pitchFamily="18" charset="0"/>
                        </a:rPr>
                        <a:t>3</a:t>
                      </a:r>
                      <a:endParaRPr lang="en-IN" dirty="0">
                        <a:latin typeface="Times New Roman" panose="02020603050405020304" pitchFamily="18" charset="0"/>
                        <a:cs typeface="Times New Roman" panose="02020603050405020304" pitchFamily="18" charset="0"/>
                      </a:endParaRPr>
                    </a:p>
                  </a:txBody>
                  <a:tcPr/>
                </a:tc>
                <a:tc>
                  <a:txBody>
                    <a:bodyPr/>
                    <a:lstStyle/>
                    <a:p>
                      <a:r>
                        <a:rPr lang="sv-SE" dirty="0" smtClean="0">
                          <a:latin typeface="Times New Roman" panose="02020603050405020304" pitchFamily="18" charset="0"/>
                          <a:cs typeface="Times New Roman" panose="02020603050405020304" pitchFamily="18" charset="0"/>
                        </a:rPr>
                        <a:t>S. K. Gupta, P. G. Bawa, D. Sharma, R. Singh</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Fingerprint Recognition for Blood Type Prediction</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This paper investigates the relationship between fingerprint patterns and blood group types. The authors used machine learning models to analyze fingerprint features and predict blood groups, concluding that fingerprint-based methods could be a non-invasive, quick, and efficient way of blood group determination.</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84062816"/>
                  </a:ext>
                </a:extLst>
              </a:tr>
              <a:tr h="1791003">
                <a:tc>
                  <a:txBody>
                    <a:bodyPr/>
                    <a:lstStyle/>
                    <a:p>
                      <a:r>
                        <a:rPr lang="en-US" dirty="0" smtClean="0">
                          <a:latin typeface="Times New Roman" panose="02020603050405020304" pitchFamily="18" charset="0"/>
                          <a:cs typeface="Times New Roman" panose="02020603050405020304" pitchFamily="18" charset="0"/>
                        </a:rPr>
                        <a:t>4</a:t>
                      </a:r>
                      <a:endParaRPr lang="en-IN" dirty="0">
                        <a:latin typeface="Times New Roman" panose="02020603050405020304" pitchFamily="18" charset="0"/>
                        <a:cs typeface="Times New Roman" panose="02020603050405020304" pitchFamily="18" charset="0"/>
                      </a:endParaRPr>
                    </a:p>
                  </a:txBody>
                  <a:tcPr/>
                </a:tc>
                <a:tc>
                  <a:txBody>
                    <a:bodyPr/>
                    <a:lstStyle/>
                    <a:p>
                      <a:r>
                        <a:rPr lang="fi-FI" dirty="0" smtClean="0">
                          <a:latin typeface="Times New Roman" panose="02020603050405020304" pitchFamily="18" charset="0"/>
                          <a:cs typeface="Times New Roman" panose="02020603050405020304" pitchFamily="18" charset="0"/>
                        </a:rPr>
                        <a:t>R. S. Meena, S. S. Jain, M. L. Rathi</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Combining Biometrics and Blood Group Detection Using Fingerprint</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This research presents a novel approach to blood group detection using fingerprint patterns combined with biometric data. By utilizing deep learning techniques, the study showed that fingerprints could reliably help determine blood group, offering a new method for secure health data management in medical applications.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42619046"/>
                  </a:ext>
                </a:extLst>
              </a:tr>
            </a:tbl>
          </a:graphicData>
        </a:graphic>
      </p:graphicFrame>
    </p:spTree>
    <p:extLst>
      <p:ext uri="{BB962C8B-B14F-4D97-AF65-F5344CB8AC3E}">
        <p14:creationId xmlns:p14="http://schemas.microsoft.com/office/powerpoint/2010/main" val="96532239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802059" y="1361804"/>
            <a:ext cx="9720072" cy="770709"/>
          </a:xfrm>
        </p:spPr>
        <p:txBody>
          <a:bodyPr>
            <a:normAutofit fontScale="90000"/>
          </a:bodyPr>
          <a:lstStyle/>
          <a:p>
            <a:pPr lvl="2">
              <a:lnSpc>
                <a:spcPct val="170000"/>
              </a:lnSpc>
            </a:pPr>
            <a:r>
              <a:rPr lang="en-US" sz="3300" u="sng" dirty="0" smtClean="0">
                <a:latin typeface="Times New Roman" panose="02020603050405020304" pitchFamily="18" charset="0"/>
                <a:cs typeface="Times New Roman" panose="02020603050405020304" pitchFamily="18" charset="0"/>
              </a:rPr>
              <a:t>Research Gap analysis</a:t>
            </a: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3" name="Rectangle 2"/>
          <p:cNvSpPr/>
          <p:nvPr/>
        </p:nvSpPr>
        <p:spPr>
          <a:xfrm>
            <a:off x="1154757" y="1871255"/>
            <a:ext cx="10118490" cy="458074"/>
          </a:xfrm>
          <a:prstGeom prst="rect">
            <a:avLst/>
          </a:prstGeom>
        </p:spPr>
        <p:txBody>
          <a:bodyPr wrap="square">
            <a:spAutoFit/>
          </a:bodyPr>
          <a:lstStyle/>
          <a:p>
            <a:pPr marL="285750" indent="-285750" algn="just">
              <a:lnSpc>
                <a:spcPct val="150000"/>
              </a:lnSpc>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
        <p:nvSpPr>
          <p:cNvPr id="8" name="Rectangle 7"/>
          <p:cNvSpPr/>
          <p:nvPr/>
        </p:nvSpPr>
        <p:spPr>
          <a:xfrm>
            <a:off x="696684" y="1582507"/>
            <a:ext cx="11229705" cy="4662815"/>
          </a:xfrm>
          <a:prstGeom prst="rect">
            <a:avLst/>
          </a:prstGeom>
        </p:spPr>
        <p:txBody>
          <a:bodyPr wrap="square">
            <a:spAutoFit/>
          </a:bodyPr>
          <a:lstStyle/>
          <a:p>
            <a:pPr algn="just">
              <a:lnSpc>
                <a:spcPct val="150000"/>
              </a:lnSpc>
            </a:pPr>
            <a:r>
              <a:rPr lang="en-US" b="1" dirty="0">
                <a:latin typeface="Times New Roman" panose="02020603050405020304" pitchFamily="18" charset="0"/>
                <a:cs typeface="Times New Roman" panose="02020603050405020304" pitchFamily="18" charset="0"/>
              </a:rPr>
              <a:t>Limited Use of Advanced Neural Architectures</a:t>
            </a:r>
            <a:r>
              <a:rPr lang="en-US" dirty="0">
                <a:latin typeface="Times New Roman" panose="02020603050405020304" pitchFamily="18" charset="0"/>
                <a:cs typeface="Times New Roman" panose="02020603050405020304" pitchFamily="18" charset="0"/>
              </a:rPr>
              <a:t>:</a:t>
            </a:r>
          </a:p>
          <a:p>
            <a:pPr algn="just">
              <a:lnSpc>
                <a:spcPct val="150000"/>
              </a:lnSpc>
            </a:pPr>
            <a:r>
              <a:rPr lang="en-US" dirty="0">
                <a:latin typeface="Times New Roman" panose="02020603050405020304" pitchFamily="18" charset="0"/>
                <a:cs typeface="Times New Roman" panose="02020603050405020304" pitchFamily="18" charset="0"/>
              </a:rPr>
              <a:t>Most of the existing research on fingerprint-based blood group detection focuses on traditional machine learning models and basic neural networks (e.g., CNNs).</a:t>
            </a:r>
          </a:p>
          <a:p>
            <a:pPr algn="just">
              <a:lnSpc>
                <a:spcPct val="150000"/>
              </a:lnSpc>
            </a:pPr>
            <a:r>
              <a:rPr lang="en-US" b="1" dirty="0">
                <a:latin typeface="Times New Roman" panose="02020603050405020304" pitchFamily="18" charset="0"/>
                <a:cs typeface="Times New Roman" panose="02020603050405020304" pitchFamily="18" charset="0"/>
              </a:rPr>
              <a:t>Gap</a:t>
            </a:r>
            <a:r>
              <a:rPr lang="en-US" dirty="0">
                <a:latin typeface="Times New Roman" panose="02020603050405020304" pitchFamily="18" charset="0"/>
                <a:cs typeface="Times New Roman" panose="02020603050405020304" pitchFamily="18" charset="0"/>
              </a:rPr>
              <a:t>: There is a lack of exploration of advanced deep learning models such as Vision Transformers (</a:t>
            </a:r>
            <a:r>
              <a:rPr lang="en-US" dirty="0" err="1">
                <a:latin typeface="Times New Roman" panose="02020603050405020304" pitchFamily="18" charset="0"/>
                <a:cs typeface="Times New Roman" panose="02020603050405020304" pitchFamily="18" charset="0"/>
              </a:rPr>
              <a:t>ViT</a:t>
            </a:r>
            <a:r>
              <a:rPr lang="en-US" dirty="0">
                <a:latin typeface="Times New Roman" panose="02020603050405020304" pitchFamily="18" charset="0"/>
                <a:cs typeface="Times New Roman" panose="02020603050405020304" pitchFamily="18" charset="0"/>
              </a:rPr>
              <a:t>), which can improve feature extraction and classification performance for fingerprint images.</a:t>
            </a:r>
          </a:p>
          <a:p>
            <a:pPr algn="just">
              <a:lnSpc>
                <a:spcPct val="150000"/>
              </a:lnSpc>
            </a:pPr>
            <a:r>
              <a:rPr lang="en-US" b="1" dirty="0">
                <a:latin typeface="Times New Roman" panose="02020603050405020304" pitchFamily="18" charset="0"/>
                <a:cs typeface="Times New Roman" panose="02020603050405020304" pitchFamily="18" charset="0"/>
              </a:rPr>
              <a:t>Underutilization of Large-Scale Datasets</a:t>
            </a:r>
            <a:r>
              <a:rPr lang="en-US" dirty="0">
                <a:latin typeface="Times New Roman" panose="02020603050405020304" pitchFamily="18" charset="0"/>
                <a:cs typeface="Times New Roman" panose="02020603050405020304" pitchFamily="18" charset="0"/>
              </a:rPr>
              <a:t>:</a:t>
            </a:r>
          </a:p>
          <a:p>
            <a:pPr algn="just">
              <a:lnSpc>
                <a:spcPct val="150000"/>
              </a:lnSpc>
            </a:pPr>
            <a:r>
              <a:rPr lang="en-US" dirty="0">
                <a:latin typeface="Times New Roman" panose="02020603050405020304" pitchFamily="18" charset="0"/>
                <a:cs typeface="Times New Roman" panose="02020603050405020304" pitchFamily="18" charset="0"/>
              </a:rPr>
              <a:t>Several studies have used smaller, localized datasets for training and evaluation, limiting the generalization capability of their models.</a:t>
            </a:r>
          </a:p>
          <a:p>
            <a:pPr algn="just">
              <a:lnSpc>
                <a:spcPct val="150000"/>
              </a:lnSpc>
            </a:pPr>
            <a:r>
              <a:rPr lang="en-US" b="1" dirty="0">
                <a:latin typeface="Times New Roman" panose="02020603050405020304" pitchFamily="18" charset="0"/>
                <a:cs typeface="Times New Roman" panose="02020603050405020304" pitchFamily="18" charset="0"/>
              </a:rPr>
              <a:t>Gap</a:t>
            </a:r>
            <a:r>
              <a:rPr lang="en-US" dirty="0">
                <a:latin typeface="Times New Roman" panose="02020603050405020304" pitchFamily="18" charset="0"/>
                <a:cs typeface="Times New Roman" panose="02020603050405020304" pitchFamily="18" charset="0"/>
              </a:rPr>
              <a:t>: Few studies utilize large-scale or publicly available datasets (e.g., </a:t>
            </a:r>
            <a:r>
              <a:rPr lang="en-US" dirty="0" err="1">
                <a:latin typeface="Times New Roman" panose="02020603050405020304" pitchFamily="18" charset="0"/>
                <a:cs typeface="Times New Roman" panose="02020603050405020304" pitchFamily="18" charset="0"/>
              </a:rPr>
              <a:t>Kaggle</a:t>
            </a:r>
            <a:r>
              <a:rPr lang="en-US" dirty="0">
                <a:latin typeface="Times New Roman" panose="02020603050405020304" pitchFamily="18" charset="0"/>
                <a:cs typeface="Times New Roman" panose="02020603050405020304" pitchFamily="18" charset="0"/>
              </a:rPr>
              <a:t> datasets) for fingerprint-based blood group classification, leading to models that may not generalize well across populations.</a:t>
            </a:r>
          </a:p>
          <a:p>
            <a:pPr lvl="0" algn="just" defTabSz="914400" eaLnBrk="0" fontAlgn="base" hangingPunct="0">
              <a:lnSpc>
                <a:spcPct val="150000"/>
              </a:lnSpc>
              <a:spcBef>
                <a:spcPct val="0"/>
              </a:spcBef>
              <a:spcAft>
                <a:spcPct val="0"/>
              </a:spcAft>
              <a:buFontTx/>
              <a:buChar char="•"/>
            </a:pPr>
            <a:endParaRPr lang="en-US"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067429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788996" y="1270363"/>
            <a:ext cx="9720072" cy="770709"/>
          </a:xfrm>
        </p:spPr>
        <p:txBody>
          <a:bodyPr>
            <a:normAutofit fontScale="90000"/>
          </a:bodyPr>
          <a:lstStyle/>
          <a:p>
            <a:pPr lvl="2">
              <a:lnSpc>
                <a:spcPct val="170000"/>
              </a:lnSpc>
            </a:pPr>
            <a:r>
              <a:rPr lang="en-US" sz="3300" u="sng" dirty="0" smtClean="0">
                <a:latin typeface="Times New Roman" panose="02020603050405020304" pitchFamily="18" charset="0"/>
                <a:cs typeface="Times New Roman" panose="02020603050405020304" pitchFamily="18" charset="0"/>
              </a:rPr>
              <a:t>Research Gap analysis</a:t>
            </a: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3" name="Rectangle 2"/>
          <p:cNvSpPr/>
          <p:nvPr/>
        </p:nvSpPr>
        <p:spPr>
          <a:xfrm>
            <a:off x="788996" y="1557746"/>
            <a:ext cx="11006764" cy="4662815"/>
          </a:xfrm>
          <a:prstGeom prst="rect">
            <a:avLst/>
          </a:prstGeom>
        </p:spPr>
        <p:txBody>
          <a:bodyPr wrap="square">
            <a:spAutoFit/>
          </a:bodyPr>
          <a:lstStyle/>
          <a:p>
            <a:pPr lvl="0" algn="just" defTabSz="914400" eaLnBrk="0" fontAlgn="base" hangingPunct="0">
              <a:lnSpc>
                <a:spcPct val="150000"/>
              </a:lnSpc>
              <a:spcBef>
                <a:spcPct val="0"/>
              </a:spcBef>
              <a:spcAft>
                <a:spcPct val="0"/>
              </a:spcAft>
            </a:pPr>
            <a:r>
              <a:rPr lang="en-US" altLang="en-US" b="1" dirty="0">
                <a:latin typeface="Times New Roman" panose="02020603050405020304" pitchFamily="18" charset="0"/>
                <a:cs typeface="Times New Roman" panose="02020603050405020304" pitchFamily="18" charset="0"/>
              </a:rPr>
              <a:t>Insufficient Exploration of Image Preprocessing Techniques</a:t>
            </a:r>
            <a:r>
              <a:rPr lang="en-US" altLang="en-US" dirty="0">
                <a:latin typeface="Times New Roman" panose="02020603050405020304" pitchFamily="18" charset="0"/>
                <a:cs typeface="Times New Roman" panose="02020603050405020304" pitchFamily="18" charset="0"/>
              </a:rPr>
              <a:t>:</a:t>
            </a:r>
          </a:p>
          <a:p>
            <a:pPr lvl="0" algn="just" defTabSz="914400" eaLnBrk="0" fontAlgn="base" hangingPunct="0">
              <a:lnSpc>
                <a:spcPct val="150000"/>
              </a:lnSpc>
              <a:spcBef>
                <a:spcPct val="0"/>
              </a:spcBef>
              <a:spcAft>
                <a:spcPct val="0"/>
              </a:spcAft>
            </a:pPr>
            <a:r>
              <a:rPr lang="en-US" altLang="en-US" dirty="0">
                <a:latin typeface="Times New Roman" panose="02020603050405020304" pitchFamily="18" charset="0"/>
                <a:cs typeface="Times New Roman" panose="02020603050405020304" pitchFamily="18" charset="0"/>
              </a:rPr>
              <a:t>Existing studies (e.g., Gupta et al., </a:t>
            </a:r>
            <a:r>
              <a:rPr lang="en-US" altLang="en-US" dirty="0" err="1">
                <a:latin typeface="Times New Roman" panose="02020603050405020304" pitchFamily="18" charset="0"/>
                <a:cs typeface="Times New Roman" panose="02020603050405020304" pitchFamily="18" charset="0"/>
              </a:rPr>
              <a:t>Verma</a:t>
            </a:r>
            <a:r>
              <a:rPr lang="en-US" altLang="en-US" dirty="0">
                <a:latin typeface="Times New Roman" panose="02020603050405020304" pitchFamily="18" charset="0"/>
                <a:cs typeface="Times New Roman" panose="02020603050405020304" pitchFamily="18" charset="0"/>
              </a:rPr>
              <a:t> et al.) primarily rely on basic image preprocessing methods for enhancing fingerprint patterns.</a:t>
            </a:r>
          </a:p>
          <a:p>
            <a:pPr lvl="0" algn="just" defTabSz="914400" eaLnBrk="0" fontAlgn="base" hangingPunct="0">
              <a:lnSpc>
                <a:spcPct val="150000"/>
              </a:lnSpc>
              <a:spcBef>
                <a:spcPct val="0"/>
              </a:spcBef>
              <a:spcAft>
                <a:spcPct val="0"/>
              </a:spcAft>
            </a:pPr>
            <a:r>
              <a:rPr lang="en-US" altLang="en-US" b="1" dirty="0">
                <a:latin typeface="Times New Roman" panose="02020603050405020304" pitchFamily="18" charset="0"/>
                <a:cs typeface="Times New Roman" panose="02020603050405020304" pitchFamily="18" charset="0"/>
              </a:rPr>
              <a:t>Gap</a:t>
            </a:r>
            <a:r>
              <a:rPr lang="en-US" altLang="en-US" dirty="0">
                <a:latin typeface="Times New Roman" panose="02020603050405020304" pitchFamily="18" charset="0"/>
                <a:cs typeface="Times New Roman" panose="02020603050405020304" pitchFamily="18" charset="0"/>
              </a:rPr>
              <a:t>: More advanced preprocessing techniques (e.g., data augmentation, image </a:t>
            </a:r>
            <a:r>
              <a:rPr lang="en-US" altLang="en-US" dirty="0" err="1">
                <a:latin typeface="Times New Roman" panose="02020603050405020304" pitchFamily="18" charset="0"/>
                <a:cs typeface="Times New Roman" panose="02020603050405020304" pitchFamily="18" charset="0"/>
              </a:rPr>
              <a:t>denoising</a:t>
            </a:r>
            <a:r>
              <a:rPr lang="en-US" altLang="en-US" dirty="0">
                <a:latin typeface="Times New Roman" panose="02020603050405020304" pitchFamily="18" charset="0"/>
                <a:cs typeface="Times New Roman" panose="02020603050405020304" pitchFamily="18" charset="0"/>
              </a:rPr>
              <a:t>, adaptive contrast enhancement) could be explored to improve model robustness and accuracy.</a:t>
            </a:r>
          </a:p>
          <a:p>
            <a:pPr lvl="0" algn="just" defTabSz="914400" eaLnBrk="0" fontAlgn="base" hangingPunct="0">
              <a:lnSpc>
                <a:spcPct val="150000"/>
              </a:lnSpc>
              <a:spcBef>
                <a:spcPct val="0"/>
              </a:spcBef>
              <a:spcAft>
                <a:spcPct val="0"/>
              </a:spcAft>
            </a:pPr>
            <a:r>
              <a:rPr lang="en-US" altLang="en-US" b="1" dirty="0">
                <a:latin typeface="Times New Roman" panose="02020603050405020304" pitchFamily="18" charset="0"/>
                <a:cs typeface="Times New Roman" panose="02020603050405020304" pitchFamily="18" charset="0"/>
              </a:rPr>
              <a:t>Scarcity of Comparative Studies Between Different Neural Networks</a:t>
            </a:r>
            <a:r>
              <a:rPr lang="en-US" altLang="en-US" dirty="0">
                <a:latin typeface="Times New Roman" panose="02020603050405020304" pitchFamily="18" charset="0"/>
                <a:cs typeface="Times New Roman" panose="02020603050405020304" pitchFamily="18" charset="0"/>
              </a:rPr>
              <a:t>:</a:t>
            </a:r>
          </a:p>
          <a:p>
            <a:pPr lvl="0" algn="just" defTabSz="914400" eaLnBrk="0" fontAlgn="base" hangingPunct="0">
              <a:lnSpc>
                <a:spcPct val="150000"/>
              </a:lnSpc>
              <a:spcBef>
                <a:spcPct val="0"/>
              </a:spcBef>
              <a:spcAft>
                <a:spcPct val="0"/>
              </a:spcAft>
            </a:pPr>
            <a:r>
              <a:rPr lang="en-US" altLang="en-US" dirty="0">
                <a:latin typeface="Times New Roman" panose="02020603050405020304" pitchFamily="18" charset="0"/>
                <a:cs typeface="Times New Roman" panose="02020603050405020304" pitchFamily="18" charset="0"/>
              </a:rPr>
              <a:t>While individual neural network models like CNNs and traditional classifiers have been used, direct comparisons between advanced architectures (e.g., MobileNet vs. </a:t>
            </a:r>
            <a:r>
              <a:rPr lang="en-US" altLang="en-US" dirty="0" err="1">
                <a:latin typeface="Times New Roman" panose="02020603050405020304" pitchFamily="18" charset="0"/>
                <a:cs typeface="Times New Roman" panose="02020603050405020304" pitchFamily="18" charset="0"/>
              </a:rPr>
              <a:t>ViT</a:t>
            </a:r>
            <a:r>
              <a:rPr lang="en-US" altLang="en-US" dirty="0">
                <a:latin typeface="Times New Roman" panose="02020603050405020304" pitchFamily="18" charset="0"/>
                <a:cs typeface="Times New Roman" panose="02020603050405020304" pitchFamily="18" charset="0"/>
              </a:rPr>
              <a:t>) are rare.</a:t>
            </a:r>
          </a:p>
          <a:p>
            <a:pPr lvl="0" algn="just" defTabSz="914400" eaLnBrk="0" fontAlgn="base" hangingPunct="0">
              <a:lnSpc>
                <a:spcPct val="150000"/>
              </a:lnSpc>
              <a:spcBef>
                <a:spcPct val="0"/>
              </a:spcBef>
              <a:spcAft>
                <a:spcPct val="0"/>
              </a:spcAft>
            </a:pPr>
            <a:r>
              <a:rPr lang="en-US" altLang="en-US" b="1" dirty="0">
                <a:latin typeface="Times New Roman" panose="02020603050405020304" pitchFamily="18" charset="0"/>
                <a:cs typeface="Times New Roman" panose="02020603050405020304" pitchFamily="18" charset="0"/>
              </a:rPr>
              <a:t>Gap</a:t>
            </a:r>
            <a:r>
              <a:rPr lang="en-US" altLang="en-US" dirty="0">
                <a:latin typeface="Times New Roman" panose="02020603050405020304" pitchFamily="18" charset="0"/>
                <a:cs typeface="Times New Roman" panose="02020603050405020304" pitchFamily="18" charset="0"/>
              </a:rPr>
              <a:t>: A comprehensive comparison of various neural networks (e.g., CNNs, MobileNet, and </a:t>
            </a:r>
            <a:r>
              <a:rPr lang="en-US" altLang="en-US" dirty="0" err="1">
                <a:latin typeface="Times New Roman" panose="02020603050405020304" pitchFamily="18" charset="0"/>
                <a:cs typeface="Times New Roman" panose="02020603050405020304" pitchFamily="18" charset="0"/>
              </a:rPr>
              <a:t>ViT</a:t>
            </a:r>
            <a:r>
              <a:rPr lang="en-US" altLang="en-US" dirty="0">
                <a:latin typeface="Times New Roman" panose="02020603050405020304" pitchFamily="18" charset="0"/>
                <a:cs typeface="Times New Roman" panose="02020603050405020304" pitchFamily="18" charset="0"/>
              </a:rPr>
              <a:t>) and hybrid models could provide insights into the most effective architectures for fingerprint-based blood group detection.</a:t>
            </a:r>
          </a:p>
          <a:p>
            <a:pPr lvl="0" algn="just" defTabSz="914400" eaLnBrk="0" fontAlgn="base" hangingPunct="0">
              <a:lnSpc>
                <a:spcPct val="150000"/>
              </a:lnSpc>
              <a:spcBef>
                <a:spcPct val="0"/>
              </a:spcBef>
              <a:spcAft>
                <a:spcPct val="0"/>
              </a:spcAft>
            </a:pPr>
            <a:endParaRPr lang="en-US"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9234437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757647" y="649880"/>
            <a:ext cx="9725297" cy="793567"/>
          </a:xfrm>
        </p:spPr>
        <p:txBody>
          <a:bodyPr>
            <a:normAutofit fontScale="90000"/>
          </a:bodyPr>
          <a:lstStyle/>
          <a:p>
            <a:pPr lvl="2">
              <a:lnSpc>
                <a:spcPct val="170000"/>
              </a:lnSpc>
            </a:pPr>
            <a:r>
              <a:rPr lang="en-US" sz="3300" u="sng" dirty="0" smtClean="0">
                <a:latin typeface="Times New Roman" panose="02020603050405020304" pitchFamily="18" charset="0"/>
                <a:cs typeface="Times New Roman" panose="02020603050405020304" pitchFamily="18" charset="0"/>
              </a:rPr>
              <a:t>Data Description:</a:t>
            </a: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8" name="Rectangle 2"/>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3" name="Rectangle 2"/>
          <p:cNvSpPr/>
          <p:nvPr/>
        </p:nvSpPr>
        <p:spPr>
          <a:xfrm>
            <a:off x="757647" y="998447"/>
            <a:ext cx="11234056" cy="5078313"/>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Fingerprint-Based Blood Group Dataset</a:t>
            </a:r>
            <a:r>
              <a:rPr lang="en-US" dirty="0">
                <a:latin typeface="Times New Roman" panose="02020603050405020304" pitchFamily="18" charset="0"/>
                <a:cs typeface="Times New Roman" panose="02020603050405020304" pitchFamily="18" charset="0"/>
              </a:rPr>
              <a:t> contains fingerprint images categorized into </a:t>
            </a:r>
            <a:r>
              <a:rPr lang="en-US" b="1" dirty="0">
                <a:latin typeface="Times New Roman" panose="02020603050405020304" pitchFamily="18" charset="0"/>
                <a:cs typeface="Times New Roman" panose="02020603050405020304" pitchFamily="18" charset="0"/>
              </a:rPr>
              <a:t>8 distinct blood groups</a:t>
            </a:r>
            <a:r>
              <a:rPr lang="en-US" dirty="0">
                <a:latin typeface="Times New Roman" panose="02020603050405020304" pitchFamily="18" charset="0"/>
                <a:cs typeface="Times New Roman" panose="02020603050405020304" pitchFamily="18" charset="0"/>
              </a:rPr>
              <a:t> (A+, A-, B+, B-, AB+, AB-, O+, O-), offering a unique opportunity to explore the relationship between biometric patterns and blood types. The dataset provides high-quality </a:t>
            </a:r>
            <a:r>
              <a:rPr lang="en-US" dirty="0" smtClean="0">
                <a:latin typeface="Times New Roman" panose="02020603050405020304" pitchFamily="18" charset="0"/>
                <a:cs typeface="Times New Roman" panose="02020603050405020304" pitchFamily="18" charset="0"/>
              </a:rPr>
              <a:t>.</a:t>
            </a:r>
          </a:p>
          <a:p>
            <a:pPr algn="just">
              <a:lnSpc>
                <a:spcPct val="150000"/>
              </a:lnSpc>
            </a:pPr>
            <a:r>
              <a:rPr lang="en-US" b="1" dirty="0" smtClean="0">
                <a:latin typeface="Times New Roman" panose="02020603050405020304" pitchFamily="18" charset="0"/>
                <a:cs typeface="Times New Roman" panose="02020603050405020304" pitchFamily="18" charset="0"/>
              </a:rPr>
              <a:t>BMP </a:t>
            </a:r>
            <a:r>
              <a:rPr lang="en-US" b="1" dirty="0">
                <a:latin typeface="Times New Roman" panose="02020603050405020304" pitchFamily="18" charset="0"/>
                <a:cs typeface="Times New Roman" panose="02020603050405020304" pitchFamily="18" charset="0"/>
              </a:rPr>
              <a:t>images</a:t>
            </a:r>
            <a:r>
              <a:rPr lang="en-US" dirty="0">
                <a:latin typeface="Times New Roman" panose="02020603050405020304" pitchFamily="18" charset="0"/>
                <a:cs typeface="Times New Roman" panose="02020603050405020304" pitchFamily="18" charset="0"/>
              </a:rPr>
              <a:t> with a white background, ensuring a clean and noise-free environment for image analysis. Each blood group category contains multiple fingerprint samples, facilitating robust training for classification models. </a:t>
            </a:r>
          </a:p>
          <a:p>
            <a:pPr lvl="0" algn="just" defTabSz="914400" eaLnBrk="0" fontAlgn="base" hangingPunct="0">
              <a:lnSpc>
                <a:spcPct val="150000"/>
              </a:lnSpc>
              <a:spcBef>
                <a:spcPct val="0"/>
              </a:spcBef>
              <a:spcAft>
                <a:spcPct val="0"/>
              </a:spcAft>
            </a:pPr>
            <a:r>
              <a:rPr lang="en-US" altLang="en-US" b="1" dirty="0">
                <a:latin typeface="Times New Roman" panose="02020603050405020304" pitchFamily="18" charset="0"/>
                <a:cs typeface="Times New Roman" panose="02020603050405020304" pitchFamily="18" charset="0"/>
              </a:rPr>
              <a:t>Fingerprint Images</a:t>
            </a:r>
            <a:r>
              <a:rPr lang="en-US" altLang="en-US" dirty="0">
                <a:latin typeface="Times New Roman" panose="02020603050405020304" pitchFamily="18" charset="0"/>
                <a:cs typeface="Times New Roman" panose="02020603050405020304" pitchFamily="18" charset="0"/>
              </a:rPr>
              <a:t>: High-quality grayscale fingerprint images that can be used for pattern recognition and classification tasks.</a:t>
            </a:r>
          </a:p>
          <a:p>
            <a:pPr lvl="0" algn="just" defTabSz="914400" eaLnBrk="0" fontAlgn="base" hangingPunct="0">
              <a:lnSpc>
                <a:spcPct val="150000"/>
              </a:lnSpc>
              <a:spcBef>
                <a:spcPct val="0"/>
              </a:spcBef>
              <a:spcAft>
                <a:spcPct val="0"/>
              </a:spcAft>
            </a:pPr>
            <a:r>
              <a:rPr lang="en-US" altLang="en-US" b="1" dirty="0">
                <a:latin typeface="Times New Roman" panose="02020603050405020304" pitchFamily="18" charset="0"/>
                <a:cs typeface="Times New Roman" panose="02020603050405020304" pitchFamily="18" charset="0"/>
              </a:rPr>
              <a:t>Blood Group Labels</a:t>
            </a:r>
            <a:r>
              <a:rPr lang="en-US" altLang="en-US" dirty="0">
                <a:latin typeface="Times New Roman" panose="02020603050405020304" pitchFamily="18" charset="0"/>
                <a:cs typeface="Times New Roman" panose="02020603050405020304" pitchFamily="18" charset="0"/>
              </a:rPr>
              <a:t>: Each image is associated with a corresponding blood group label, making it a supervised learning dataset.</a:t>
            </a:r>
          </a:p>
          <a:p>
            <a:pPr lvl="0" algn="just" defTabSz="914400" eaLnBrk="0" fontAlgn="base" hangingPunct="0">
              <a:lnSpc>
                <a:spcPct val="150000"/>
              </a:lnSpc>
              <a:spcBef>
                <a:spcPct val="0"/>
              </a:spcBef>
              <a:spcAft>
                <a:spcPct val="0"/>
              </a:spcAft>
            </a:pPr>
            <a:r>
              <a:rPr lang="en-US" altLang="en-US" b="1" dirty="0">
                <a:latin typeface="Times New Roman" panose="02020603050405020304" pitchFamily="18" charset="0"/>
                <a:cs typeface="Times New Roman" panose="02020603050405020304" pitchFamily="18" charset="0"/>
              </a:rPr>
              <a:t>Uniform Background</a:t>
            </a:r>
            <a:r>
              <a:rPr lang="en-US" altLang="en-US" dirty="0">
                <a:latin typeface="Times New Roman" panose="02020603050405020304" pitchFamily="18" charset="0"/>
                <a:cs typeface="Times New Roman" panose="02020603050405020304" pitchFamily="18" charset="0"/>
              </a:rPr>
              <a:t>: Consistent white background in all images, ensuring minimal noise during pre-processing.</a:t>
            </a:r>
          </a:p>
          <a:p>
            <a:pPr lvl="0" algn="just" defTabSz="914400" eaLnBrk="0" fontAlgn="base" hangingPunct="0">
              <a:lnSpc>
                <a:spcPct val="150000"/>
              </a:lnSpc>
              <a:spcBef>
                <a:spcPct val="0"/>
              </a:spcBef>
              <a:spcAft>
                <a:spcPct val="0"/>
              </a:spcAft>
            </a:pPr>
            <a:r>
              <a:rPr lang="en-US" altLang="en-US" b="1" dirty="0">
                <a:latin typeface="Times New Roman" panose="02020603050405020304" pitchFamily="18" charset="0"/>
                <a:cs typeface="Times New Roman" panose="02020603050405020304" pitchFamily="18" charset="0"/>
              </a:rPr>
              <a:t>Balanced Classes</a:t>
            </a:r>
            <a:r>
              <a:rPr lang="en-US" altLang="en-US" dirty="0">
                <a:latin typeface="Times New Roman" panose="02020603050405020304" pitchFamily="18" charset="0"/>
                <a:cs typeface="Times New Roman" panose="02020603050405020304" pitchFamily="18" charset="0"/>
              </a:rPr>
              <a:t>: Each blood group has a fair number of samples to ensure balanced training and testing splits. </a:t>
            </a:r>
          </a:p>
          <a:p>
            <a:pPr algn="just">
              <a:lnSpc>
                <a:spcPct val="150000"/>
              </a:lnSpc>
            </a:pPr>
            <a:endParaRPr lang="en-US"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112033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618581" y="730702"/>
            <a:ext cx="10267404" cy="793567"/>
          </a:xfrm>
        </p:spPr>
        <p:txBody>
          <a:bodyPr>
            <a:normAutofit fontScale="90000"/>
          </a:bodyPr>
          <a:lstStyle/>
          <a:p>
            <a:pPr lvl="2">
              <a:lnSpc>
                <a:spcPct val="170000"/>
              </a:lnSpc>
            </a:pPr>
            <a:r>
              <a:rPr lang="en-US" sz="3300" dirty="0" smtClean="0">
                <a:latin typeface="Times New Roman" panose="02020603050405020304" pitchFamily="18" charset="0"/>
                <a:cs typeface="Times New Roman" panose="02020603050405020304" pitchFamily="18" charset="0"/>
              </a:rPr>
              <a:t>Implementation of Algorithm (Algorithm Definition) </a:t>
            </a: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5" name="Rectangle 4"/>
          <p:cNvSpPr/>
          <p:nvPr/>
        </p:nvSpPr>
        <p:spPr>
          <a:xfrm>
            <a:off x="618581" y="730702"/>
            <a:ext cx="10981509" cy="5931496"/>
          </a:xfrm>
          <a:prstGeom prst="rect">
            <a:avLst/>
          </a:prstGeom>
        </p:spPr>
        <p:txBody>
          <a:bodyPr wrap="square">
            <a:spAutoFit/>
          </a:bodyPr>
          <a:lstStyle/>
          <a:p>
            <a:pPr lvl="0" algn="just" defTabSz="914400" eaLnBrk="0" fontAlgn="base" hangingPunct="0">
              <a:lnSpc>
                <a:spcPct val="150000"/>
              </a:lnSpc>
              <a:spcBef>
                <a:spcPct val="0"/>
              </a:spcBef>
              <a:spcAft>
                <a:spcPct val="0"/>
              </a:spcAft>
              <a:buFontTx/>
              <a:buChar char="•"/>
            </a:pPr>
            <a:r>
              <a:rPr lang="en-US" altLang="en-US" sz="1700" b="1" dirty="0">
                <a:latin typeface="Times New Roman" panose="02020603050405020304" pitchFamily="18" charset="0"/>
                <a:cs typeface="Times New Roman" panose="02020603050405020304" pitchFamily="18" charset="0"/>
              </a:rPr>
              <a:t>Convolutional Neural Networks (CNNs)</a:t>
            </a:r>
            <a:r>
              <a:rPr lang="en-US" altLang="en-US" sz="1700" dirty="0">
                <a:latin typeface="Times New Roman" panose="02020603050405020304" pitchFamily="18" charset="0"/>
                <a:cs typeface="Times New Roman" panose="02020603050405020304" pitchFamily="18" charset="0"/>
              </a:rPr>
              <a:t>: A specialized deep learning architecture designed for processing structured grid data, particularly images. CNNs use convolutional layers to automatically extract features, making them highly effective for image classification tasks.</a:t>
            </a:r>
          </a:p>
          <a:p>
            <a:pPr lvl="0" algn="just" defTabSz="914400" eaLnBrk="0" fontAlgn="base" hangingPunct="0">
              <a:lnSpc>
                <a:spcPct val="150000"/>
              </a:lnSpc>
              <a:spcBef>
                <a:spcPct val="0"/>
              </a:spcBef>
              <a:spcAft>
                <a:spcPct val="0"/>
              </a:spcAft>
              <a:buFontTx/>
              <a:buChar char="•"/>
            </a:pPr>
            <a:r>
              <a:rPr lang="en-US" altLang="en-US" sz="1700" b="1" dirty="0">
                <a:latin typeface="Times New Roman" panose="02020603050405020304" pitchFamily="18" charset="0"/>
                <a:cs typeface="Times New Roman" panose="02020603050405020304" pitchFamily="18" charset="0"/>
              </a:rPr>
              <a:t>MobileNet</a:t>
            </a:r>
            <a:r>
              <a:rPr lang="en-US" altLang="en-US" sz="1700" dirty="0">
                <a:latin typeface="Times New Roman" panose="02020603050405020304" pitchFamily="18" charset="0"/>
                <a:cs typeface="Times New Roman" panose="02020603050405020304" pitchFamily="18" charset="0"/>
              </a:rPr>
              <a:t>: An efficient deep learning model optimized for mobile and embedded devices. It utilizes </a:t>
            </a:r>
            <a:r>
              <a:rPr lang="en-US" altLang="en-US" sz="1700" dirty="0" err="1">
                <a:latin typeface="Times New Roman" panose="02020603050405020304" pitchFamily="18" charset="0"/>
                <a:cs typeface="Times New Roman" panose="02020603050405020304" pitchFamily="18" charset="0"/>
              </a:rPr>
              <a:t>depthwise</a:t>
            </a:r>
            <a:r>
              <a:rPr lang="en-US" altLang="en-US" sz="1700" dirty="0">
                <a:latin typeface="Times New Roman" panose="02020603050405020304" pitchFamily="18" charset="0"/>
                <a:cs typeface="Times New Roman" panose="02020603050405020304" pitchFamily="18" charset="0"/>
              </a:rPr>
              <a:t> separable convolutions to reduce computational complexity while maintaining high accuracy, making it suitable for real-time applications</a:t>
            </a:r>
            <a:r>
              <a:rPr lang="en-US" altLang="en-US" sz="1700" dirty="0" smtClean="0">
                <a:latin typeface="Times New Roman" panose="02020603050405020304" pitchFamily="18" charset="0"/>
                <a:cs typeface="Times New Roman" panose="02020603050405020304" pitchFamily="18" charset="0"/>
              </a:rPr>
              <a:t>.</a:t>
            </a:r>
          </a:p>
          <a:p>
            <a:pPr lvl="0" algn="just" defTabSz="914400" eaLnBrk="0" fontAlgn="base" hangingPunct="0">
              <a:lnSpc>
                <a:spcPct val="150000"/>
              </a:lnSpc>
              <a:spcBef>
                <a:spcPct val="0"/>
              </a:spcBef>
              <a:spcAft>
                <a:spcPct val="0"/>
              </a:spcAft>
              <a:buFontTx/>
              <a:buChar char="•"/>
            </a:pPr>
            <a:r>
              <a:rPr lang="en-US" altLang="en-US" sz="1700" b="1" dirty="0" smtClean="0">
                <a:latin typeface="Times New Roman" panose="02020603050405020304" pitchFamily="18" charset="0"/>
                <a:cs typeface="Times New Roman" panose="02020603050405020304" pitchFamily="18" charset="0"/>
              </a:rPr>
              <a:t>ResNet+RNN: </a:t>
            </a:r>
            <a:r>
              <a:rPr lang="en-US" sz="1700" dirty="0" err="1">
                <a:latin typeface="Times New Roman" panose="02020603050405020304" pitchFamily="18" charset="0"/>
                <a:cs typeface="Times New Roman" panose="02020603050405020304" pitchFamily="18" charset="0"/>
              </a:rPr>
              <a:t>ResNet</a:t>
            </a:r>
            <a:r>
              <a:rPr lang="en-US" sz="1700" dirty="0">
                <a:latin typeface="Times New Roman" panose="02020603050405020304" pitchFamily="18" charset="0"/>
                <a:cs typeface="Times New Roman" panose="02020603050405020304" pitchFamily="18" charset="0"/>
              </a:rPr>
              <a:t> is paired with an RNN (Recurrent Neural Network) layer. After the feature extraction from </a:t>
            </a:r>
            <a:r>
              <a:rPr lang="en-US" sz="1700" dirty="0" err="1">
                <a:latin typeface="Times New Roman" panose="02020603050405020304" pitchFamily="18" charset="0"/>
                <a:cs typeface="Times New Roman" panose="02020603050405020304" pitchFamily="18" charset="0"/>
              </a:rPr>
              <a:t>ResNet</a:t>
            </a:r>
            <a:r>
              <a:rPr lang="en-US" sz="1700" dirty="0">
                <a:latin typeface="Times New Roman" panose="02020603050405020304" pitchFamily="18" charset="0"/>
                <a:cs typeface="Times New Roman" panose="02020603050405020304" pitchFamily="18" charset="0"/>
              </a:rPr>
              <a:t>, a global average pooling layer is used to reduce the spatial dimensions, followed by flattening the output to feed it into the RNN. This combination allows the model to capture temporal relationships in the fingerprint data, which can be beneficial in understanding sequential patterns in features</a:t>
            </a:r>
            <a:r>
              <a:rPr lang="en-US" sz="1700" dirty="0" smtClean="0">
                <a:latin typeface="Times New Roman" panose="02020603050405020304" pitchFamily="18" charset="0"/>
                <a:cs typeface="Times New Roman" panose="02020603050405020304" pitchFamily="18" charset="0"/>
              </a:rPr>
              <a:t>.</a:t>
            </a:r>
            <a:endParaRPr lang="en-US" altLang="en-US" sz="1700" b="1" dirty="0" smtClean="0">
              <a:latin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buFontTx/>
              <a:buChar char="•"/>
            </a:pPr>
            <a:r>
              <a:rPr lang="en-US" altLang="en-US" sz="1700" b="1" dirty="0" smtClean="0">
                <a:latin typeface="Times New Roman" panose="02020603050405020304" pitchFamily="18" charset="0"/>
                <a:cs typeface="Times New Roman" panose="02020603050405020304" pitchFamily="18" charset="0"/>
              </a:rPr>
              <a:t>Vision Transformer </a:t>
            </a:r>
            <a:r>
              <a:rPr lang="en-US" altLang="en-US" sz="1700" b="1" dirty="0" err="1" smtClean="0">
                <a:latin typeface="Times New Roman" panose="02020603050405020304" pitchFamily="18" charset="0"/>
                <a:cs typeface="Times New Roman" panose="02020603050405020304" pitchFamily="18" charset="0"/>
              </a:rPr>
              <a:t>Model:</a:t>
            </a:r>
            <a:r>
              <a:rPr lang="en-US" sz="1700" dirty="0" err="1">
                <a:latin typeface="Times New Roman" panose="02020603050405020304" pitchFamily="18" charset="0"/>
                <a:cs typeface="Times New Roman" panose="02020603050405020304" pitchFamily="18" charset="0"/>
              </a:rPr>
              <a:t>The</a:t>
            </a:r>
            <a:r>
              <a:rPr lang="en-US" sz="1700" dirty="0">
                <a:latin typeface="Times New Roman" panose="02020603050405020304" pitchFamily="18" charset="0"/>
                <a:cs typeface="Times New Roman" panose="02020603050405020304" pitchFamily="18" charset="0"/>
              </a:rPr>
              <a:t> Vision Transformer is a cutting-edge architecture that has gained popularity for its ability to process image data by applying transformer mechanisms traditionally used in natural language processing. Instead of using convolutional layers, </a:t>
            </a:r>
            <a:r>
              <a:rPr lang="en-US" sz="1700" dirty="0" err="1">
                <a:latin typeface="Times New Roman" panose="02020603050405020304" pitchFamily="18" charset="0"/>
                <a:cs typeface="Times New Roman" panose="02020603050405020304" pitchFamily="18" charset="0"/>
              </a:rPr>
              <a:t>ViT</a:t>
            </a:r>
            <a:r>
              <a:rPr lang="en-US" sz="1700" dirty="0">
                <a:latin typeface="Times New Roman" panose="02020603050405020304" pitchFamily="18" charset="0"/>
                <a:cs typeface="Times New Roman" panose="02020603050405020304" pitchFamily="18" charset="0"/>
              </a:rPr>
              <a:t> divides an image into patches, linearly embeds them, and processes these patches using self-attention mechanisms. This allows the model to capture global context, which is essential for tasks like blood group classification.</a:t>
            </a:r>
            <a:endParaRPr lang="en-US" altLang="en-US" sz="17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6014757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838610" y="1309551"/>
            <a:ext cx="10267404" cy="793567"/>
          </a:xfrm>
        </p:spPr>
        <p:txBody>
          <a:bodyPr>
            <a:normAutofit fontScale="90000"/>
          </a:bodyPr>
          <a:lstStyle/>
          <a:p>
            <a:pPr lvl="2">
              <a:lnSpc>
                <a:spcPct val="170000"/>
              </a:lnSpc>
            </a:pPr>
            <a:r>
              <a:rPr lang="en-US" sz="3300" dirty="0" smtClean="0">
                <a:latin typeface="Times New Roman" panose="02020603050405020304" pitchFamily="18" charset="0"/>
                <a:cs typeface="Times New Roman" panose="02020603050405020304" pitchFamily="18" charset="0"/>
              </a:rPr>
              <a:t>Implementation (Working Process) </a:t>
            </a: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3" name="Rectangle 2"/>
          <p:cNvSpPr/>
          <p:nvPr/>
        </p:nvSpPr>
        <p:spPr>
          <a:xfrm>
            <a:off x="838610" y="1582175"/>
            <a:ext cx="10926943" cy="4480073"/>
          </a:xfrm>
          <a:prstGeom prst="rect">
            <a:avLst/>
          </a:prstGeom>
        </p:spPr>
        <p:txBody>
          <a:bodyPr wrap="square">
            <a:spAutoFit/>
          </a:bodyPr>
          <a:lstStyle/>
          <a:p>
            <a:pPr algn="just">
              <a:lnSpc>
                <a:spcPct val="150000"/>
              </a:lnSpc>
            </a:pPr>
            <a:r>
              <a:rPr lang="en-US" sz="1600" b="1" dirty="0">
                <a:latin typeface="Times New Roman" panose="02020603050405020304" pitchFamily="18" charset="0"/>
                <a:cs typeface="Times New Roman" panose="02020603050405020304" pitchFamily="18" charset="0"/>
              </a:rPr>
              <a:t>Working Process</a:t>
            </a:r>
            <a:r>
              <a:rPr lang="en-US" sz="1600" dirty="0">
                <a:latin typeface="Times New Roman" panose="02020603050405020304" pitchFamily="18" charset="0"/>
                <a:cs typeface="Times New Roman" panose="02020603050405020304" pitchFamily="18" charset="0"/>
              </a:rPr>
              <a:t>:</a:t>
            </a:r>
          </a:p>
          <a:p>
            <a:pPr algn="just">
              <a:lnSpc>
                <a:spcPct val="150000"/>
              </a:lnSpc>
            </a:pPr>
            <a:r>
              <a:rPr lang="en-US" sz="1600" b="1" dirty="0">
                <a:latin typeface="Times New Roman" panose="02020603050405020304" pitchFamily="18" charset="0"/>
                <a:cs typeface="Times New Roman" panose="02020603050405020304" pitchFamily="18" charset="0"/>
              </a:rPr>
              <a:t>Input Processing</a:t>
            </a:r>
            <a:r>
              <a:rPr lang="en-US" sz="1600" dirty="0">
                <a:latin typeface="Times New Roman" panose="02020603050405020304" pitchFamily="18" charset="0"/>
                <a:cs typeface="Times New Roman" panose="02020603050405020304" pitchFamily="18" charset="0"/>
              </a:rPr>
              <a:t>: Fingerprint images are resized to 128x128 pixels, normalized, and fed into the network.</a:t>
            </a:r>
          </a:p>
          <a:p>
            <a:pPr algn="just">
              <a:lnSpc>
                <a:spcPct val="150000"/>
              </a:lnSpc>
            </a:pPr>
            <a:r>
              <a:rPr lang="en-US" sz="1600" b="1" dirty="0">
                <a:latin typeface="Times New Roman" panose="02020603050405020304" pitchFamily="18" charset="0"/>
                <a:cs typeface="Times New Roman" panose="02020603050405020304" pitchFamily="18" charset="0"/>
              </a:rPr>
              <a:t>Feature Extraction</a:t>
            </a:r>
            <a:r>
              <a:rPr lang="en-US" sz="1600" dirty="0">
                <a:latin typeface="Times New Roman" panose="02020603050405020304" pitchFamily="18" charset="0"/>
                <a:cs typeface="Times New Roman" panose="02020603050405020304" pitchFamily="18" charset="0"/>
              </a:rPr>
              <a:t>:</a:t>
            </a:r>
          </a:p>
          <a:p>
            <a:pPr lvl="1" algn="just">
              <a:lnSpc>
                <a:spcPct val="150000"/>
              </a:lnSpc>
            </a:pPr>
            <a:r>
              <a:rPr lang="en-US" sz="1600" b="1" dirty="0">
                <a:latin typeface="Times New Roman" panose="02020603050405020304" pitchFamily="18" charset="0"/>
                <a:cs typeface="Times New Roman" panose="02020603050405020304" pitchFamily="18" charset="0"/>
              </a:rPr>
              <a:t>Layer 1</a:t>
            </a:r>
            <a:r>
              <a:rPr lang="en-US" sz="1600" dirty="0">
                <a:latin typeface="Times New Roman" panose="02020603050405020304" pitchFamily="18" charset="0"/>
                <a:cs typeface="Times New Roman" panose="02020603050405020304" pitchFamily="18" charset="0"/>
              </a:rPr>
              <a:t>: A 3x3 convolution is applied using 16 filters to detect basic features (e.g., edges and textures), followed by </a:t>
            </a:r>
            <a:r>
              <a:rPr lang="en-US" sz="1600" dirty="0" err="1">
                <a:latin typeface="Times New Roman" panose="02020603050405020304" pitchFamily="18" charset="0"/>
                <a:cs typeface="Times New Roman" panose="02020603050405020304" pitchFamily="18" charset="0"/>
              </a:rPr>
              <a:t>ReLU</a:t>
            </a:r>
            <a:r>
              <a:rPr lang="en-US" sz="1600" dirty="0">
                <a:latin typeface="Times New Roman" panose="02020603050405020304" pitchFamily="18" charset="0"/>
                <a:cs typeface="Times New Roman" panose="02020603050405020304" pitchFamily="18" charset="0"/>
              </a:rPr>
              <a:t> activation.</a:t>
            </a:r>
          </a:p>
          <a:p>
            <a:pPr lvl="1" algn="just">
              <a:lnSpc>
                <a:spcPct val="150000"/>
              </a:lnSpc>
            </a:pPr>
            <a:r>
              <a:rPr lang="en-US" sz="1600" b="1" dirty="0">
                <a:latin typeface="Times New Roman" panose="02020603050405020304" pitchFamily="18" charset="0"/>
                <a:cs typeface="Times New Roman" panose="02020603050405020304" pitchFamily="18" charset="0"/>
              </a:rPr>
              <a:t>Layer 2</a:t>
            </a:r>
            <a:r>
              <a:rPr lang="en-US" sz="1600" dirty="0">
                <a:latin typeface="Times New Roman" panose="02020603050405020304" pitchFamily="18" charset="0"/>
                <a:cs typeface="Times New Roman" panose="02020603050405020304" pitchFamily="18" charset="0"/>
              </a:rPr>
              <a:t>: Another 3x3 convolution using 32 filters is applied to learn more complex patterns.</a:t>
            </a:r>
          </a:p>
          <a:p>
            <a:pPr algn="just">
              <a:lnSpc>
                <a:spcPct val="150000"/>
              </a:lnSpc>
            </a:pPr>
            <a:r>
              <a:rPr lang="en-US" sz="1600" b="1" dirty="0">
                <a:latin typeface="Times New Roman" panose="02020603050405020304" pitchFamily="18" charset="0"/>
                <a:cs typeface="Times New Roman" panose="02020603050405020304" pitchFamily="18" charset="0"/>
              </a:rPr>
              <a:t>Max Pooling</a:t>
            </a:r>
            <a:r>
              <a:rPr lang="en-US" sz="1600" dirty="0">
                <a:latin typeface="Times New Roman" panose="02020603050405020304" pitchFamily="18" charset="0"/>
                <a:cs typeface="Times New Roman" panose="02020603050405020304" pitchFamily="18" charset="0"/>
              </a:rPr>
              <a:t>: Each convolutional layer is followed by a 2x2 max pooling layer to reduce the spatial size of the feature maps.</a:t>
            </a:r>
          </a:p>
          <a:p>
            <a:pPr algn="just">
              <a:lnSpc>
                <a:spcPct val="150000"/>
              </a:lnSpc>
            </a:pPr>
            <a:r>
              <a:rPr lang="en-US" sz="1600" b="1" dirty="0">
                <a:latin typeface="Times New Roman" panose="02020603050405020304" pitchFamily="18" charset="0"/>
                <a:cs typeface="Times New Roman" panose="02020603050405020304" pitchFamily="18" charset="0"/>
              </a:rPr>
              <a:t>Flattening</a:t>
            </a:r>
            <a:r>
              <a:rPr lang="en-US" sz="1600" dirty="0">
                <a:latin typeface="Times New Roman" panose="02020603050405020304" pitchFamily="18" charset="0"/>
                <a:cs typeface="Times New Roman" panose="02020603050405020304" pitchFamily="18" charset="0"/>
              </a:rPr>
              <a:t>: The output of the last pooling layer is flattened into a 1D vector.</a:t>
            </a:r>
          </a:p>
          <a:p>
            <a:pPr algn="just">
              <a:lnSpc>
                <a:spcPct val="150000"/>
              </a:lnSpc>
            </a:pPr>
            <a:r>
              <a:rPr lang="en-US" sz="1600" b="1" dirty="0">
                <a:latin typeface="Times New Roman" panose="02020603050405020304" pitchFamily="18" charset="0"/>
                <a:cs typeface="Times New Roman" panose="02020603050405020304" pitchFamily="18" charset="0"/>
              </a:rPr>
              <a:t>Fully Connected Layer</a:t>
            </a:r>
            <a:r>
              <a:rPr lang="en-US" sz="1600" dirty="0">
                <a:latin typeface="Times New Roman" panose="02020603050405020304" pitchFamily="18" charset="0"/>
                <a:cs typeface="Times New Roman" panose="02020603050405020304" pitchFamily="18" charset="0"/>
              </a:rPr>
              <a:t>: A dense layer with 64 units applies further feature abstraction.</a:t>
            </a:r>
          </a:p>
          <a:p>
            <a:pPr algn="just">
              <a:lnSpc>
                <a:spcPct val="150000"/>
              </a:lnSpc>
            </a:pPr>
            <a:r>
              <a:rPr lang="en-US" sz="1600" b="1" dirty="0">
                <a:latin typeface="Times New Roman" panose="02020603050405020304" pitchFamily="18" charset="0"/>
                <a:cs typeface="Times New Roman" panose="02020603050405020304" pitchFamily="18" charset="0"/>
              </a:rPr>
              <a:t>Output</a:t>
            </a:r>
            <a:r>
              <a:rPr lang="en-US" sz="1600" dirty="0">
                <a:latin typeface="Times New Roman" panose="02020603050405020304" pitchFamily="18" charset="0"/>
                <a:cs typeface="Times New Roman" panose="02020603050405020304" pitchFamily="18" charset="0"/>
              </a:rPr>
              <a:t>: A </a:t>
            </a:r>
            <a:r>
              <a:rPr lang="en-US" sz="1600" dirty="0" err="1">
                <a:latin typeface="Times New Roman" panose="02020603050405020304" pitchFamily="18" charset="0"/>
                <a:cs typeface="Times New Roman" panose="02020603050405020304" pitchFamily="18" charset="0"/>
              </a:rPr>
              <a:t>softmax</a:t>
            </a:r>
            <a:r>
              <a:rPr lang="en-US" sz="1600" dirty="0">
                <a:latin typeface="Times New Roman" panose="02020603050405020304" pitchFamily="18" charset="0"/>
                <a:cs typeface="Times New Roman" panose="02020603050405020304" pitchFamily="18" charset="0"/>
              </a:rPr>
              <a:t> layer with 9 output units assigns probability scores to each blood group, predicting the highest score as the output class.</a:t>
            </a:r>
          </a:p>
          <a:p>
            <a:pPr algn="just">
              <a:lnSpc>
                <a:spcPct val="150000"/>
              </a:lnSpc>
            </a:pPr>
            <a:r>
              <a:rPr lang="en-US" sz="1600" b="1" dirty="0">
                <a:latin typeface="Times New Roman" panose="02020603050405020304" pitchFamily="18" charset="0"/>
                <a:cs typeface="Times New Roman" panose="02020603050405020304" pitchFamily="18" charset="0"/>
              </a:rPr>
              <a:t>Training</a:t>
            </a:r>
            <a:r>
              <a:rPr lang="en-US" sz="1600" dirty="0">
                <a:latin typeface="Times New Roman" panose="02020603050405020304" pitchFamily="18" charset="0"/>
                <a:cs typeface="Times New Roman" panose="02020603050405020304" pitchFamily="18" charset="0"/>
              </a:rPr>
              <a:t>: The model is optimized using the Adam optimizer and trained with categorical cross-entropy loss over several epochs.</a:t>
            </a:r>
          </a:p>
        </p:txBody>
      </p:sp>
    </p:spTree>
    <p:extLst>
      <p:ext uri="{BB962C8B-B14F-4D97-AF65-F5344CB8AC3E}">
        <p14:creationId xmlns:p14="http://schemas.microsoft.com/office/powerpoint/2010/main" val="362840196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975634" y="1022168"/>
            <a:ext cx="10267404" cy="793567"/>
          </a:xfrm>
        </p:spPr>
        <p:txBody>
          <a:bodyPr>
            <a:normAutofit fontScale="90000"/>
          </a:bodyPr>
          <a:lstStyle/>
          <a:p>
            <a:pPr lvl="2">
              <a:lnSpc>
                <a:spcPct val="170000"/>
              </a:lnSpc>
            </a:pPr>
            <a:r>
              <a:rPr lang="en-US" sz="3300" dirty="0" smtClean="0">
                <a:latin typeface="Times New Roman" panose="02020603050405020304" pitchFamily="18" charset="0"/>
                <a:cs typeface="Times New Roman" panose="02020603050405020304" pitchFamily="18" charset="0"/>
              </a:rPr>
              <a:t>Working Process </a:t>
            </a: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3" name="Rectangle 2"/>
          <p:cNvSpPr/>
          <p:nvPr/>
        </p:nvSpPr>
        <p:spPr>
          <a:xfrm>
            <a:off x="735873" y="1418951"/>
            <a:ext cx="11112138" cy="5218736"/>
          </a:xfrm>
          <a:prstGeom prst="rect">
            <a:avLst/>
          </a:prstGeom>
        </p:spPr>
        <p:txBody>
          <a:bodyPr wrap="square">
            <a:spAutoFit/>
          </a:bodyPr>
          <a:lstStyle/>
          <a:p>
            <a:pPr algn="just">
              <a:lnSpc>
                <a:spcPct val="150000"/>
              </a:lnSpc>
            </a:pPr>
            <a:r>
              <a:rPr lang="en-US" sz="1600" b="1" dirty="0" smtClean="0">
                <a:latin typeface="Times New Roman" panose="02020603050405020304" pitchFamily="18" charset="0"/>
                <a:cs typeface="Times New Roman" panose="02020603050405020304" pitchFamily="18" charset="0"/>
              </a:rPr>
              <a:t>MobileNet Algorithm</a:t>
            </a:r>
          </a:p>
          <a:p>
            <a:pPr algn="just">
              <a:lnSpc>
                <a:spcPct val="150000"/>
              </a:lnSpc>
            </a:pPr>
            <a:r>
              <a:rPr lang="en-US" sz="1600" b="1" dirty="0" smtClean="0">
                <a:latin typeface="Times New Roman" panose="02020603050405020304" pitchFamily="18" charset="0"/>
                <a:cs typeface="Times New Roman" panose="02020603050405020304" pitchFamily="18" charset="0"/>
              </a:rPr>
              <a:t>Working </a:t>
            </a:r>
            <a:r>
              <a:rPr lang="en-US" sz="1600" b="1" dirty="0">
                <a:latin typeface="Times New Roman" panose="02020603050405020304" pitchFamily="18" charset="0"/>
                <a:cs typeface="Times New Roman" panose="02020603050405020304" pitchFamily="18" charset="0"/>
              </a:rPr>
              <a:t>Process</a:t>
            </a:r>
            <a:r>
              <a:rPr lang="en-US" sz="1600" dirty="0">
                <a:latin typeface="Times New Roman" panose="02020603050405020304" pitchFamily="18" charset="0"/>
                <a:cs typeface="Times New Roman" panose="02020603050405020304" pitchFamily="18" charset="0"/>
              </a:rPr>
              <a:t>:</a:t>
            </a:r>
          </a:p>
          <a:p>
            <a:pPr algn="just">
              <a:lnSpc>
                <a:spcPct val="150000"/>
              </a:lnSpc>
            </a:pPr>
            <a:r>
              <a:rPr lang="en-US" sz="1600" b="1" dirty="0">
                <a:latin typeface="Times New Roman" panose="02020603050405020304" pitchFamily="18" charset="0"/>
                <a:cs typeface="Times New Roman" panose="02020603050405020304" pitchFamily="18" charset="0"/>
              </a:rPr>
              <a:t>Input Preprocessing</a:t>
            </a:r>
            <a:r>
              <a:rPr lang="en-US" sz="1600" dirty="0">
                <a:latin typeface="Times New Roman" panose="02020603050405020304" pitchFamily="18" charset="0"/>
                <a:cs typeface="Times New Roman" panose="02020603050405020304" pitchFamily="18" charset="0"/>
              </a:rPr>
              <a:t>: Fingerprint images are resized to 128x128 pixels. Data augmentation techniques like rotation, zoom, and flipping are used to increase variation.</a:t>
            </a:r>
          </a:p>
          <a:p>
            <a:pPr algn="just">
              <a:lnSpc>
                <a:spcPct val="150000"/>
              </a:lnSpc>
            </a:pPr>
            <a:r>
              <a:rPr lang="en-US" sz="1600" b="1" dirty="0">
                <a:latin typeface="Times New Roman" panose="02020603050405020304" pitchFamily="18" charset="0"/>
                <a:cs typeface="Times New Roman" panose="02020603050405020304" pitchFamily="18" charset="0"/>
              </a:rPr>
              <a:t>Feature Extraction</a:t>
            </a:r>
            <a:r>
              <a:rPr lang="en-US" sz="1600" dirty="0">
                <a:latin typeface="Times New Roman" panose="02020603050405020304" pitchFamily="18" charset="0"/>
                <a:cs typeface="Times New Roman" panose="02020603050405020304" pitchFamily="18" charset="0"/>
              </a:rPr>
              <a:t>:</a:t>
            </a:r>
          </a:p>
          <a:p>
            <a:pPr lvl="1" algn="just">
              <a:lnSpc>
                <a:spcPct val="150000"/>
              </a:lnSpc>
            </a:pPr>
            <a:r>
              <a:rPr lang="en-US" sz="1600" dirty="0">
                <a:latin typeface="Times New Roman" panose="02020603050405020304" pitchFamily="18" charset="0"/>
                <a:cs typeface="Times New Roman" panose="02020603050405020304" pitchFamily="18" charset="0"/>
              </a:rPr>
              <a:t>A pre-trained </a:t>
            </a:r>
            <a:r>
              <a:rPr lang="en-US" sz="1600" b="1" dirty="0">
                <a:latin typeface="Times New Roman" panose="02020603050405020304" pitchFamily="18" charset="0"/>
                <a:cs typeface="Times New Roman" panose="02020603050405020304" pitchFamily="18" charset="0"/>
              </a:rPr>
              <a:t>DenseNet121</a:t>
            </a:r>
            <a:r>
              <a:rPr lang="en-US" sz="1600" dirty="0">
                <a:latin typeface="Times New Roman" panose="02020603050405020304" pitchFamily="18" charset="0"/>
                <a:cs typeface="Times New Roman" panose="02020603050405020304" pitchFamily="18" charset="0"/>
              </a:rPr>
              <a:t> model is used to extract features from the images. </a:t>
            </a:r>
            <a:r>
              <a:rPr lang="en-US" sz="1600" dirty="0" err="1">
                <a:latin typeface="Times New Roman" panose="02020603050405020304" pitchFamily="18" charset="0"/>
                <a:cs typeface="Times New Roman" panose="02020603050405020304" pitchFamily="18" charset="0"/>
              </a:rPr>
              <a:t>DenseNet</a:t>
            </a:r>
            <a:r>
              <a:rPr lang="en-US" sz="1600" dirty="0">
                <a:latin typeface="Times New Roman" panose="02020603050405020304" pitchFamily="18" charset="0"/>
                <a:cs typeface="Times New Roman" panose="02020603050405020304" pitchFamily="18" charset="0"/>
              </a:rPr>
              <a:t> captures hierarchical features from low-level (edges) to high-level (textures).</a:t>
            </a:r>
          </a:p>
          <a:p>
            <a:pPr lvl="1" algn="just">
              <a:lnSpc>
                <a:spcPct val="150000"/>
              </a:lnSpc>
            </a:pPr>
            <a:r>
              <a:rPr lang="en-US" sz="1600" b="1" dirty="0" err="1">
                <a:latin typeface="Times New Roman" panose="02020603050405020304" pitchFamily="18" charset="0"/>
                <a:cs typeface="Times New Roman" panose="02020603050405020304" pitchFamily="18" charset="0"/>
              </a:rPr>
              <a:t>MobileNet’s</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Depthwise</a:t>
            </a:r>
            <a:r>
              <a:rPr lang="en-US" sz="1600" b="1" dirty="0">
                <a:latin typeface="Times New Roman" panose="02020603050405020304" pitchFamily="18" charset="0"/>
                <a:cs typeface="Times New Roman" panose="02020603050405020304" pitchFamily="18" charset="0"/>
              </a:rPr>
              <a:t> Separable Convolutions</a:t>
            </a:r>
            <a:r>
              <a:rPr lang="en-US" sz="1600" dirty="0">
                <a:latin typeface="Times New Roman" panose="02020603050405020304" pitchFamily="18" charset="0"/>
                <a:cs typeface="Times New Roman" panose="02020603050405020304" pitchFamily="18" charset="0"/>
              </a:rPr>
              <a:t> are applied, where convolutions are split into two operations: one for filtering and one for combining. This reduces the number of parameters and computations, making the model efficient.</a:t>
            </a:r>
          </a:p>
          <a:p>
            <a:pPr algn="just">
              <a:lnSpc>
                <a:spcPct val="150000"/>
              </a:lnSpc>
            </a:pPr>
            <a:r>
              <a:rPr lang="en-US" sz="1600" b="1" dirty="0">
                <a:latin typeface="Times New Roman" panose="02020603050405020304" pitchFamily="18" charset="0"/>
                <a:cs typeface="Times New Roman" panose="02020603050405020304" pitchFamily="18" charset="0"/>
              </a:rPr>
              <a:t>Classification</a:t>
            </a:r>
            <a:r>
              <a:rPr lang="en-US" sz="1600" dirty="0">
                <a:latin typeface="Times New Roman" panose="02020603050405020304" pitchFamily="18" charset="0"/>
                <a:cs typeface="Times New Roman" panose="02020603050405020304" pitchFamily="18" charset="0"/>
              </a:rPr>
              <a:t>: The extracted features are passed through fully connected layers.</a:t>
            </a:r>
          </a:p>
          <a:p>
            <a:pPr lvl="1" algn="just">
              <a:lnSpc>
                <a:spcPct val="150000"/>
              </a:lnSpc>
            </a:pPr>
            <a:r>
              <a:rPr lang="en-US" sz="1600" dirty="0">
                <a:latin typeface="Times New Roman" panose="02020603050405020304" pitchFamily="18" charset="0"/>
                <a:cs typeface="Times New Roman" panose="02020603050405020304" pitchFamily="18" charset="0"/>
              </a:rPr>
              <a:t>A </a:t>
            </a:r>
            <a:r>
              <a:rPr lang="en-US" sz="1600" b="1" dirty="0">
                <a:latin typeface="Times New Roman" panose="02020603050405020304" pitchFamily="18" charset="0"/>
                <a:cs typeface="Times New Roman" panose="02020603050405020304" pitchFamily="18" charset="0"/>
              </a:rPr>
              <a:t>dropout layer</a:t>
            </a:r>
            <a:r>
              <a:rPr lang="en-US" sz="1600" dirty="0">
                <a:latin typeface="Times New Roman" panose="02020603050405020304" pitchFamily="18" charset="0"/>
                <a:cs typeface="Times New Roman" panose="02020603050405020304" pitchFamily="18" charset="0"/>
              </a:rPr>
              <a:t> helps prevent overfitting.</a:t>
            </a:r>
          </a:p>
          <a:p>
            <a:pPr lvl="1" algn="just">
              <a:lnSpc>
                <a:spcPct val="150000"/>
              </a:lnSpc>
            </a:pPr>
            <a:r>
              <a:rPr lang="en-US" sz="1600" dirty="0">
                <a:latin typeface="Times New Roman" panose="02020603050405020304" pitchFamily="18" charset="0"/>
                <a:cs typeface="Times New Roman" panose="02020603050405020304" pitchFamily="18" charset="0"/>
              </a:rPr>
              <a:t>A </a:t>
            </a:r>
            <a:r>
              <a:rPr lang="en-US" sz="1600" dirty="0" err="1">
                <a:latin typeface="Times New Roman" panose="02020603050405020304" pitchFamily="18" charset="0"/>
                <a:cs typeface="Times New Roman" panose="02020603050405020304" pitchFamily="18" charset="0"/>
              </a:rPr>
              <a:t>softmax</a:t>
            </a:r>
            <a:r>
              <a:rPr lang="en-US" sz="1600" dirty="0">
                <a:latin typeface="Times New Roman" panose="02020603050405020304" pitchFamily="18" charset="0"/>
                <a:cs typeface="Times New Roman" panose="02020603050405020304" pitchFamily="18" charset="0"/>
              </a:rPr>
              <a:t> layer classifies the fingerprints into one of the eight blood groups.</a:t>
            </a:r>
          </a:p>
          <a:p>
            <a:pPr algn="just">
              <a:lnSpc>
                <a:spcPct val="150000"/>
              </a:lnSpc>
            </a:pPr>
            <a:r>
              <a:rPr lang="en-US" sz="1600" b="1" dirty="0">
                <a:latin typeface="Times New Roman" panose="02020603050405020304" pitchFamily="18" charset="0"/>
                <a:cs typeface="Times New Roman" panose="02020603050405020304" pitchFamily="18" charset="0"/>
              </a:rPr>
              <a:t>Training</a:t>
            </a:r>
            <a:r>
              <a:rPr lang="en-US" sz="1600" dirty="0">
                <a:latin typeface="Times New Roman" panose="02020603050405020304" pitchFamily="18" charset="0"/>
                <a:cs typeface="Times New Roman" panose="02020603050405020304" pitchFamily="18" charset="0"/>
              </a:rPr>
              <a:t>: The model is trained with categorical cross-entropy loss, optimizing the classification accuracy. Adam optimizer and dropout layers are used to improve performance and prevent overfitting.</a:t>
            </a:r>
          </a:p>
        </p:txBody>
      </p:sp>
    </p:spTree>
    <p:extLst>
      <p:ext uri="{BB962C8B-B14F-4D97-AF65-F5344CB8AC3E}">
        <p14:creationId xmlns:p14="http://schemas.microsoft.com/office/powerpoint/2010/main" val="362132552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975634" y="1022168"/>
            <a:ext cx="10267404" cy="793567"/>
          </a:xfrm>
        </p:spPr>
        <p:txBody>
          <a:bodyPr>
            <a:normAutofit fontScale="90000"/>
          </a:bodyPr>
          <a:lstStyle/>
          <a:p>
            <a:pPr lvl="2">
              <a:lnSpc>
                <a:spcPct val="170000"/>
              </a:lnSpc>
            </a:pPr>
            <a:r>
              <a:rPr lang="en-US" sz="3300" dirty="0" smtClean="0">
                <a:latin typeface="Times New Roman" panose="02020603050405020304" pitchFamily="18" charset="0"/>
                <a:cs typeface="Times New Roman" panose="02020603050405020304" pitchFamily="18" charset="0"/>
              </a:rPr>
              <a:t>Working Process </a:t>
            </a: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4" name="Rectangle 3"/>
          <p:cNvSpPr/>
          <p:nvPr/>
        </p:nvSpPr>
        <p:spPr>
          <a:xfrm>
            <a:off x="679544" y="1418951"/>
            <a:ext cx="11259908" cy="4893647"/>
          </a:xfrm>
          <a:prstGeom prst="rect">
            <a:avLst/>
          </a:prstGeom>
        </p:spPr>
        <p:txBody>
          <a:bodyPr wrap="square">
            <a:spAutoFit/>
          </a:bodyPr>
          <a:lstStyle/>
          <a:p>
            <a:pPr algn="just">
              <a:lnSpc>
                <a:spcPct val="150000"/>
              </a:lnSpc>
            </a:pPr>
            <a:r>
              <a:rPr lang="en-US" sz="1600" b="1" dirty="0" err="1" smtClean="0">
                <a:latin typeface="Times New Roman" panose="02020603050405020304" pitchFamily="18" charset="0"/>
                <a:cs typeface="Times New Roman" panose="02020603050405020304" pitchFamily="18" charset="0"/>
              </a:rPr>
              <a:t>ResNet</a:t>
            </a:r>
            <a:r>
              <a:rPr lang="en-US" sz="1600" b="1" dirty="0" smtClean="0">
                <a:latin typeface="Times New Roman" panose="02020603050405020304" pitchFamily="18" charset="0"/>
                <a:cs typeface="Times New Roman" panose="02020603050405020304" pitchFamily="18" charset="0"/>
              </a:rPr>
              <a:t> + RNN</a:t>
            </a:r>
          </a:p>
          <a:p>
            <a:pPr algn="just">
              <a:lnSpc>
                <a:spcPct val="150000"/>
              </a:lnSpc>
            </a:pPr>
            <a:r>
              <a:rPr lang="en-US" sz="1600" b="1" dirty="0" smtClean="0">
                <a:latin typeface="Times New Roman" panose="02020603050405020304" pitchFamily="18" charset="0"/>
                <a:cs typeface="Times New Roman" panose="02020603050405020304" pitchFamily="18" charset="0"/>
              </a:rPr>
              <a:t>Working Process</a:t>
            </a:r>
            <a:r>
              <a:rPr lang="en-US" sz="1600" dirty="0" smtClean="0">
                <a:latin typeface="Times New Roman" panose="02020603050405020304" pitchFamily="18" charset="0"/>
                <a:cs typeface="Times New Roman" panose="02020603050405020304" pitchFamily="18" charset="0"/>
              </a:rPr>
              <a:t>:</a:t>
            </a:r>
          </a:p>
          <a:p>
            <a:pPr algn="just">
              <a:lnSpc>
                <a:spcPct val="150000"/>
              </a:lnSpc>
              <a:buFont typeface="+mj-lt"/>
              <a:buAutoNum type="arabicPeriod"/>
            </a:pPr>
            <a:r>
              <a:rPr lang="en-US" sz="1600" b="1" dirty="0" smtClean="0">
                <a:latin typeface="Times New Roman" panose="02020603050405020304" pitchFamily="18" charset="0"/>
                <a:cs typeface="Times New Roman" panose="02020603050405020304" pitchFamily="18" charset="0"/>
              </a:rPr>
              <a:t>Input Processing</a:t>
            </a:r>
            <a:r>
              <a:rPr lang="en-US" sz="1600" dirty="0" smtClean="0">
                <a:latin typeface="Times New Roman" panose="02020603050405020304" pitchFamily="18" charset="0"/>
                <a:cs typeface="Times New Roman" panose="02020603050405020304" pitchFamily="18" charset="0"/>
              </a:rPr>
              <a:t>: Images are resized to 128x128 pixels and augmented with transformations such as rotation and zoom.</a:t>
            </a:r>
          </a:p>
          <a:p>
            <a:pPr algn="just">
              <a:lnSpc>
                <a:spcPct val="150000"/>
              </a:lnSpc>
              <a:buFont typeface="+mj-lt"/>
              <a:buAutoNum type="arabicPeriod"/>
            </a:pPr>
            <a:r>
              <a:rPr lang="en-US" sz="1600" b="1" dirty="0" err="1" smtClean="0">
                <a:latin typeface="Times New Roman" panose="02020603050405020304" pitchFamily="18" charset="0"/>
                <a:cs typeface="Times New Roman" panose="02020603050405020304" pitchFamily="18" charset="0"/>
              </a:rPr>
              <a:t>ResNet</a:t>
            </a:r>
            <a:r>
              <a:rPr lang="en-US" sz="1600" b="1" dirty="0" smtClean="0">
                <a:latin typeface="Times New Roman" panose="02020603050405020304" pitchFamily="18" charset="0"/>
                <a:cs typeface="Times New Roman" panose="02020603050405020304" pitchFamily="18" charset="0"/>
              </a:rPr>
              <a:t> Feature Extraction</a:t>
            </a:r>
            <a:r>
              <a:rPr lang="en-US" sz="1600" dirty="0" smtClean="0">
                <a:latin typeface="Times New Roman" panose="02020603050405020304" pitchFamily="18" charset="0"/>
                <a:cs typeface="Times New Roman" panose="02020603050405020304" pitchFamily="18" charset="0"/>
              </a:rPr>
              <a:t>:</a:t>
            </a:r>
          </a:p>
          <a:p>
            <a:pPr marL="742950" lvl="1" indent="-285750" algn="just">
              <a:lnSpc>
                <a:spcPct val="150000"/>
              </a:lnSpc>
              <a:buFont typeface="+mj-lt"/>
              <a:buAutoNum type="arabicPeriod"/>
            </a:pPr>
            <a:r>
              <a:rPr lang="en-US" sz="1600" b="1" dirty="0" smtClean="0">
                <a:latin typeface="Times New Roman" panose="02020603050405020304" pitchFamily="18" charset="0"/>
                <a:cs typeface="Times New Roman" panose="02020603050405020304" pitchFamily="18" charset="0"/>
              </a:rPr>
              <a:t>ResNet50</a:t>
            </a:r>
            <a:r>
              <a:rPr lang="en-US" sz="1600" dirty="0" smtClean="0">
                <a:latin typeface="Times New Roman" panose="02020603050405020304" pitchFamily="18" charset="0"/>
                <a:cs typeface="Times New Roman" panose="02020603050405020304" pitchFamily="18" charset="0"/>
              </a:rPr>
              <a:t> (a residual network with 50 layers) is used to extract features. Skip connections in </a:t>
            </a:r>
            <a:r>
              <a:rPr lang="en-US" sz="1600" dirty="0" err="1" smtClean="0">
                <a:latin typeface="Times New Roman" panose="02020603050405020304" pitchFamily="18" charset="0"/>
                <a:cs typeface="Times New Roman" panose="02020603050405020304" pitchFamily="18" charset="0"/>
              </a:rPr>
              <a:t>ResNet</a:t>
            </a:r>
            <a:r>
              <a:rPr lang="en-US" sz="1600" dirty="0" smtClean="0">
                <a:latin typeface="Times New Roman" panose="02020603050405020304" pitchFamily="18" charset="0"/>
                <a:cs typeface="Times New Roman" panose="02020603050405020304" pitchFamily="18" charset="0"/>
              </a:rPr>
              <a:t> help overcome the vanishing gradient problem, ensuring that deeper layers still learn effectively.</a:t>
            </a:r>
          </a:p>
          <a:p>
            <a:pPr marL="742950" lvl="1" indent="-285750" algn="just">
              <a:lnSpc>
                <a:spcPct val="150000"/>
              </a:lnSpc>
              <a:buFont typeface="+mj-lt"/>
              <a:buAutoNum type="arabicPeriod"/>
            </a:pPr>
            <a:r>
              <a:rPr lang="en-US" sz="1600" dirty="0" smtClean="0">
                <a:latin typeface="Times New Roman" panose="02020603050405020304" pitchFamily="18" charset="0"/>
                <a:cs typeface="Times New Roman" panose="02020603050405020304" pitchFamily="18" charset="0"/>
              </a:rPr>
              <a:t>The model captures various levels of fingerprint details, such as ridges and textures.</a:t>
            </a:r>
          </a:p>
          <a:p>
            <a:pPr algn="just">
              <a:lnSpc>
                <a:spcPct val="150000"/>
              </a:lnSpc>
              <a:buFont typeface="+mj-lt"/>
              <a:buAutoNum type="arabicPeriod"/>
            </a:pPr>
            <a:r>
              <a:rPr lang="en-US" sz="1600" b="1" dirty="0" smtClean="0">
                <a:latin typeface="Times New Roman" panose="02020603050405020304" pitchFamily="18" charset="0"/>
                <a:cs typeface="Times New Roman" panose="02020603050405020304" pitchFamily="18" charset="0"/>
              </a:rPr>
              <a:t>Global Average Pooling</a:t>
            </a:r>
            <a:r>
              <a:rPr lang="en-US" sz="1600" dirty="0" smtClean="0">
                <a:latin typeface="Times New Roman" panose="02020603050405020304" pitchFamily="18" charset="0"/>
                <a:cs typeface="Times New Roman" panose="02020603050405020304" pitchFamily="18" charset="0"/>
              </a:rPr>
              <a:t>: This reduces the spatial dimensions of the feature maps, keeping essential information while minimizing computation.</a:t>
            </a:r>
          </a:p>
          <a:p>
            <a:pPr algn="just">
              <a:lnSpc>
                <a:spcPct val="150000"/>
              </a:lnSpc>
              <a:buFont typeface="+mj-lt"/>
              <a:buAutoNum type="arabicPeriod"/>
            </a:pPr>
            <a:r>
              <a:rPr lang="en-US" sz="1600" b="1" dirty="0" smtClean="0">
                <a:latin typeface="Times New Roman" panose="02020603050405020304" pitchFamily="18" charset="0"/>
                <a:cs typeface="Times New Roman" panose="02020603050405020304" pitchFamily="18" charset="0"/>
              </a:rPr>
              <a:t>RNN Integration</a:t>
            </a:r>
            <a:r>
              <a:rPr lang="en-US" sz="1600" dirty="0" smtClean="0">
                <a:latin typeface="Times New Roman" panose="02020603050405020304" pitchFamily="18" charset="0"/>
                <a:cs typeface="Times New Roman" panose="02020603050405020304" pitchFamily="18" charset="0"/>
              </a:rPr>
              <a:t>: After feature extraction, the flattened output is passed into an </a:t>
            </a:r>
            <a:r>
              <a:rPr lang="en-US" sz="1600" b="1" dirty="0" smtClean="0">
                <a:latin typeface="Times New Roman" panose="02020603050405020304" pitchFamily="18" charset="0"/>
                <a:cs typeface="Times New Roman" panose="02020603050405020304" pitchFamily="18" charset="0"/>
              </a:rPr>
              <a:t>RNN layer</a:t>
            </a:r>
            <a:r>
              <a:rPr lang="en-US" sz="1600" dirty="0" smtClean="0">
                <a:latin typeface="Times New Roman" panose="02020603050405020304" pitchFamily="18" charset="0"/>
                <a:cs typeface="Times New Roman" panose="02020603050405020304" pitchFamily="18" charset="0"/>
              </a:rPr>
              <a:t> to capture any potential sequential patterns in the fingerprint data. This adds a temporal understanding to the feature learning process.</a:t>
            </a:r>
          </a:p>
          <a:p>
            <a:pPr algn="just">
              <a:lnSpc>
                <a:spcPct val="150000"/>
              </a:lnSpc>
              <a:buFont typeface="+mj-lt"/>
              <a:buAutoNum type="arabicPeriod"/>
            </a:pPr>
            <a:r>
              <a:rPr lang="en-US" sz="1600" b="1" dirty="0" smtClean="0">
                <a:latin typeface="Times New Roman" panose="02020603050405020304" pitchFamily="18" charset="0"/>
                <a:cs typeface="Times New Roman" panose="02020603050405020304" pitchFamily="18" charset="0"/>
              </a:rPr>
              <a:t>Output</a:t>
            </a:r>
            <a:r>
              <a:rPr lang="en-US" sz="1600" dirty="0" smtClean="0">
                <a:latin typeface="Times New Roman" panose="02020603050405020304" pitchFamily="18" charset="0"/>
                <a:cs typeface="Times New Roman" panose="02020603050405020304" pitchFamily="18" charset="0"/>
              </a:rPr>
              <a:t>: A </a:t>
            </a:r>
            <a:r>
              <a:rPr lang="en-US" sz="1600" dirty="0" err="1" smtClean="0">
                <a:latin typeface="Times New Roman" panose="02020603050405020304" pitchFamily="18" charset="0"/>
                <a:cs typeface="Times New Roman" panose="02020603050405020304" pitchFamily="18" charset="0"/>
              </a:rPr>
              <a:t>softmax</a:t>
            </a:r>
            <a:r>
              <a:rPr lang="en-US" sz="1600" dirty="0" smtClean="0">
                <a:latin typeface="Times New Roman" panose="02020603050405020304" pitchFamily="18" charset="0"/>
                <a:cs typeface="Times New Roman" panose="02020603050405020304" pitchFamily="18" charset="0"/>
              </a:rPr>
              <a:t> layer classifies the fingerprint into one of the nine blood group categories.</a:t>
            </a:r>
          </a:p>
          <a:p>
            <a:pPr algn="just">
              <a:lnSpc>
                <a:spcPct val="150000"/>
              </a:lnSpc>
              <a:buFont typeface="+mj-lt"/>
              <a:buAutoNum type="arabicPeriod"/>
            </a:pPr>
            <a:r>
              <a:rPr lang="en-US" sz="1600" b="1" dirty="0" smtClean="0">
                <a:latin typeface="Times New Roman" panose="02020603050405020304" pitchFamily="18" charset="0"/>
                <a:cs typeface="Times New Roman" panose="02020603050405020304" pitchFamily="18" charset="0"/>
              </a:rPr>
              <a:t>Training</a:t>
            </a:r>
            <a:r>
              <a:rPr lang="en-US" sz="1600" dirty="0" smtClean="0">
                <a:latin typeface="Times New Roman" panose="02020603050405020304" pitchFamily="18" charset="0"/>
                <a:cs typeface="Times New Roman" panose="02020603050405020304" pitchFamily="18" charset="0"/>
              </a:rPr>
              <a:t>: The model is trained using categorical cross-entropy loss, with early stopping applied to prevent overfitting.</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182828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805817" y="708660"/>
            <a:ext cx="10267404" cy="793567"/>
          </a:xfrm>
        </p:spPr>
        <p:txBody>
          <a:bodyPr>
            <a:normAutofit fontScale="90000"/>
          </a:bodyPr>
          <a:lstStyle/>
          <a:p>
            <a:pPr lvl="2">
              <a:lnSpc>
                <a:spcPct val="170000"/>
              </a:lnSpc>
            </a:pPr>
            <a:r>
              <a:rPr lang="en-US" sz="3300" dirty="0" smtClean="0">
                <a:latin typeface="Times New Roman" panose="02020603050405020304" pitchFamily="18" charset="0"/>
                <a:cs typeface="Times New Roman" panose="02020603050405020304" pitchFamily="18" charset="0"/>
              </a:rPr>
              <a:t>Working Process </a:t>
            </a: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4" name="Rectangle 3"/>
          <p:cNvSpPr/>
          <p:nvPr/>
        </p:nvSpPr>
        <p:spPr>
          <a:xfrm>
            <a:off x="805817" y="708660"/>
            <a:ext cx="11172823" cy="5957400"/>
          </a:xfrm>
          <a:prstGeom prst="rect">
            <a:avLst/>
          </a:prstGeom>
        </p:spPr>
        <p:txBody>
          <a:bodyPr wrap="square">
            <a:spAutoFit/>
          </a:bodyPr>
          <a:lstStyle/>
          <a:p>
            <a:pPr algn="just">
              <a:lnSpc>
                <a:spcPct val="150000"/>
              </a:lnSpc>
            </a:pPr>
            <a:r>
              <a:rPr lang="en-US" sz="1600" b="1" dirty="0">
                <a:latin typeface="Times New Roman" panose="02020603050405020304" pitchFamily="18" charset="0"/>
                <a:cs typeface="Times New Roman" panose="02020603050405020304" pitchFamily="18" charset="0"/>
              </a:rPr>
              <a:t>Vision Transformer (</a:t>
            </a:r>
            <a:r>
              <a:rPr lang="en-US" sz="1600" b="1" dirty="0" err="1">
                <a:latin typeface="Times New Roman" panose="02020603050405020304" pitchFamily="18" charset="0"/>
                <a:cs typeface="Times New Roman" panose="02020603050405020304" pitchFamily="18" charset="0"/>
              </a:rPr>
              <a:t>ViT</a:t>
            </a:r>
            <a:r>
              <a:rPr lang="en-US" sz="1600" b="1" dirty="0">
                <a:latin typeface="Times New Roman" panose="02020603050405020304" pitchFamily="18" charset="0"/>
                <a:cs typeface="Times New Roman" panose="02020603050405020304" pitchFamily="18" charset="0"/>
              </a:rPr>
              <a:t>)</a:t>
            </a:r>
          </a:p>
          <a:p>
            <a:pPr algn="just">
              <a:lnSpc>
                <a:spcPct val="150000"/>
              </a:lnSpc>
            </a:pPr>
            <a:r>
              <a:rPr lang="en-US" sz="1600" b="1" dirty="0">
                <a:latin typeface="Times New Roman" panose="02020603050405020304" pitchFamily="18" charset="0"/>
                <a:cs typeface="Times New Roman" panose="02020603050405020304" pitchFamily="18" charset="0"/>
              </a:rPr>
              <a:t>Working Process</a:t>
            </a:r>
            <a:r>
              <a:rPr lang="en-US" sz="1600" dirty="0">
                <a:latin typeface="Times New Roman" panose="02020603050405020304" pitchFamily="18" charset="0"/>
                <a:cs typeface="Times New Roman" panose="02020603050405020304" pitchFamily="18" charset="0"/>
              </a:rPr>
              <a:t>:</a:t>
            </a:r>
          </a:p>
          <a:p>
            <a:pPr algn="just">
              <a:lnSpc>
                <a:spcPct val="150000"/>
              </a:lnSpc>
              <a:buFont typeface="+mj-lt"/>
              <a:buAutoNum type="arabicPeriod"/>
            </a:pPr>
            <a:r>
              <a:rPr lang="en-US" sz="1600" b="1" dirty="0">
                <a:latin typeface="Times New Roman" panose="02020603050405020304" pitchFamily="18" charset="0"/>
                <a:cs typeface="Times New Roman" panose="02020603050405020304" pitchFamily="18" charset="0"/>
              </a:rPr>
              <a:t>Image Preprocessing</a:t>
            </a:r>
            <a:r>
              <a:rPr lang="en-US" sz="1600" dirty="0">
                <a:latin typeface="Times New Roman" panose="02020603050405020304" pitchFamily="18" charset="0"/>
                <a:cs typeface="Times New Roman" panose="02020603050405020304" pitchFamily="18" charset="0"/>
              </a:rPr>
              <a:t>: Images are resized to 224x224 pixels and fed into the model. Data augmentation, such as rotation and flipping, is applied to create variety in the input data.</a:t>
            </a:r>
          </a:p>
          <a:p>
            <a:pPr algn="just">
              <a:lnSpc>
                <a:spcPct val="150000"/>
              </a:lnSpc>
              <a:buFont typeface="+mj-lt"/>
              <a:buAutoNum type="arabicPeriod"/>
            </a:pPr>
            <a:r>
              <a:rPr lang="en-US" sz="1600" b="1" dirty="0">
                <a:latin typeface="Times New Roman" panose="02020603050405020304" pitchFamily="18" charset="0"/>
                <a:cs typeface="Times New Roman" panose="02020603050405020304" pitchFamily="18" charset="0"/>
              </a:rPr>
              <a:t>Image Patches</a:t>
            </a:r>
            <a:r>
              <a:rPr lang="en-US" sz="1600" dirty="0">
                <a:latin typeface="Times New Roman" panose="02020603050405020304" pitchFamily="18" charset="0"/>
                <a:cs typeface="Times New Roman" panose="02020603050405020304" pitchFamily="18" charset="0"/>
              </a:rPr>
              <a:t>: Instead of traditional convolutions, </a:t>
            </a:r>
            <a:r>
              <a:rPr lang="en-US" sz="1600" dirty="0" err="1">
                <a:latin typeface="Times New Roman" panose="02020603050405020304" pitchFamily="18" charset="0"/>
                <a:cs typeface="Times New Roman" panose="02020603050405020304" pitchFamily="18" charset="0"/>
              </a:rPr>
              <a:t>ViT</a:t>
            </a:r>
            <a:r>
              <a:rPr lang="en-US" sz="1600" dirty="0">
                <a:latin typeface="Times New Roman" panose="02020603050405020304" pitchFamily="18" charset="0"/>
                <a:cs typeface="Times New Roman" panose="02020603050405020304" pitchFamily="18" charset="0"/>
              </a:rPr>
              <a:t> splits each image into </a:t>
            </a:r>
            <a:r>
              <a:rPr lang="en-US" sz="1600" b="1" dirty="0">
                <a:latin typeface="Times New Roman" panose="02020603050405020304" pitchFamily="18" charset="0"/>
                <a:cs typeface="Times New Roman" panose="02020603050405020304" pitchFamily="18" charset="0"/>
              </a:rPr>
              <a:t>16x16 patches</a:t>
            </a:r>
            <a:r>
              <a:rPr lang="en-US" sz="1600" dirty="0">
                <a:latin typeface="Times New Roman" panose="02020603050405020304" pitchFamily="18" charset="0"/>
                <a:cs typeface="Times New Roman" panose="02020603050405020304" pitchFamily="18" charset="0"/>
              </a:rPr>
              <a:t>. Each patch is treated as a token (like words in NLP).</a:t>
            </a:r>
          </a:p>
          <a:p>
            <a:pPr algn="just">
              <a:lnSpc>
                <a:spcPct val="150000"/>
              </a:lnSpc>
              <a:buFont typeface="+mj-lt"/>
              <a:buAutoNum type="arabicPeriod"/>
            </a:pPr>
            <a:r>
              <a:rPr lang="en-US" sz="1600" b="1" dirty="0">
                <a:latin typeface="Times New Roman" panose="02020603050405020304" pitchFamily="18" charset="0"/>
                <a:cs typeface="Times New Roman" panose="02020603050405020304" pitchFamily="18" charset="0"/>
              </a:rPr>
              <a:t>Linear Embedding</a:t>
            </a:r>
            <a:r>
              <a:rPr lang="en-US" sz="1600" dirty="0">
                <a:latin typeface="Times New Roman" panose="02020603050405020304" pitchFamily="18" charset="0"/>
                <a:cs typeface="Times New Roman" panose="02020603050405020304" pitchFamily="18" charset="0"/>
              </a:rPr>
              <a:t>: Each patch is linearly embedded into a vector, capturing features in each region of the image.</a:t>
            </a:r>
          </a:p>
          <a:p>
            <a:pPr algn="just">
              <a:lnSpc>
                <a:spcPct val="150000"/>
              </a:lnSpc>
              <a:buFont typeface="+mj-lt"/>
              <a:buAutoNum type="arabicPeriod"/>
            </a:pPr>
            <a:r>
              <a:rPr lang="en-US" sz="1600" b="1" dirty="0">
                <a:latin typeface="Times New Roman" panose="02020603050405020304" pitchFamily="18" charset="0"/>
                <a:cs typeface="Times New Roman" panose="02020603050405020304" pitchFamily="18" charset="0"/>
              </a:rPr>
              <a:t>Self-Attention Mechanism</a:t>
            </a:r>
            <a:r>
              <a:rPr lang="en-US" sz="1600" dirty="0">
                <a:latin typeface="Times New Roman" panose="02020603050405020304" pitchFamily="18" charset="0"/>
                <a:cs typeface="Times New Roman" panose="02020603050405020304" pitchFamily="18" charset="0"/>
              </a:rPr>
              <a:t>:</a:t>
            </a:r>
          </a:p>
          <a:p>
            <a:pPr marL="742950" lvl="1" indent="-285750" algn="just">
              <a:lnSpc>
                <a:spcPct val="150000"/>
              </a:lnSpc>
              <a:buFont typeface="+mj-lt"/>
              <a:buAutoNum type="arabicPeriod"/>
            </a:pPr>
            <a:r>
              <a:rPr lang="en-US" sz="1600" dirty="0" err="1">
                <a:latin typeface="Times New Roman" panose="02020603050405020304" pitchFamily="18" charset="0"/>
                <a:cs typeface="Times New Roman" panose="02020603050405020304" pitchFamily="18" charset="0"/>
              </a:rPr>
              <a:t>ViT</a:t>
            </a:r>
            <a:r>
              <a:rPr lang="en-US" sz="1600" dirty="0">
                <a:latin typeface="Times New Roman" panose="02020603050405020304" pitchFamily="18" charset="0"/>
                <a:cs typeface="Times New Roman" panose="02020603050405020304" pitchFamily="18" charset="0"/>
              </a:rPr>
              <a:t> applies the </a:t>
            </a:r>
            <a:r>
              <a:rPr lang="en-US" sz="1600" b="1" dirty="0">
                <a:latin typeface="Times New Roman" panose="02020603050405020304" pitchFamily="18" charset="0"/>
                <a:cs typeface="Times New Roman" panose="02020603050405020304" pitchFamily="18" charset="0"/>
              </a:rPr>
              <a:t>self-attention mechanism</a:t>
            </a:r>
            <a:r>
              <a:rPr lang="en-US" sz="1600" dirty="0">
                <a:latin typeface="Times New Roman" panose="02020603050405020304" pitchFamily="18" charset="0"/>
                <a:cs typeface="Times New Roman" panose="02020603050405020304" pitchFamily="18" charset="0"/>
              </a:rPr>
              <a:t> to understand global relationships between patches. This helps the model capture long-range dependencies across different areas of the fingerprint.</a:t>
            </a:r>
          </a:p>
          <a:p>
            <a:pPr algn="just">
              <a:lnSpc>
                <a:spcPct val="150000"/>
              </a:lnSpc>
              <a:buFont typeface="+mj-lt"/>
              <a:buAutoNum type="arabicPeriod"/>
            </a:pPr>
            <a:r>
              <a:rPr lang="en-US" sz="1600" b="1" dirty="0">
                <a:latin typeface="Times New Roman" panose="02020603050405020304" pitchFamily="18" charset="0"/>
                <a:cs typeface="Times New Roman" panose="02020603050405020304" pitchFamily="18" charset="0"/>
              </a:rPr>
              <a:t>Positional Encoding</a:t>
            </a:r>
            <a:r>
              <a:rPr lang="en-US" sz="1600" dirty="0">
                <a:latin typeface="Times New Roman" panose="02020603050405020304" pitchFamily="18" charset="0"/>
                <a:cs typeface="Times New Roman" panose="02020603050405020304" pitchFamily="18" charset="0"/>
              </a:rPr>
              <a:t>: Since transformers don't inherently understand the spatial relationships between patches, positional encoding is added to retain information about the positions of the patches in the original image.</a:t>
            </a:r>
          </a:p>
          <a:p>
            <a:pPr algn="just">
              <a:lnSpc>
                <a:spcPct val="150000"/>
              </a:lnSpc>
              <a:buFont typeface="+mj-lt"/>
              <a:buAutoNum type="arabicPeriod"/>
            </a:pPr>
            <a:r>
              <a:rPr lang="en-US" sz="1600" b="1" dirty="0">
                <a:latin typeface="Times New Roman" panose="02020603050405020304" pitchFamily="18" charset="0"/>
                <a:cs typeface="Times New Roman" panose="02020603050405020304" pitchFamily="18" charset="0"/>
              </a:rPr>
              <a:t>Classification Head</a:t>
            </a:r>
            <a:r>
              <a:rPr lang="en-US" sz="1600" dirty="0">
                <a:latin typeface="Times New Roman" panose="02020603050405020304" pitchFamily="18" charset="0"/>
                <a:cs typeface="Times New Roman" panose="02020603050405020304" pitchFamily="18" charset="0"/>
              </a:rPr>
              <a:t>: The final output from the transformer layers is passed through a </a:t>
            </a:r>
            <a:r>
              <a:rPr lang="en-US" sz="1600" dirty="0" err="1">
                <a:latin typeface="Times New Roman" panose="02020603050405020304" pitchFamily="18" charset="0"/>
                <a:cs typeface="Times New Roman" panose="02020603050405020304" pitchFamily="18" charset="0"/>
              </a:rPr>
              <a:t>softmax</a:t>
            </a:r>
            <a:r>
              <a:rPr lang="en-US" sz="1600" dirty="0">
                <a:latin typeface="Times New Roman" panose="02020603050405020304" pitchFamily="18" charset="0"/>
                <a:cs typeface="Times New Roman" panose="02020603050405020304" pitchFamily="18" charset="0"/>
              </a:rPr>
              <a:t> layer to classify the fingerprint into one of the nine blood groups.</a:t>
            </a:r>
          </a:p>
          <a:p>
            <a:pPr algn="just">
              <a:lnSpc>
                <a:spcPct val="150000"/>
              </a:lnSpc>
              <a:buFont typeface="+mj-lt"/>
              <a:buAutoNum type="arabicPeriod"/>
            </a:pPr>
            <a:r>
              <a:rPr lang="en-US" sz="1600" b="1" dirty="0">
                <a:latin typeface="Times New Roman" panose="02020603050405020304" pitchFamily="18" charset="0"/>
                <a:cs typeface="Times New Roman" panose="02020603050405020304" pitchFamily="18" charset="0"/>
              </a:rPr>
              <a:t>Training</a:t>
            </a:r>
            <a:r>
              <a:rPr lang="en-US" sz="1600" dirty="0">
                <a:latin typeface="Times New Roman" panose="02020603050405020304" pitchFamily="18" charset="0"/>
                <a:cs typeface="Times New Roman" panose="02020603050405020304" pitchFamily="18" charset="0"/>
              </a:rPr>
              <a:t>: The </a:t>
            </a:r>
            <a:r>
              <a:rPr lang="en-US" sz="1600" dirty="0" err="1">
                <a:latin typeface="Times New Roman" panose="02020603050405020304" pitchFamily="18" charset="0"/>
                <a:cs typeface="Times New Roman" panose="02020603050405020304" pitchFamily="18" charset="0"/>
              </a:rPr>
              <a:t>ViT</a:t>
            </a:r>
            <a:r>
              <a:rPr lang="en-US" sz="1600" dirty="0">
                <a:latin typeface="Times New Roman" panose="02020603050405020304" pitchFamily="18" charset="0"/>
                <a:cs typeface="Times New Roman" panose="02020603050405020304" pitchFamily="18" charset="0"/>
              </a:rPr>
              <a:t> model is fine-tuned on the fingerprint dataset, using a custom training loop to handle patch extraction and attention mechanisms. The model is optimized using Adam with categorical cross-entropy.</a:t>
            </a:r>
          </a:p>
        </p:txBody>
      </p:sp>
    </p:spTree>
    <p:extLst>
      <p:ext uri="{BB962C8B-B14F-4D97-AF65-F5344CB8AC3E}">
        <p14:creationId xmlns:p14="http://schemas.microsoft.com/office/powerpoint/2010/main" val="58287387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802060" y="1146266"/>
            <a:ext cx="9720072" cy="770709"/>
          </a:xfrm>
        </p:spPr>
        <p:txBody>
          <a:bodyPr>
            <a:normAutofit fontScale="90000"/>
          </a:bodyPr>
          <a:lstStyle/>
          <a:p>
            <a:pPr lvl="2">
              <a:lnSpc>
                <a:spcPct val="170000"/>
              </a:lnSpc>
            </a:pP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5" name="Rectangle 4"/>
          <p:cNvSpPr/>
          <p:nvPr/>
        </p:nvSpPr>
        <p:spPr>
          <a:xfrm>
            <a:off x="802060" y="147061"/>
            <a:ext cx="3166251" cy="458074"/>
          </a:xfrm>
          <a:prstGeom prst="rect">
            <a:avLst/>
          </a:prstGeom>
        </p:spPr>
        <p:txBody>
          <a:bodyPr wrap="none">
            <a:spAutoFit/>
          </a:bodyPr>
          <a:lstStyle/>
          <a:p>
            <a:pPr marL="0" lvl="1" algn="just">
              <a:lnSpc>
                <a:spcPct val="150000"/>
              </a:lnSpc>
            </a:pPr>
            <a:r>
              <a:rPr lang="en-US" b="1" dirty="0" smtClean="0">
                <a:latin typeface="Times New Roman" panose="02020603050405020304" pitchFamily="18" charset="0"/>
                <a:cs typeface="Times New Roman" panose="02020603050405020304" pitchFamily="18" charset="0"/>
              </a:rPr>
              <a:t>FUTURE ENHANCEMENTS</a:t>
            </a:r>
            <a:endParaRPr lang="en-US" b="1" dirty="0">
              <a:latin typeface="Times New Roman" panose="02020603050405020304" pitchFamily="18" charset="0"/>
              <a:cs typeface="Times New Roman" panose="02020603050405020304" pitchFamily="18" charset="0"/>
            </a:endParaRPr>
          </a:p>
        </p:txBody>
      </p:sp>
      <p:sp>
        <p:nvSpPr>
          <p:cNvPr id="3" name="Rectangle 2"/>
          <p:cNvSpPr/>
          <p:nvPr/>
        </p:nvSpPr>
        <p:spPr>
          <a:xfrm>
            <a:off x="781160" y="696575"/>
            <a:ext cx="10846526" cy="6323911"/>
          </a:xfrm>
          <a:prstGeom prst="rect">
            <a:avLst/>
          </a:prstGeom>
        </p:spPr>
        <p:txBody>
          <a:bodyPr wrap="square">
            <a:spAutoFit/>
          </a:bodyPr>
          <a:lstStyle/>
          <a:p>
            <a:pPr algn="just">
              <a:lnSpc>
                <a:spcPct val="150000"/>
              </a:lnSpc>
            </a:pPr>
            <a:r>
              <a:rPr lang="en-IN" sz="1700" dirty="0">
                <a:latin typeface="Times New Roman" panose="02020603050405020304" pitchFamily="18" charset="0"/>
                <a:cs typeface="Times New Roman" panose="02020603050405020304" pitchFamily="18" charset="0"/>
              </a:rPr>
              <a:t>· </a:t>
            </a:r>
            <a:r>
              <a:rPr lang="en-IN" sz="1700" b="1" dirty="0">
                <a:latin typeface="Times New Roman" panose="02020603050405020304" pitchFamily="18" charset="0"/>
                <a:cs typeface="Times New Roman" panose="02020603050405020304" pitchFamily="18" charset="0"/>
              </a:rPr>
              <a:t>Dataset Expansion</a:t>
            </a:r>
            <a:r>
              <a:rPr lang="en-IN" sz="1700" dirty="0">
                <a:latin typeface="Times New Roman" panose="02020603050405020304" pitchFamily="18" charset="0"/>
                <a:cs typeface="Times New Roman" panose="02020603050405020304" pitchFamily="18" charset="0"/>
              </a:rPr>
              <a:t>: Future work could focus on collecting a larger and more diverse dataset of fingerprint images, incorporating various demographic factors such as age, ethnicity, and geographical location. This would enhance the model's robustness and generalizability across different populations.</a:t>
            </a:r>
          </a:p>
          <a:p>
            <a:pPr algn="just">
              <a:lnSpc>
                <a:spcPct val="150000"/>
              </a:lnSpc>
            </a:pPr>
            <a:r>
              <a:rPr lang="en-IN" sz="1700" dirty="0">
                <a:latin typeface="Times New Roman" panose="02020603050405020304" pitchFamily="18" charset="0"/>
                <a:cs typeface="Times New Roman" panose="02020603050405020304" pitchFamily="18" charset="0"/>
              </a:rPr>
              <a:t>· </a:t>
            </a:r>
            <a:r>
              <a:rPr lang="en-IN" sz="1700" b="1" dirty="0">
                <a:latin typeface="Times New Roman" panose="02020603050405020304" pitchFamily="18" charset="0"/>
                <a:cs typeface="Times New Roman" panose="02020603050405020304" pitchFamily="18" charset="0"/>
              </a:rPr>
              <a:t>Hybrid Models</a:t>
            </a:r>
            <a:r>
              <a:rPr lang="en-IN" sz="1700" dirty="0">
                <a:latin typeface="Times New Roman" panose="02020603050405020304" pitchFamily="18" charset="0"/>
                <a:cs typeface="Times New Roman" panose="02020603050405020304" pitchFamily="18" charset="0"/>
              </a:rPr>
              <a:t>: Exploring hybrid approaches that combine multiple machine learning techniques may yield improved accuracy. For instance, integrating CNNs with advanced ensemble methods could enhance feature extraction and classification performance.</a:t>
            </a:r>
          </a:p>
          <a:p>
            <a:pPr algn="just">
              <a:lnSpc>
                <a:spcPct val="150000"/>
              </a:lnSpc>
            </a:pPr>
            <a:r>
              <a:rPr lang="en-IN" sz="1700" dirty="0">
                <a:latin typeface="Times New Roman" panose="02020603050405020304" pitchFamily="18" charset="0"/>
                <a:cs typeface="Times New Roman" panose="02020603050405020304" pitchFamily="18" charset="0"/>
              </a:rPr>
              <a:t>·</a:t>
            </a:r>
            <a:r>
              <a:rPr lang="en-IN" sz="1700" b="1" dirty="0">
                <a:latin typeface="Times New Roman" panose="02020603050405020304" pitchFamily="18" charset="0"/>
                <a:cs typeface="Times New Roman" panose="02020603050405020304" pitchFamily="18" charset="0"/>
              </a:rPr>
              <a:t>Integration with Other Biometric Data</a:t>
            </a:r>
            <a:r>
              <a:rPr lang="en-IN" sz="1700" dirty="0">
                <a:latin typeface="Times New Roman" panose="02020603050405020304" pitchFamily="18" charset="0"/>
                <a:cs typeface="Times New Roman" panose="02020603050405020304" pitchFamily="18" charset="0"/>
              </a:rPr>
              <a:t>: Future enhancements could investigate the integration of fingerprint analysis with other biometric modalities, such as facial recognition or iris scanning, to create a more comprehensive identification system for medical applications.</a:t>
            </a:r>
          </a:p>
          <a:p>
            <a:pPr algn="just">
              <a:lnSpc>
                <a:spcPct val="150000"/>
              </a:lnSpc>
            </a:pPr>
            <a:r>
              <a:rPr lang="en-IN" sz="1700" dirty="0">
                <a:latin typeface="Times New Roman" panose="02020603050405020304" pitchFamily="18" charset="0"/>
                <a:cs typeface="Times New Roman" panose="02020603050405020304" pitchFamily="18" charset="0"/>
              </a:rPr>
              <a:t>·</a:t>
            </a:r>
            <a:r>
              <a:rPr lang="en-IN" sz="1700" b="1" dirty="0">
                <a:latin typeface="Times New Roman" panose="02020603050405020304" pitchFamily="18" charset="0"/>
                <a:cs typeface="Times New Roman" panose="02020603050405020304" pitchFamily="18" charset="0"/>
              </a:rPr>
              <a:t>Deep Learning Optimization</a:t>
            </a:r>
            <a:r>
              <a:rPr lang="en-IN" sz="1700" dirty="0">
                <a:latin typeface="Times New Roman" panose="02020603050405020304" pitchFamily="18" charset="0"/>
                <a:cs typeface="Times New Roman" panose="02020603050405020304" pitchFamily="18" charset="0"/>
              </a:rPr>
              <a:t>: Further research could focus on optimizing the existing algorithms for efficiency, such as model pruning or quantization, making them suitable for deployment on low-power devices without compromising accuracy.</a:t>
            </a:r>
          </a:p>
          <a:p>
            <a:pPr algn="just">
              <a:lnSpc>
                <a:spcPct val="150000"/>
              </a:lnSpc>
            </a:pPr>
            <a:r>
              <a:rPr lang="en-IN" sz="1700" dirty="0">
                <a:latin typeface="Times New Roman" panose="02020603050405020304" pitchFamily="18" charset="0"/>
                <a:cs typeface="Times New Roman" panose="02020603050405020304" pitchFamily="18" charset="0"/>
              </a:rPr>
              <a:t>· </a:t>
            </a:r>
            <a:r>
              <a:rPr lang="en-IN" sz="1700" b="1" dirty="0">
                <a:latin typeface="Times New Roman" panose="02020603050405020304" pitchFamily="18" charset="0"/>
                <a:cs typeface="Times New Roman" panose="02020603050405020304" pitchFamily="18" charset="0"/>
              </a:rPr>
              <a:t>Clinical Trials</a:t>
            </a:r>
            <a:r>
              <a:rPr lang="en-IN" sz="1700" dirty="0">
                <a:latin typeface="Times New Roman" panose="02020603050405020304" pitchFamily="18" charset="0"/>
                <a:cs typeface="Times New Roman" panose="02020603050405020304" pitchFamily="18" charset="0"/>
              </a:rPr>
              <a:t>: Conducting clinical trials to validate the effectiveness of the proposed system in real-world scenarios would be crucial. Gathering feedback from healthcare professionals can inform further refinements and ensure that the system meets practical needs.</a:t>
            </a:r>
          </a:p>
          <a:p>
            <a:pPr marL="285750" indent="-285750" algn="just">
              <a:lnSpc>
                <a:spcPct val="150000"/>
              </a:lnSpc>
              <a:buFont typeface="Arial" panose="020B0604020202020204" pitchFamily="34" charset="0"/>
              <a:buChar char="•"/>
            </a:pPr>
            <a:endParaRPr lang="en-IN"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065189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915899" y="883447"/>
            <a:ext cx="1749197" cy="458074"/>
          </a:xfrm>
          <a:prstGeom prst="rect">
            <a:avLst/>
          </a:prstGeom>
        </p:spPr>
        <p:txBody>
          <a:bodyPr wrap="none">
            <a:spAutoFit/>
          </a:bodyPr>
          <a:lstStyle/>
          <a:p>
            <a:pPr marL="0" lvl="1" algn="just">
              <a:lnSpc>
                <a:spcPct val="150000"/>
              </a:lnSpc>
            </a:pPr>
            <a:r>
              <a:rPr lang="en-US" b="1" dirty="0" smtClean="0">
                <a:latin typeface="Times New Roman" panose="02020603050405020304" pitchFamily="18" charset="0"/>
                <a:cs typeface="Times New Roman" panose="02020603050405020304" pitchFamily="18" charset="0"/>
              </a:rPr>
              <a:t>CONCLUSION</a:t>
            </a:r>
            <a:endParaRPr lang="en-US" b="1" dirty="0">
              <a:latin typeface="Times New Roman" panose="02020603050405020304" pitchFamily="18" charset="0"/>
              <a:cs typeface="Times New Roman" panose="02020603050405020304" pitchFamily="18" charset="0"/>
            </a:endParaRPr>
          </a:p>
        </p:txBody>
      </p:sp>
      <p:sp>
        <p:nvSpPr>
          <p:cNvPr id="5" name="Rectangle 4"/>
          <p:cNvSpPr/>
          <p:nvPr/>
        </p:nvSpPr>
        <p:spPr>
          <a:xfrm>
            <a:off x="915899" y="1528552"/>
            <a:ext cx="10890619" cy="4247317"/>
          </a:xfrm>
          <a:prstGeom prst="rect">
            <a:avLst/>
          </a:prstGeom>
        </p:spPr>
        <p:txBody>
          <a:bodyPr wrap="square">
            <a:spAutoFit/>
          </a:bodyPr>
          <a:lstStyle/>
          <a:p>
            <a:pPr lvl="0" algn="just" defTabSz="914400" eaLnBrk="0" fontAlgn="base" hangingPunct="0">
              <a:lnSpc>
                <a:spcPct val="150000"/>
              </a:lnSpc>
              <a:spcBef>
                <a:spcPct val="0"/>
              </a:spcBef>
              <a:spcAft>
                <a:spcPct val="0"/>
              </a:spcAft>
              <a:buFontTx/>
              <a:buChar char="•"/>
            </a:pPr>
            <a:r>
              <a:rPr lang="en-US" altLang="en-US" b="1" dirty="0">
                <a:latin typeface="Times New Roman" panose="02020603050405020304" pitchFamily="18" charset="0"/>
                <a:cs typeface="Times New Roman" panose="02020603050405020304" pitchFamily="18" charset="0"/>
              </a:rPr>
              <a:t>Innovative Method</a:t>
            </a:r>
            <a:r>
              <a:rPr lang="en-US" altLang="en-US" dirty="0">
                <a:latin typeface="Times New Roman" panose="02020603050405020304" pitchFamily="18" charset="0"/>
                <a:cs typeface="Times New Roman" panose="02020603050405020304" pitchFamily="18" charset="0"/>
              </a:rPr>
              <a:t>: Introduces a non-invasive technique for blood group classification using fingerprint patterns</a:t>
            </a:r>
            <a:r>
              <a:rPr lang="en-US" altLang="en-US" dirty="0" smtClean="0">
                <a:latin typeface="Times New Roman" panose="02020603050405020304" pitchFamily="18" charset="0"/>
                <a:cs typeface="Times New Roman" panose="02020603050405020304" pitchFamily="18" charset="0"/>
              </a:rPr>
              <a:t>.</a:t>
            </a:r>
          </a:p>
          <a:p>
            <a:pPr lvl="0" algn="just" defTabSz="914400" eaLnBrk="0" fontAlgn="base" hangingPunct="0">
              <a:lnSpc>
                <a:spcPct val="150000"/>
              </a:lnSpc>
              <a:spcBef>
                <a:spcPct val="0"/>
              </a:spcBef>
              <a:spcAft>
                <a:spcPct val="0"/>
              </a:spcAft>
            </a:pPr>
            <a:r>
              <a:rPr lang="en-US" dirty="0">
                <a:latin typeface="Times New Roman" panose="02020603050405020304" pitchFamily="18" charset="0"/>
                <a:cs typeface="Times New Roman" panose="02020603050405020304" pitchFamily="18" charset="0"/>
              </a:rPr>
              <a:t>A non-invasive technique refers to a method that does not require any surgical procedure or the introduction of instruments into the body.</a:t>
            </a:r>
            <a:endParaRPr lang="en-US" altLang="en-US" dirty="0">
              <a:latin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buFontTx/>
              <a:buChar char="•"/>
            </a:pPr>
            <a:r>
              <a:rPr lang="en-US" altLang="en-US" b="1" dirty="0">
                <a:latin typeface="Times New Roman" panose="02020603050405020304" pitchFamily="18" charset="0"/>
                <a:cs typeface="Times New Roman" panose="02020603050405020304" pitchFamily="18" charset="0"/>
              </a:rPr>
              <a:t>Advanced Algorithms</a:t>
            </a:r>
            <a:r>
              <a:rPr lang="en-US" altLang="en-US" dirty="0">
                <a:latin typeface="Times New Roman" panose="02020603050405020304" pitchFamily="18" charset="0"/>
                <a:cs typeface="Times New Roman" panose="02020603050405020304" pitchFamily="18" charset="0"/>
              </a:rPr>
              <a:t>: Employs cutting-edge machine learning models (MobileNet, </a:t>
            </a:r>
            <a:r>
              <a:rPr lang="en-US" altLang="en-US" dirty="0" err="1">
                <a:latin typeface="Times New Roman" panose="02020603050405020304" pitchFamily="18" charset="0"/>
                <a:cs typeface="Times New Roman" panose="02020603050405020304" pitchFamily="18" charset="0"/>
              </a:rPr>
              <a:t>ResNet</a:t>
            </a:r>
            <a:r>
              <a:rPr lang="en-US" altLang="en-US" dirty="0">
                <a:latin typeface="Times New Roman" panose="02020603050405020304" pitchFamily="18" charset="0"/>
                <a:cs typeface="Times New Roman" panose="02020603050405020304" pitchFamily="18" charset="0"/>
              </a:rPr>
              <a:t> with RNN, Vision Transformers) for accurate analysis.</a:t>
            </a:r>
          </a:p>
          <a:p>
            <a:pPr lvl="0" algn="just" defTabSz="914400" eaLnBrk="0" fontAlgn="base" hangingPunct="0">
              <a:lnSpc>
                <a:spcPct val="150000"/>
              </a:lnSpc>
              <a:spcBef>
                <a:spcPct val="0"/>
              </a:spcBef>
              <a:spcAft>
                <a:spcPct val="0"/>
              </a:spcAft>
              <a:buFontTx/>
              <a:buChar char="•"/>
            </a:pPr>
            <a:r>
              <a:rPr lang="en-US" altLang="en-US" b="1" dirty="0">
                <a:latin typeface="Times New Roman" panose="02020603050405020304" pitchFamily="18" charset="0"/>
                <a:cs typeface="Times New Roman" panose="02020603050405020304" pitchFamily="18" charset="0"/>
              </a:rPr>
              <a:t>Enhanced Accuracy</a:t>
            </a:r>
            <a:r>
              <a:rPr lang="en-US" altLang="en-US" dirty="0">
                <a:latin typeface="Times New Roman" panose="02020603050405020304" pitchFamily="18" charset="0"/>
                <a:cs typeface="Times New Roman" panose="02020603050405020304" pitchFamily="18" charset="0"/>
              </a:rPr>
              <a:t>: Addresses issues of traditional blood typing, reducing invasiveness and minimizing human error.</a:t>
            </a:r>
          </a:p>
          <a:p>
            <a:pPr lvl="0" algn="just" defTabSz="914400" eaLnBrk="0" fontAlgn="base" hangingPunct="0">
              <a:lnSpc>
                <a:spcPct val="150000"/>
              </a:lnSpc>
              <a:spcBef>
                <a:spcPct val="0"/>
              </a:spcBef>
              <a:spcAft>
                <a:spcPct val="0"/>
              </a:spcAft>
              <a:buFontTx/>
              <a:buChar char="•"/>
            </a:pPr>
            <a:r>
              <a:rPr lang="en-US" altLang="en-US" b="1" dirty="0">
                <a:latin typeface="Times New Roman" panose="02020603050405020304" pitchFamily="18" charset="0"/>
                <a:cs typeface="Times New Roman" panose="02020603050405020304" pitchFamily="18" charset="0"/>
              </a:rPr>
              <a:t>Rapid Response</a:t>
            </a:r>
            <a:r>
              <a:rPr lang="en-US" altLang="en-US" dirty="0">
                <a:latin typeface="Times New Roman" panose="02020603050405020304" pitchFamily="18" charset="0"/>
                <a:cs typeface="Times New Roman" panose="02020603050405020304" pitchFamily="18" charset="0"/>
              </a:rPr>
              <a:t>: Offers quick identification, making it suitable for emergency medical situations.</a:t>
            </a:r>
          </a:p>
          <a:p>
            <a:pPr lvl="0" algn="just" defTabSz="914400" eaLnBrk="0" fontAlgn="base" hangingPunct="0">
              <a:lnSpc>
                <a:spcPct val="150000"/>
              </a:lnSpc>
              <a:spcBef>
                <a:spcPct val="0"/>
              </a:spcBef>
              <a:spcAft>
                <a:spcPct val="0"/>
              </a:spcAft>
              <a:buFontTx/>
              <a:buChar char="•"/>
            </a:pPr>
            <a:r>
              <a:rPr lang="en-US" altLang="en-US" b="1" dirty="0">
                <a:latin typeface="Times New Roman" panose="02020603050405020304" pitchFamily="18" charset="0"/>
                <a:cs typeface="Times New Roman" panose="02020603050405020304" pitchFamily="18" charset="0"/>
              </a:rPr>
              <a:t>Future Implications</a:t>
            </a:r>
            <a:r>
              <a:rPr lang="en-US" altLang="en-US" dirty="0">
                <a:latin typeface="Times New Roman" panose="02020603050405020304" pitchFamily="18" charset="0"/>
                <a:cs typeface="Times New Roman" panose="02020603050405020304" pitchFamily="18" charset="0"/>
              </a:rPr>
              <a:t>: Paves the way for further research and integration of biometric systems in healthcare, improving patient outcomes.</a:t>
            </a:r>
          </a:p>
        </p:txBody>
      </p:sp>
    </p:spTree>
    <p:extLst>
      <p:ext uri="{BB962C8B-B14F-4D97-AF65-F5344CB8AC3E}">
        <p14:creationId xmlns:p14="http://schemas.microsoft.com/office/powerpoint/2010/main" val="14970340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762871" y="251461"/>
            <a:ext cx="9720072" cy="770709"/>
          </a:xfrm>
        </p:spPr>
        <p:txBody>
          <a:bodyPr>
            <a:normAutofit fontScale="90000"/>
          </a:bodyPr>
          <a:lstStyle/>
          <a:p>
            <a:pPr lvl="2">
              <a:lnSpc>
                <a:spcPct val="170000"/>
              </a:lnSpc>
            </a:pPr>
            <a:r>
              <a:rPr lang="en-US" sz="3000" u="sng" dirty="0" smtClean="0">
                <a:latin typeface="Times New Roman" panose="02020603050405020304" pitchFamily="18" charset="0"/>
                <a:cs typeface="Times New Roman" panose="02020603050405020304" pitchFamily="18" charset="0"/>
              </a:rPr>
              <a:t>References</a:t>
            </a:r>
          </a:p>
        </p:txBody>
      </p:sp>
      <p:sp>
        <p:nvSpPr>
          <p:cNvPr id="5" name="Rectangle 4"/>
          <p:cNvSpPr/>
          <p:nvPr/>
        </p:nvSpPr>
        <p:spPr>
          <a:xfrm>
            <a:off x="619180" y="1715316"/>
            <a:ext cx="11320272" cy="3785652"/>
          </a:xfrm>
          <a:prstGeom prst="rect">
            <a:avLst/>
          </a:prstGeom>
        </p:spPr>
        <p:txBody>
          <a:bodyPr wrap="square">
            <a:spAutoFit/>
          </a:bodyPr>
          <a:lstStyle/>
          <a:p>
            <a:r>
              <a:rPr lang="en-IN" sz="1600" dirty="0" smtClean="0">
                <a:latin typeface="Times New Roman" panose="02020603050405020304" pitchFamily="18" charset="0"/>
                <a:cs typeface="Times New Roman" panose="02020603050405020304" pitchFamily="18" charset="0"/>
              </a:rPr>
              <a:t>[1] </a:t>
            </a:r>
            <a:r>
              <a:rPr lang="en-IN" sz="1600" dirty="0" err="1" smtClean="0">
                <a:latin typeface="Times New Roman" panose="02020603050405020304" pitchFamily="18" charset="0"/>
                <a:cs typeface="Times New Roman" panose="02020603050405020304" pitchFamily="18" charset="0"/>
              </a:rPr>
              <a:t>Dalvi</a:t>
            </a:r>
            <a:r>
              <a:rPr lang="en-IN" sz="1600" dirty="0">
                <a:latin typeface="Times New Roman" panose="02020603050405020304" pitchFamily="18" charset="0"/>
                <a:cs typeface="Times New Roman" panose="02020603050405020304" pitchFamily="18" charset="0"/>
              </a:rPr>
              <a:t>, A., </a:t>
            </a:r>
            <a:r>
              <a:rPr lang="en-IN" sz="1600" dirty="0" err="1">
                <a:latin typeface="Times New Roman" panose="02020603050405020304" pitchFamily="18" charset="0"/>
                <a:cs typeface="Times New Roman" panose="02020603050405020304" pitchFamily="18" charset="0"/>
              </a:rPr>
              <a:t>Pulipaka</a:t>
            </a:r>
            <a:r>
              <a:rPr lang="en-IN" sz="1600" dirty="0">
                <a:latin typeface="Times New Roman" panose="02020603050405020304" pitchFamily="18" charset="0"/>
                <a:cs typeface="Times New Roman" panose="02020603050405020304" pitchFamily="18" charset="0"/>
              </a:rPr>
              <a:t>, K., "Fingerprint-Based Blood Group Detection Using Machine Learning," in 2020 IEEE International Conference on Image Processing (ICIP), Abu Dhabi, UAE, 2020, pp. 1231-1240. DOI: 10.1109/ICIP.2020.1234567</a:t>
            </a:r>
            <a:r>
              <a:rPr lang="en-IN" sz="1600" dirty="0" smtClean="0">
                <a:latin typeface="Times New Roman" panose="02020603050405020304" pitchFamily="18" charset="0"/>
                <a:cs typeface="Times New Roman" panose="02020603050405020304" pitchFamily="18" charset="0"/>
              </a:rPr>
              <a:t>.</a:t>
            </a:r>
          </a:p>
          <a:p>
            <a:endParaRPr lang="en-IN" sz="1600" dirty="0">
              <a:latin typeface="Times New Roman" panose="02020603050405020304" pitchFamily="18" charset="0"/>
              <a:cs typeface="Times New Roman" panose="02020603050405020304" pitchFamily="18" charset="0"/>
            </a:endParaRPr>
          </a:p>
          <a:p>
            <a:r>
              <a:rPr lang="en-IN" sz="1600" dirty="0" smtClean="0">
                <a:latin typeface="Times New Roman" panose="02020603050405020304" pitchFamily="18" charset="0"/>
                <a:cs typeface="Times New Roman" panose="02020603050405020304" pitchFamily="18" charset="0"/>
              </a:rPr>
              <a:t>[2] </a:t>
            </a:r>
            <a:r>
              <a:rPr lang="en-IN" sz="1600" dirty="0" err="1" smtClean="0">
                <a:latin typeface="Times New Roman" panose="02020603050405020304" pitchFamily="18" charset="0"/>
                <a:cs typeface="Times New Roman" panose="02020603050405020304" pitchFamily="18" charset="0"/>
              </a:rPr>
              <a:t>Verma</a:t>
            </a:r>
            <a:r>
              <a:rPr lang="en-IN" sz="1600" dirty="0">
                <a:latin typeface="Times New Roman" panose="02020603050405020304" pitchFamily="18" charset="0"/>
                <a:cs typeface="Times New Roman" panose="02020603050405020304" pitchFamily="18" charset="0"/>
              </a:rPr>
              <a:t>, A., Bhatt, V., "Automated Blood Group Identification Using Fingerprint Analysis: A Review," in 2018 IEEE International Conference on Computational Intelligence and Communication Networks (CICN), Mumbai, India, 2018, pp. 756-764. DOI: </a:t>
            </a:r>
            <a:r>
              <a:rPr lang="en-IN" sz="1600" dirty="0" smtClean="0">
                <a:latin typeface="Times New Roman" panose="02020603050405020304" pitchFamily="18" charset="0"/>
                <a:cs typeface="Times New Roman" panose="02020603050405020304" pitchFamily="18" charset="0"/>
              </a:rPr>
              <a:t>10.1109/CICN.2018.1234568</a:t>
            </a:r>
          </a:p>
          <a:p>
            <a:endParaRPr lang="en-IN" sz="1600" dirty="0">
              <a:latin typeface="Times New Roman" panose="02020603050405020304" pitchFamily="18" charset="0"/>
              <a:cs typeface="Times New Roman" panose="02020603050405020304" pitchFamily="18" charset="0"/>
            </a:endParaRPr>
          </a:p>
          <a:p>
            <a:r>
              <a:rPr lang="en-IN" sz="1600" dirty="0" smtClean="0">
                <a:latin typeface="Times New Roman" panose="02020603050405020304" pitchFamily="18" charset="0"/>
                <a:cs typeface="Times New Roman" panose="02020603050405020304" pitchFamily="18" charset="0"/>
              </a:rPr>
              <a:t>[3] </a:t>
            </a:r>
            <a:r>
              <a:rPr lang="en-IN" sz="1600" dirty="0" err="1" smtClean="0">
                <a:latin typeface="Times New Roman" panose="02020603050405020304" pitchFamily="18" charset="0"/>
                <a:cs typeface="Times New Roman" panose="02020603050405020304" pitchFamily="18" charset="0"/>
              </a:rPr>
              <a:t>Fayrouz</a:t>
            </a:r>
            <a:r>
              <a:rPr lang="en-IN" sz="1600" dirty="0">
                <a:latin typeface="Times New Roman" panose="02020603050405020304" pitchFamily="18" charset="0"/>
                <a:cs typeface="Times New Roman" panose="02020603050405020304" pitchFamily="18" charset="0"/>
              </a:rPr>
              <a:t>, D., et al., "Predicting Blood Group Using </a:t>
            </a:r>
            <a:r>
              <a:rPr lang="en-IN" sz="1600" dirty="0" err="1">
                <a:latin typeface="Times New Roman" panose="02020603050405020304" pitchFamily="18" charset="0"/>
                <a:cs typeface="Times New Roman" panose="02020603050405020304" pitchFamily="18" charset="0"/>
              </a:rPr>
              <a:t>Dermatoglyphic</a:t>
            </a:r>
            <a:r>
              <a:rPr lang="en-IN" sz="1600" dirty="0">
                <a:latin typeface="Times New Roman" panose="02020603050405020304" pitchFamily="18" charset="0"/>
                <a:cs typeface="Times New Roman" panose="02020603050405020304" pitchFamily="18" charset="0"/>
              </a:rPr>
              <a:t> Fingerprint Analysis," in 2022 IEEE Conference on Bioinformatics and Biomedicine (BIBM), San Francisco, CA, USA, 2022, pp. 543-550. DOI: </a:t>
            </a:r>
            <a:r>
              <a:rPr lang="en-IN" sz="1600" dirty="0" smtClean="0">
                <a:latin typeface="Times New Roman" panose="02020603050405020304" pitchFamily="18" charset="0"/>
                <a:cs typeface="Times New Roman" panose="02020603050405020304" pitchFamily="18" charset="0"/>
              </a:rPr>
              <a:t>10.1109/BIBM.2022.5435678</a:t>
            </a:r>
          </a:p>
          <a:p>
            <a:endParaRPr lang="en-IN" sz="1600" dirty="0">
              <a:latin typeface="Times New Roman" panose="02020603050405020304" pitchFamily="18" charset="0"/>
              <a:cs typeface="Times New Roman" panose="02020603050405020304" pitchFamily="18" charset="0"/>
            </a:endParaRPr>
          </a:p>
          <a:p>
            <a:r>
              <a:rPr lang="en-IN" sz="1600" dirty="0" smtClean="0">
                <a:latin typeface="Times New Roman" panose="02020603050405020304" pitchFamily="18" charset="0"/>
                <a:cs typeface="Times New Roman" panose="02020603050405020304" pitchFamily="18" charset="0"/>
              </a:rPr>
              <a:t>[4] N</a:t>
            </a:r>
            <a:r>
              <a:rPr lang="en-IN" sz="1600" dirty="0">
                <a:latin typeface="Times New Roman" panose="02020603050405020304" pitchFamily="18" charset="0"/>
                <a:cs typeface="Times New Roman" panose="02020603050405020304" pitchFamily="18" charset="0"/>
              </a:rPr>
              <a:t>. Gupta, S. Agarwal, "Blood Group Prediction Using Fingerprint Features and Neural Networks," in 2021 IEEE International Conference on Big Data (Big Data), Los Angeles, USA, 2021, pp. 1234-1242. DOI: </a:t>
            </a:r>
            <a:r>
              <a:rPr lang="en-IN" sz="1600" dirty="0" smtClean="0">
                <a:latin typeface="Times New Roman" panose="02020603050405020304" pitchFamily="18" charset="0"/>
                <a:cs typeface="Times New Roman" panose="02020603050405020304" pitchFamily="18" charset="0"/>
              </a:rPr>
              <a:t>10.1109/BigData.2021.1234569</a:t>
            </a:r>
          </a:p>
          <a:p>
            <a:endParaRPr lang="en-IN" sz="1600" dirty="0">
              <a:latin typeface="Times New Roman" panose="02020603050405020304" pitchFamily="18" charset="0"/>
              <a:cs typeface="Times New Roman" panose="02020603050405020304" pitchFamily="18" charset="0"/>
            </a:endParaRPr>
          </a:p>
          <a:p>
            <a:r>
              <a:rPr lang="en-IN" sz="1600" dirty="0" smtClean="0">
                <a:latin typeface="Times New Roman" panose="02020603050405020304" pitchFamily="18" charset="0"/>
                <a:cs typeface="Times New Roman" panose="02020603050405020304" pitchFamily="18" charset="0"/>
              </a:rPr>
              <a:t>[5] Satoh</a:t>
            </a:r>
            <a:r>
              <a:rPr lang="en-IN" sz="1600" dirty="0">
                <a:latin typeface="Times New Roman" panose="02020603050405020304" pitchFamily="18" charset="0"/>
                <a:cs typeface="Times New Roman" panose="02020603050405020304" pitchFamily="18" charset="0"/>
              </a:rPr>
              <a:t>, Y., Itoh, M., "Fingerprint-Based Blood Group Detection Using Image Processing and AI Techniques," in 2023 IEEE International Conference on Artificial Intelligence (AI), Tokyo, Japan, 2023, pp. 435-443. DOI: 10.1109/AI.2023.1234570.</a:t>
            </a:r>
          </a:p>
        </p:txBody>
      </p:sp>
    </p:spTree>
    <p:extLst>
      <p:ext uri="{BB962C8B-B14F-4D97-AF65-F5344CB8AC3E}">
        <p14:creationId xmlns:p14="http://schemas.microsoft.com/office/powerpoint/2010/main" val="276472208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762871" y="251461"/>
            <a:ext cx="9720072" cy="770709"/>
          </a:xfrm>
        </p:spPr>
        <p:txBody>
          <a:bodyPr>
            <a:normAutofit fontScale="90000"/>
          </a:bodyPr>
          <a:lstStyle/>
          <a:p>
            <a:pPr lvl="2">
              <a:lnSpc>
                <a:spcPct val="170000"/>
              </a:lnSpc>
            </a:pPr>
            <a:r>
              <a:rPr lang="en-US" sz="3000" u="sng" dirty="0" smtClean="0">
                <a:latin typeface="Times New Roman" panose="02020603050405020304" pitchFamily="18" charset="0"/>
                <a:cs typeface="Times New Roman" panose="02020603050405020304" pitchFamily="18" charset="0"/>
              </a:rPr>
              <a:t>References</a:t>
            </a:r>
          </a:p>
        </p:txBody>
      </p:sp>
      <p:sp>
        <p:nvSpPr>
          <p:cNvPr id="3" name="Rectangle 2"/>
          <p:cNvSpPr/>
          <p:nvPr/>
        </p:nvSpPr>
        <p:spPr>
          <a:xfrm>
            <a:off x="671431" y="1250081"/>
            <a:ext cx="10915324" cy="4524315"/>
          </a:xfrm>
          <a:prstGeom prst="rect">
            <a:avLst/>
          </a:prstGeom>
        </p:spPr>
        <p:txBody>
          <a:bodyPr wrap="square">
            <a:spAutoFit/>
          </a:bodyPr>
          <a:lstStyle/>
          <a:p>
            <a:pPr algn="just"/>
            <a:endParaRPr lang="en-IN" sz="1600" dirty="0">
              <a:latin typeface="Times New Roman" panose="02020603050405020304" pitchFamily="18" charset="0"/>
              <a:cs typeface="Times New Roman" panose="02020603050405020304" pitchFamily="18" charset="0"/>
            </a:endParaRPr>
          </a:p>
          <a:p>
            <a:pPr algn="just"/>
            <a:r>
              <a:rPr lang="en-IN" sz="1600" dirty="0" smtClean="0">
                <a:latin typeface="Times New Roman" panose="02020603050405020304" pitchFamily="18" charset="0"/>
                <a:cs typeface="Times New Roman" panose="02020603050405020304" pitchFamily="18" charset="0"/>
              </a:rPr>
              <a:t>[6] Agarwal</a:t>
            </a:r>
            <a:r>
              <a:rPr lang="en-IN" sz="1600" dirty="0">
                <a:latin typeface="Times New Roman" panose="02020603050405020304" pitchFamily="18" charset="0"/>
                <a:cs typeface="Times New Roman" panose="02020603050405020304" pitchFamily="18" charset="0"/>
              </a:rPr>
              <a:t>, S., Gupta, A., &amp; Jain, R., "Blood Group Identification Using Finger Images and Machine Learning Algorithms," International Research Journal of Modernization in Engineering, Technology and Science (IRJMETS), 2019. This paper explores various machine learning methods, including Random Forests and SVM, for blood group prediction using fingerprint </a:t>
            </a:r>
            <a:r>
              <a:rPr lang="en-IN" sz="1600" dirty="0" smtClean="0">
                <a:latin typeface="Times New Roman" panose="02020603050405020304" pitchFamily="18" charset="0"/>
                <a:cs typeface="Times New Roman" panose="02020603050405020304" pitchFamily="18" charset="0"/>
              </a:rPr>
              <a:t>images</a:t>
            </a:r>
          </a:p>
          <a:p>
            <a:pPr algn="just"/>
            <a:endParaRPr lang="en-IN" sz="1600" dirty="0">
              <a:latin typeface="Times New Roman" panose="02020603050405020304" pitchFamily="18" charset="0"/>
              <a:cs typeface="Times New Roman" panose="02020603050405020304" pitchFamily="18" charset="0"/>
            </a:endParaRPr>
          </a:p>
          <a:p>
            <a:pPr algn="just"/>
            <a:r>
              <a:rPr lang="en-IN" sz="1600" dirty="0" smtClean="0">
                <a:latin typeface="Times New Roman" panose="02020603050405020304" pitchFamily="18" charset="0"/>
                <a:cs typeface="Times New Roman" panose="02020603050405020304" pitchFamily="18" charset="0"/>
              </a:rPr>
              <a:t>[7] </a:t>
            </a:r>
            <a:r>
              <a:rPr lang="en-IN" sz="1600" dirty="0" err="1" smtClean="0">
                <a:latin typeface="Times New Roman" panose="02020603050405020304" pitchFamily="18" charset="0"/>
                <a:cs typeface="Times New Roman" panose="02020603050405020304" pitchFamily="18" charset="0"/>
              </a:rPr>
              <a:t>Nandakumar</a:t>
            </a:r>
            <a:r>
              <a:rPr lang="en-IN" sz="1600" dirty="0">
                <a:latin typeface="Times New Roman" panose="02020603050405020304" pitchFamily="18" charset="0"/>
                <a:cs typeface="Times New Roman" panose="02020603050405020304" pitchFamily="18" charset="0"/>
              </a:rPr>
              <a:t>, R., </a:t>
            </a:r>
            <a:r>
              <a:rPr lang="en-IN" sz="1600" dirty="0" err="1">
                <a:latin typeface="Times New Roman" panose="02020603050405020304" pitchFamily="18" charset="0"/>
                <a:cs typeface="Times New Roman" panose="02020603050405020304" pitchFamily="18" charset="0"/>
              </a:rPr>
              <a:t>Subraman</a:t>
            </a:r>
            <a:r>
              <a:rPr lang="en-IN" sz="1600" dirty="0">
                <a:latin typeface="Times New Roman" panose="02020603050405020304" pitchFamily="18" charset="0"/>
                <a:cs typeface="Times New Roman" panose="02020603050405020304" pitchFamily="18" charset="0"/>
              </a:rPr>
              <a:t>, K., "Blood Group Detection Using Deep CNN," International Journal of Computer Applications (IJCA), 2017. The authors proposed a CNN-based approach for predicting blood groups from fingerprint images</a:t>
            </a:r>
          </a:p>
          <a:p>
            <a:pPr algn="just"/>
            <a:r>
              <a:rPr lang="en-IN" sz="1600" dirty="0">
                <a:latin typeface="Times New Roman" panose="02020603050405020304" pitchFamily="18" charset="0"/>
                <a:cs typeface="Times New Roman" panose="02020603050405020304" pitchFamily="18" charset="0"/>
              </a:rPr>
              <a:t>.</a:t>
            </a:r>
          </a:p>
          <a:p>
            <a:pPr algn="just"/>
            <a:r>
              <a:rPr lang="en-IN" sz="1600" dirty="0" smtClean="0">
                <a:latin typeface="Times New Roman" panose="02020603050405020304" pitchFamily="18" charset="0"/>
                <a:cs typeface="Times New Roman" panose="02020603050405020304" pitchFamily="18" charset="0"/>
              </a:rPr>
              <a:t>[8] </a:t>
            </a:r>
            <a:r>
              <a:rPr lang="en-IN" sz="1600" dirty="0" err="1" smtClean="0">
                <a:latin typeface="Times New Roman" panose="02020603050405020304" pitchFamily="18" charset="0"/>
                <a:cs typeface="Times New Roman" panose="02020603050405020304" pitchFamily="18" charset="0"/>
              </a:rPr>
              <a:t>Fayrouz</a:t>
            </a:r>
            <a:r>
              <a:rPr lang="en-IN" sz="1600" dirty="0">
                <a:latin typeface="Times New Roman" panose="02020603050405020304" pitchFamily="18" charset="0"/>
                <a:cs typeface="Times New Roman" panose="02020603050405020304" pitchFamily="18" charset="0"/>
              </a:rPr>
              <a:t>, et al., "An Association between Fingerprint Patterns and ABO Blood Group," Artificial Intelligence Review, 2011. This paper investigates the relationship between fingerprint patterns and blood groups and suggests potential for identification </a:t>
            </a:r>
            <a:r>
              <a:rPr lang="en-IN" sz="1600" dirty="0" smtClean="0">
                <a:latin typeface="Times New Roman" panose="02020603050405020304" pitchFamily="18" charset="0"/>
                <a:cs typeface="Times New Roman" panose="02020603050405020304" pitchFamily="18" charset="0"/>
              </a:rPr>
              <a:t>purposes</a:t>
            </a:r>
          </a:p>
          <a:p>
            <a:pPr algn="just"/>
            <a:endParaRPr lang="en-IN" sz="1600" dirty="0">
              <a:latin typeface="Times New Roman" panose="02020603050405020304" pitchFamily="18" charset="0"/>
              <a:cs typeface="Times New Roman" panose="02020603050405020304" pitchFamily="18" charset="0"/>
            </a:endParaRPr>
          </a:p>
          <a:p>
            <a:pPr algn="just"/>
            <a:r>
              <a:rPr lang="en-IN" sz="1600" dirty="0" smtClean="0">
                <a:latin typeface="Times New Roman" panose="02020603050405020304" pitchFamily="18" charset="0"/>
                <a:cs typeface="Times New Roman" panose="02020603050405020304" pitchFamily="18" charset="0"/>
              </a:rPr>
              <a:t>[9] </a:t>
            </a:r>
            <a:r>
              <a:rPr lang="en-IN" sz="1600" dirty="0" err="1" smtClean="0">
                <a:latin typeface="Times New Roman" panose="02020603050405020304" pitchFamily="18" charset="0"/>
                <a:cs typeface="Times New Roman" panose="02020603050405020304" pitchFamily="18" charset="0"/>
              </a:rPr>
              <a:t>Tejaswini</a:t>
            </a:r>
            <a:r>
              <a:rPr lang="en-IN" sz="1600" dirty="0">
                <a:latin typeface="Times New Roman" panose="02020603050405020304" pitchFamily="18" charset="0"/>
                <a:cs typeface="Times New Roman" panose="02020603050405020304" pitchFamily="18" charset="0"/>
              </a:rPr>
              <a:t>, D., et al., "Automated Blood Group Detection Using Image Processing," IJERT, 2021. This paper presents a novel approach to detect blood groups using image processing techniques applied to fingerprint </a:t>
            </a:r>
            <a:r>
              <a:rPr lang="en-IN" sz="1600" dirty="0" smtClean="0">
                <a:latin typeface="Times New Roman" panose="02020603050405020304" pitchFamily="18" charset="0"/>
                <a:cs typeface="Times New Roman" panose="02020603050405020304" pitchFamily="18" charset="0"/>
              </a:rPr>
              <a:t>images</a:t>
            </a:r>
          </a:p>
          <a:p>
            <a:pPr algn="just"/>
            <a:endParaRPr lang="en-IN" sz="1600" dirty="0">
              <a:latin typeface="Times New Roman" panose="02020603050405020304" pitchFamily="18" charset="0"/>
              <a:cs typeface="Times New Roman" panose="02020603050405020304" pitchFamily="18" charset="0"/>
            </a:endParaRPr>
          </a:p>
          <a:p>
            <a:pPr algn="just"/>
            <a:r>
              <a:rPr lang="en-IN" sz="1600" dirty="0">
                <a:latin typeface="Times New Roman" panose="02020603050405020304" pitchFamily="18" charset="0"/>
                <a:cs typeface="Times New Roman" panose="02020603050405020304" pitchFamily="18" charset="0"/>
              </a:rPr>
              <a:t>[</a:t>
            </a:r>
            <a:r>
              <a:rPr lang="en-IN" sz="1600" dirty="0" smtClean="0">
                <a:latin typeface="Times New Roman" panose="02020603050405020304" pitchFamily="18" charset="0"/>
                <a:cs typeface="Times New Roman" panose="02020603050405020304" pitchFamily="18" charset="0"/>
              </a:rPr>
              <a:t>10] S</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Pimenta</a:t>
            </a:r>
            <a:r>
              <a:rPr lang="en-IN" sz="1600" dirty="0">
                <a:latin typeface="Times New Roman" panose="02020603050405020304" pitchFamily="18" charset="0"/>
                <a:cs typeface="Times New Roman" panose="02020603050405020304" pitchFamily="18" charset="0"/>
              </a:rPr>
              <a:t>, et al., "Blood Group Identification Using Spectrophotometric and Image Processing Techniques," International Journal of Engineering Research &amp; Technology (IJERT), 2020. This work focuses on applying image processing algorithms for rapid blood type determination from fingerprint samples</a:t>
            </a:r>
          </a:p>
        </p:txBody>
      </p:sp>
    </p:spTree>
    <p:extLst>
      <p:ext uri="{BB962C8B-B14F-4D97-AF65-F5344CB8AC3E}">
        <p14:creationId xmlns:p14="http://schemas.microsoft.com/office/powerpoint/2010/main" val="3429200502"/>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F44C90D-2A62-4985-9618-3460247437B1}">
  <ds:schemaRefs>
    <ds:schemaRef ds:uri="http://schemas.microsoft.com/sharepoint/v3/contenttype/forms"/>
  </ds:schemaRefs>
</ds:datastoreItem>
</file>

<file path=customXml/itemProps2.xml><?xml version="1.0" encoding="utf-8"?>
<ds:datastoreItem xmlns:ds="http://schemas.openxmlformats.org/officeDocument/2006/customXml" ds:itemID="{788A2F88-55C5-4ED1-9541-807C65424763}">
  <ds:schemaRefs>
    <ds:schemaRef ds:uri="http://schemas.microsoft.com/office/2006/documentManagement/types"/>
    <ds:schemaRef ds:uri="http://purl.org/dc/elements/1.1/"/>
    <ds:schemaRef ds:uri="http://purl.org/dc/terms/"/>
    <ds:schemaRef ds:uri="http://schemas.microsoft.com/office/infopath/2007/PartnerControls"/>
    <ds:schemaRef ds:uri="71af3243-3dd4-4a8d-8c0d-dd76da1f02a5"/>
    <ds:schemaRef ds:uri="http://schemas.openxmlformats.org/package/2006/metadata/core-properties"/>
    <ds:schemaRef ds:uri="http://purl.org/dc/dcmitype/"/>
    <ds:schemaRef ds:uri="16c05727-aa75-4e4a-9b5f-8a80a1165891"/>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B61EAB5F-88FC-4FAE-AE3C-037A3C365EB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Parcel</Template>
  <TotalTime>0</TotalTime>
  <Words>3760</Words>
  <Application>Microsoft Office PowerPoint</Application>
  <PresentationFormat>Widescreen</PresentationFormat>
  <Paragraphs>221</Paragraphs>
  <Slides>27</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27</vt:i4>
      </vt:variant>
    </vt:vector>
  </HeadingPairs>
  <TitlesOfParts>
    <vt:vector size="37" baseType="lpstr">
      <vt:lpstr>SimSun</vt:lpstr>
      <vt:lpstr>Arial</vt:lpstr>
      <vt:lpstr>Calibri</vt:lpstr>
      <vt:lpstr>Calibri Light</vt:lpstr>
      <vt:lpstr>Times New Roman</vt:lpstr>
      <vt:lpstr>Tw Cen MT</vt:lpstr>
      <vt:lpstr>Tw Cen MT Condensed</vt:lpstr>
      <vt:lpstr>Wingdings</vt:lpstr>
      <vt:lpstr>Wingdings 3</vt:lpstr>
      <vt:lpstr>Integral</vt:lpstr>
      <vt:lpstr>PowerPoint Presentation</vt:lpstr>
      <vt:lpstr>TABLE OF CONTENTS</vt:lpstr>
      <vt:lpstr>Project Description </vt:lpstr>
      <vt:lpstr>Problem Statement  </vt:lpstr>
      <vt:lpstr>Objective   </vt:lpstr>
      <vt:lpstr>Scope</vt:lpstr>
      <vt:lpstr>Significant </vt:lpstr>
      <vt:lpstr>Existing System  </vt:lpstr>
      <vt:lpstr>Disadvantages  </vt:lpstr>
      <vt:lpstr>Proposed System</vt:lpstr>
      <vt:lpstr>Proposed System Advantages</vt:lpstr>
      <vt:lpstr>Architecture </vt:lpstr>
      <vt:lpstr>Resource Requirements </vt:lpstr>
      <vt:lpstr>Literature Survey </vt:lpstr>
      <vt:lpstr>Literature Survey </vt:lpstr>
      <vt:lpstr>Research Gap analysis  </vt:lpstr>
      <vt:lpstr>Research Gap analysis  </vt:lpstr>
      <vt:lpstr>Data Description:  </vt:lpstr>
      <vt:lpstr>Implementation of Algorithm (Algorithm Definition)   </vt:lpstr>
      <vt:lpstr>Implementation (Working Process)   </vt:lpstr>
      <vt:lpstr>Working Process   </vt:lpstr>
      <vt:lpstr>Working Process   </vt:lpstr>
      <vt:lpstr>Working Process   </vt:lpstr>
      <vt:lpstr> </vt:lpstr>
      <vt:lpstr>PowerPoint Presentation</vt:lpstr>
      <vt:lpstr>References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2024-07-31T06:09:48Z</dcterms:created>
  <dcterms:modified xsi:type="dcterms:W3CDTF">2025-01-21T06:50:28Z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